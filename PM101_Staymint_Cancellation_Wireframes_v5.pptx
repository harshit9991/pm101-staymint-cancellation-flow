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embeddedFontLst>
    <p:embeddedFont>
      <p:font typeface="Garamond"/>
      <p:regular r:id="rId20"/>
      <p:bold r:id="rId21"/>
      <p:italic r:id="rId22"/>
      <p:boldItalic r:id="rId23"/>
    </p:embeddedFont>
    <p:embeddedFont>
      <p:font typeface="Quattrocen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8" roundtripDataSignature="AMtx7mhD9ZwGF39+RUjlc7v4TtQAj+Qy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Garamond-regular.fntdata"/><Relationship Id="rId22" Type="http://schemas.openxmlformats.org/officeDocument/2006/relationships/font" Target="fonts/Garamond-italic.fntdata"/><Relationship Id="rId21" Type="http://schemas.openxmlformats.org/officeDocument/2006/relationships/font" Target="fonts/Garamond-bold.fntdata"/><Relationship Id="rId24" Type="http://schemas.openxmlformats.org/officeDocument/2006/relationships/font" Target="fonts/QuattrocentoSans-regular.fntdata"/><Relationship Id="rId23" Type="http://schemas.openxmlformats.org/officeDocument/2006/relationships/font" Target="fonts/Garamon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customschemas.google.com/relationships/presentationmetadata" Target="metadata"/><Relationship Id="rId27"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Staymint is a hotel booking app built on Agoda's inventory, and this project designs one use case: cancelling an existing booking. The thesis is on the cover: own the clarity of cancellation. Everything shown runs on synthetic data, and assumptions are stated wherever the referenced Agoda pages are silent. The prototype is an interactive synthetic demo with seven screens and nine reviewer scenarios; the deck walks seven wireframe screens in twelve selected views, each with design, developer and business notes.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 name="Google Shape;52;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Page one of the product note: the project is Staymint's cancellation experience, built on Agoda's inventory, for a customer cancelling one existing booking. The problems are an unclear refund consequence before the customer commits, an uncertain outcome that can look like success, and support that restarts without the booking context. The size of the problem is honestly not yet measured - the demo uses synthetic data and there is no production baseline - so the slide lists the metrics we would collect to size it. Problem size, India: the National Consumer Helpline recovered over Rs 10 crore in Travel &amp; Tourism refunds between 25 Apr 2025 and 31 Jul 2026 (PIB, 9 Sep 2026, https://www.pib.gov.in/PressReleasePage.aspx?PRID=2308386&amp;lang=1&amp;reg=3). That is recovered money, not total loss, and covers all travel. A hotel room-night is perishable (https://peaqplus.com/learn-perishable-inventory.html). Not measured: how often hotel cancellations end in unclear refunds or status. Sources on slide 14.</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 name="Google Shape;90;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Clr>
                <a:srgbClr val="000000"/>
              </a:buClr>
              <a:buSzPts val="1400"/>
              <a:buFont typeface="Arial"/>
              <a:buNone/>
            </a:pPr>
            <a:r>
              <a:rPr b="0" i="0" lang="en" sz="1200" u="none" cap="none" strike="noStrike">
                <a:solidFill>
                  <a:srgbClr val="000000"/>
                </a:solidFill>
                <a:latin typeface="Arial"/>
                <a:ea typeface="Arial"/>
                <a:cs typeface="Arial"/>
                <a:sym typeface="Arial"/>
              </a:rPr>
              <a:t>Evidence page. Sources: PIB 9 Sep 2026; Peaqplus perishable inventory definition; Agoda Demand API cancel bookings. No figure here measures Staymint's exact failures.</a:t>
            </a:r>
            <a:endParaRPr/>
          </a:p>
        </p:txBody>
      </p:sp>
      <p:sp>
        <p:nvSpPr>
          <p:cNvPr id="91" name="Google Shape;91;p16:notes"/>
          <p:cNvSpPr txBox="1"/>
          <p:nvPr>
            <p:ph idx="12" type="sldNum"/>
          </p:nvPr>
        </p:nvSpPr>
        <p:spPr>
          <a:xfrm>
            <a:off x="3884613" y="8685213"/>
            <a:ext cx="2971800" cy="457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
              <a:t>Page two: the objectives are latest terms first, no fake certainty, and context into support. The approach is a two-step preview-then-confirm on Agoda's cancellation APIs, fresh consent when the amount moves, timeout reconciliation without blind retries, and internal support that carries the booking context - scope stays one existing booking. Success metrics are measurable definitions to track after launch, not claimed results. Open questions cover refund payout timing, the exact check-in cutoff and reference expiry, and how long to wait on a hotel fee waiver - the docs allow polling up to 72 hours - before escalating to support. A concept mock of the review screen is attached on the right.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 name="Google Shape;177;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
              <a:t>This is the first half of the journey as the customer experiences it: from My bookings, through review, up to the keep-or-confirm decision. Diamonds are decisions, red states stop the flow, green states are final, and dashed lines are return or recheck paths. Two things to notice: an already-cancelled or unavailable booking never shows a cancel action, and a zero-refund case still asks for explicit consent in different words. The decision itself continues on the next slide.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4" name="Google Shape;304;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
              <a:t>Part two begins at the keep-or-confirm decision and ends in one of three outcomes: kept, cancelled and confirmed, or escalated to support. If the answer times out or is unclear, we never blindly retry the confirm; we recheck the booking status first. And if the refund has changed, the customer sees the new amount and consents again before anything is executed.</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6" name="Google Shape;40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This is the same journey drawn as calls between the customer, the Android UI, our backend and the Agoda API. The booking-time snapshot from Search is display only; the authoritative status and policy always come from a fresh Booking Details call. The preview call is what makes the promise possible: it returns the policy, the refund amount and a reference before the customer commits to anything. The exact request and response fields for each call are in the developer notes on the wireframe pages, and the decision at the end continues on the next slide.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4" name="Google Shape;564;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Part two covers the commit and everything that can go wrong after it. The confirm call sends the latest reference with the matching refund amount, and success is an HTTP 200 with an empty body, which is final. If the answer times out or is unclear, we never blindly retry the confirm; we recheck the booking status first, and Agoda recommends at least three attempts within fifteen minutes. If the refund changed, error 914 triggers a fresh preview, and the customer consents again to the new amount before anything is executed.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7" name="Google Shape;69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Wireframes one and two are the entry. My bookings shows status chips up front, so the state is visible before anyone asks; the home screen cancelled chip variant is described here rather than pictured, since only an active booking is shown. The details screen refreshes the booking from Agoda on open and keeps Review cancellation one tap away. Not every state is pictured on any wireframe page; the intermediate loading caption variant is covered in these notes as well.</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5" name="Google Shape;745;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Wireframe three is the review screen, shown in standard and zero-refund variants. The customer confirms the number, not just the action: the refund and the policy lead, and in the zero case the button itself says Cancel without refund. The reason chips are optional in the UI, while the API still requires a cancellation reason code, documented zero equals None. The business note is a hypothesis to measure, not a claimed result.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4" name="Shape 794"/>
        <p:cNvGrpSpPr/>
        <p:nvPr/>
      </p:nvGrpSpPr>
      <p:grpSpPr>
        <a:xfrm>
          <a:off x="0" y="0"/>
          <a:ext cx="0" cy="0"/>
          <a:chOff x="0" y="0"/>
          <a:chExt cx="0" cy="0"/>
        </a:xfrm>
      </p:grpSpPr>
      <p:sp>
        <p:nvSpPr>
          <p:cNvPr id="795" name="Google Shape;795;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6" name="Google Shape;796;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This is the changed-refund path. If Agoda answers with error 914, the customer never learns the new amount from a failure message; they get a fresh preview and confirm again, because consent belongs to the amount, not to the session. The post-update receipt variant is not pictured; after re-confirmation the flow lands on the same confirmed screen as the standard path, carrying the new reference and amount.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2" name="Google Shape;842;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These are the honest-waiting states. While the system cannot confirm, the screen says we are checking your booking, and it never presents an uncertain cancellation as done. If the timeout resolves, the flow continues to the same confirmed screen; if it stays unclear, the customer is offered support with the booking context already attached. The support-submitted confirmation variant is described here rather than pictured: after contacting support, the customer sees that the request is with the team, not that the booking is cancelled.</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9" name="Google Shape;899;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The assisted and closed states: preview failure, already cancelled, and cancellation unavailable. A failed preview is explained as a request problem with retry and support, never confused with an ineligible booking. The already-cancelled notice variant is covered in these notes rather than pictured: it tells the customer the booking is already cancelled and offers the receipt instead of any cancel action.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2" name="Shape 952"/>
        <p:cNvGrpSpPr/>
        <p:nvPr/>
      </p:nvGrpSpPr>
      <p:grpSpPr>
        <a:xfrm>
          <a:off x="0" y="0"/>
          <a:ext cx="0" cy="0"/>
          <a:chOff x="0" y="0"/>
          <a:chExt cx="0" cy="0"/>
        </a:xfrm>
      </p:grpSpPr>
      <p:sp>
        <p:nvSpPr>
          <p:cNvPr id="953" name="Google Shape;953;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4" name="Google Shape;954;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Everything in this deck is running code. The link opens a deterministic synthetic prototype with nine reviewer scenarios covering the standard path, zero refund, changed refund, the three timeout outcomes, preview failure, already cancelled and unavailable. Pick a scenario and click through; every state shown in the wireframes is reachable. The data is synthetic and the prototype is not connected to live Agoda systems.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ymint-submission — Blank" type="blank">
  <p:cSld name="BLANK">
    <p:spTree>
      <p:nvGrpSpPr>
        <p:cNvPr id="13" name="Shape 13"/>
        <p:cNvGrpSpPr/>
        <p:nvPr/>
      </p:nvGrpSpPr>
      <p:grpSpPr>
        <a:xfrm>
          <a:off x="0" y="0"/>
          <a:ext cx="0" cy="0"/>
          <a:chOff x="0" y="0"/>
          <a:chExt cx="0" cy="0"/>
        </a:xfrm>
      </p:grpSpPr>
      <p:sp>
        <p:nvSpPr>
          <p:cNvPr id="14" name="Google Shape;14;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 name="Google Shape;11;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 name="Google Shape;12;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staymint-prototype.vercel.app" TargetMode="External"/><Relationship Id="rId4" Type="http://schemas.openxmlformats.org/officeDocument/2006/relationships/hyperlink" Target="https://staymint-prototype.vercel.app" TargetMode="External"/><Relationship Id="rId5" Type="http://schemas.openxmlformats.org/officeDocument/2006/relationships/hyperlink" Target="https://staymint-prototype.vercel.app" TargetMode="External"/><Relationship Id="rId6" Type="http://schemas.openxmlformats.org/officeDocument/2006/relationships/hyperlink" Target="https://staymint-prototype.vercel.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20" name="Shape 20"/>
        <p:cNvGrpSpPr/>
        <p:nvPr/>
      </p:nvGrpSpPr>
      <p:grpSpPr>
        <a:xfrm>
          <a:off x="0" y="0"/>
          <a:ext cx="0" cy="0"/>
          <a:chOff x="0" y="0"/>
          <a:chExt cx="0" cy="0"/>
        </a:xfrm>
      </p:grpSpPr>
      <p:grpSp>
        <p:nvGrpSpPr>
          <p:cNvPr id="21" name="Google Shape;21;p1"/>
          <p:cNvGrpSpPr/>
          <p:nvPr/>
        </p:nvGrpSpPr>
        <p:grpSpPr>
          <a:xfrm>
            <a:off x="609600" y="501650"/>
            <a:ext cx="6139407" cy="205359"/>
            <a:chOff x="609600" y="501650"/>
            <a:chExt cx="6139407" cy="205359"/>
          </a:xfrm>
        </p:grpSpPr>
        <p:sp>
          <p:nvSpPr>
            <p:cNvPr id="22" name="Google Shape;22;p1"/>
            <p:cNvSpPr/>
            <p:nvPr/>
          </p:nvSpPr>
          <p:spPr>
            <a:xfrm>
              <a:off x="609600" y="514350"/>
              <a:ext cx="323850" cy="28575"/>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txBox="1"/>
            <p:nvPr/>
          </p:nvSpPr>
          <p:spPr>
            <a:xfrm>
              <a:off x="1042416" y="501650"/>
              <a:ext cx="5706591"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PM101 · INTERACTION DESIGN · CANCELLATION EXPERIENCE</a:t>
              </a:r>
              <a:endParaRPr b="0" i="0" sz="1400" u="none" cap="none" strike="noStrike">
                <a:solidFill>
                  <a:srgbClr val="000000"/>
                </a:solidFill>
                <a:latin typeface="Arial"/>
                <a:ea typeface="Arial"/>
                <a:cs typeface="Arial"/>
                <a:sym typeface="Arial"/>
              </a:endParaRPr>
            </a:p>
          </p:txBody>
        </p:sp>
      </p:grpSp>
      <p:grpSp>
        <p:nvGrpSpPr>
          <p:cNvPr id="24" name="Google Shape;24;p1"/>
          <p:cNvGrpSpPr/>
          <p:nvPr/>
        </p:nvGrpSpPr>
        <p:grpSpPr>
          <a:xfrm>
            <a:off x="609600" y="1504950"/>
            <a:ext cx="11292840" cy="2522220"/>
            <a:chOff x="609600" y="1504950"/>
            <a:chExt cx="11292840" cy="2522220"/>
          </a:xfrm>
        </p:grpSpPr>
        <p:sp>
          <p:nvSpPr>
            <p:cNvPr id="25" name="Google Shape;25;p1"/>
            <p:cNvSpPr/>
            <p:nvPr/>
          </p:nvSpPr>
          <p:spPr>
            <a:xfrm>
              <a:off x="609600" y="1504950"/>
              <a:ext cx="47625" cy="2476500"/>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1"/>
            <p:cNvSpPr/>
            <p:nvPr/>
          </p:nvSpPr>
          <p:spPr>
            <a:xfrm>
              <a:off x="933450" y="2095500"/>
              <a:ext cx="4172712" cy="139065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200"/>
                <a:buFont typeface="Arial"/>
                <a:buNone/>
              </a:pPr>
              <a:r>
                <a:rPr b="0" i="0" lang="en" sz="7200" u="none" cap="none" strike="noStrike">
                  <a:solidFill>
                    <a:srgbClr val="0B3D36"/>
                  </a:solidFill>
                  <a:latin typeface="Garamond"/>
                  <a:ea typeface="Garamond"/>
                  <a:cs typeface="Garamond"/>
                  <a:sym typeface="Garamond"/>
                </a:rPr>
                <a:t>Staymint</a:t>
              </a:r>
              <a:endParaRPr b="0" i="0" sz="1400" u="none" cap="none" strike="noStrike">
                <a:solidFill>
                  <a:srgbClr val="000000"/>
                </a:solidFill>
                <a:latin typeface="Arial"/>
                <a:ea typeface="Arial"/>
                <a:cs typeface="Arial"/>
                <a:sym typeface="Arial"/>
              </a:endParaRPr>
            </a:p>
          </p:txBody>
        </p:sp>
        <p:sp>
          <p:nvSpPr>
            <p:cNvPr id="27" name="Google Shape;27;p1"/>
            <p:cNvSpPr/>
            <p:nvPr/>
          </p:nvSpPr>
          <p:spPr>
            <a:xfrm>
              <a:off x="941070" y="3200400"/>
              <a:ext cx="60960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1" lang="en" sz="2250" u="none" cap="none" strike="noStrike">
                  <a:solidFill>
                    <a:srgbClr val="B45309"/>
                  </a:solidFill>
                  <a:latin typeface="Garamond"/>
                  <a:ea typeface="Garamond"/>
                  <a:cs typeface="Garamond"/>
                  <a:sym typeface="Garamond"/>
                </a:rPr>
                <a:t>Own the clarity of cancellation.</a:t>
              </a:r>
              <a:endParaRPr b="0" i="0" sz="1400" u="none" cap="none" strike="noStrike">
                <a:solidFill>
                  <a:srgbClr val="000000"/>
                </a:solidFill>
                <a:latin typeface="Arial"/>
                <a:ea typeface="Arial"/>
                <a:cs typeface="Arial"/>
                <a:sym typeface="Arial"/>
              </a:endParaRPr>
            </a:p>
          </p:txBody>
        </p:sp>
        <p:sp>
          <p:nvSpPr>
            <p:cNvPr id="28" name="Google Shape;28;p1"/>
            <p:cNvSpPr/>
            <p:nvPr/>
          </p:nvSpPr>
          <p:spPr>
            <a:xfrm>
              <a:off x="944880" y="3733800"/>
              <a:ext cx="10957560" cy="29337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F2A26"/>
                  </a:solidFill>
                  <a:latin typeface="Quattrocento Sans"/>
                  <a:ea typeface="Quattrocento Sans"/>
                  <a:cs typeface="Quattrocento Sans"/>
                  <a:sym typeface="Quattrocento Sans"/>
                </a:rPr>
                <a:t>Mobile wireframes for cancelling an existing hotel booking, designed around Agoda's cancellation APIs.</a:t>
              </a:r>
              <a:endParaRPr b="0" i="0" sz="1400" u="none" cap="none" strike="noStrike">
                <a:solidFill>
                  <a:srgbClr val="000000"/>
                </a:solidFill>
                <a:latin typeface="Arial"/>
                <a:ea typeface="Arial"/>
                <a:cs typeface="Arial"/>
                <a:sym typeface="Arial"/>
              </a:endParaRPr>
            </a:p>
          </p:txBody>
        </p:sp>
      </p:grpSp>
      <p:grpSp>
        <p:nvGrpSpPr>
          <p:cNvPr id="29" name="Google Shape;29;p1"/>
          <p:cNvGrpSpPr/>
          <p:nvPr/>
        </p:nvGrpSpPr>
        <p:grpSpPr>
          <a:xfrm>
            <a:off x="602742" y="4305300"/>
            <a:ext cx="11182350" cy="923925"/>
            <a:chOff x="602742" y="4305300"/>
            <a:chExt cx="11182350" cy="923925"/>
          </a:xfrm>
        </p:grpSpPr>
        <p:sp>
          <p:nvSpPr>
            <p:cNvPr id="30" name="Google Shape;30;p1"/>
            <p:cNvSpPr/>
            <p:nvPr/>
          </p:nvSpPr>
          <p:spPr>
            <a:xfrm>
              <a:off x="609600" y="43053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31" name="Google Shape;31;p1"/>
            <p:cNvSpPr txBox="1"/>
            <p:nvPr/>
          </p:nvSpPr>
          <p:spPr>
            <a:xfrm>
              <a:off x="604266" y="4483100"/>
              <a:ext cx="977776"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PROTOTYPE</a:t>
              </a:r>
              <a:endParaRPr b="0" i="0" sz="1400" u="none" cap="none" strike="noStrike">
                <a:solidFill>
                  <a:srgbClr val="000000"/>
                </a:solidFill>
                <a:latin typeface="Arial"/>
                <a:ea typeface="Arial"/>
                <a:cs typeface="Arial"/>
                <a:sym typeface="Arial"/>
              </a:endParaRPr>
            </a:p>
          </p:txBody>
        </p:sp>
        <p:sp>
          <p:nvSpPr>
            <p:cNvPr id="32" name="Google Shape;32;p1"/>
            <p:cNvSpPr/>
            <p:nvPr/>
          </p:nvSpPr>
          <p:spPr>
            <a:xfrm>
              <a:off x="602742" y="4673632"/>
              <a:ext cx="28575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Interactive synthetic demo:</a:t>
              </a:r>
              <a:endParaRPr b="0" i="0" sz="1400" u="none" cap="none" strike="noStrike">
                <a:solidFill>
                  <a:srgbClr val="000000"/>
                </a:solidFill>
                <a:latin typeface="Arial"/>
                <a:ea typeface="Arial"/>
                <a:cs typeface="Arial"/>
                <a:sym typeface="Arial"/>
              </a:endParaRPr>
            </a:p>
          </p:txBody>
        </p:sp>
        <p:sp>
          <p:nvSpPr>
            <p:cNvPr id="33" name="Google Shape;33;p1"/>
            <p:cNvSpPr/>
            <p:nvPr/>
          </p:nvSpPr>
          <p:spPr>
            <a:xfrm>
              <a:off x="602742" y="4902232"/>
              <a:ext cx="32385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7 screens, 9 reviewer scenarios</a:t>
              </a:r>
              <a:endParaRPr b="0" i="0" sz="1400" u="none" cap="none" strike="noStrike">
                <a:solidFill>
                  <a:srgbClr val="000000"/>
                </a:solidFill>
                <a:latin typeface="Arial"/>
                <a:ea typeface="Arial"/>
                <a:cs typeface="Arial"/>
                <a:sym typeface="Arial"/>
              </a:endParaRPr>
            </a:p>
          </p:txBody>
        </p:sp>
        <p:sp>
          <p:nvSpPr>
            <p:cNvPr id="34" name="Google Shape;34;p1"/>
            <p:cNvSpPr/>
            <p:nvPr/>
          </p:nvSpPr>
          <p:spPr>
            <a:xfrm>
              <a:off x="4267200" y="4419600"/>
              <a:ext cx="9525" cy="685800"/>
            </a:xfrm>
            <a:custGeom>
              <a:rect b="b" l="l" r="r" t="t"/>
              <a:pathLst>
                <a:path extrusionOk="0" h="685800" w="9525">
                  <a:moveTo>
                    <a:pt x="0" y="0"/>
                  </a:moveTo>
                  <a:lnTo>
                    <a:pt x="0" y="685800"/>
                  </a:lnTo>
                </a:path>
              </a:pathLst>
            </a:custGeom>
            <a:solidFill>
              <a:srgbClr val="000000"/>
            </a:solidFill>
            <a:ln cap="flat" cmpd="sng" w="9525">
              <a:solidFill>
                <a:srgbClr val="D8CFBC"/>
              </a:solidFill>
              <a:prstDash val="solid"/>
              <a:round/>
              <a:headEnd len="sm" w="sm" type="none"/>
              <a:tailEnd len="sm" w="sm" type="none"/>
            </a:ln>
          </p:spPr>
        </p:sp>
        <p:sp>
          <p:nvSpPr>
            <p:cNvPr id="35" name="Google Shape;35;p1"/>
            <p:cNvSpPr txBox="1"/>
            <p:nvPr/>
          </p:nvSpPr>
          <p:spPr>
            <a:xfrm>
              <a:off x="4566666" y="4483100"/>
              <a:ext cx="1099813"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DELIVERABLE</a:t>
              </a:r>
              <a:endParaRPr b="0" i="0" sz="1400" u="none" cap="none" strike="noStrike">
                <a:solidFill>
                  <a:srgbClr val="000000"/>
                </a:solidFill>
                <a:latin typeface="Arial"/>
                <a:ea typeface="Arial"/>
                <a:cs typeface="Arial"/>
                <a:sym typeface="Arial"/>
              </a:endParaRPr>
            </a:p>
          </p:txBody>
        </p:sp>
        <p:sp>
          <p:nvSpPr>
            <p:cNvPr id="36" name="Google Shape;36;p1"/>
            <p:cNvSpPr/>
            <p:nvPr/>
          </p:nvSpPr>
          <p:spPr>
            <a:xfrm>
              <a:off x="4565142" y="4673632"/>
              <a:ext cx="423862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7 wireframe screens in 12 selected views,</a:t>
              </a:r>
              <a:endParaRPr b="0" i="0" sz="1400" u="none" cap="none" strike="noStrike">
                <a:solidFill>
                  <a:srgbClr val="000000"/>
                </a:solidFill>
                <a:latin typeface="Arial"/>
                <a:ea typeface="Arial"/>
                <a:cs typeface="Arial"/>
                <a:sym typeface="Arial"/>
              </a:endParaRPr>
            </a:p>
          </p:txBody>
        </p:sp>
        <p:sp>
          <p:nvSpPr>
            <p:cNvPr id="37" name="Google Shape;37;p1"/>
            <p:cNvSpPr/>
            <p:nvPr/>
          </p:nvSpPr>
          <p:spPr>
            <a:xfrm>
              <a:off x="4565142" y="4902232"/>
              <a:ext cx="3724656"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with design, developer, business notes</a:t>
              </a:r>
              <a:endParaRPr b="0" i="0" sz="1400" u="none" cap="none" strike="noStrike">
                <a:solidFill>
                  <a:srgbClr val="000000"/>
                </a:solidFill>
                <a:latin typeface="Arial"/>
                <a:ea typeface="Arial"/>
                <a:cs typeface="Arial"/>
                <a:sym typeface="Arial"/>
              </a:endParaRPr>
            </a:p>
          </p:txBody>
        </p:sp>
        <p:sp>
          <p:nvSpPr>
            <p:cNvPr id="38" name="Google Shape;38;p1"/>
            <p:cNvSpPr/>
            <p:nvPr/>
          </p:nvSpPr>
          <p:spPr>
            <a:xfrm>
              <a:off x="8534400" y="4419600"/>
              <a:ext cx="9525" cy="685800"/>
            </a:xfrm>
            <a:custGeom>
              <a:rect b="b" l="l" r="r" t="t"/>
              <a:pathLst>
                <a:path extrusionOk="0" h="685800" w="9525">
                  <a:moveTo>
                    <a:pt x="0" y="0"/>
                  </a:moveTo>
                  <a:lnTo>
                    <a:pt x="0" y="685800"/>
                  </a:lnTo>
                </a:path>
              </a:pathLst>
            </a:custGeom>
            <a:solidFill>
              <a:srgbClr val="000000"/>
            </a:solidFill>
            <a:ln cap="flat" cmpd="sng" w="9525">
              <a:solidFill>
                <a:srgbClr val="D8CFBC"/>
              </a:solidFill>
              <a:prstDash val="solid"/>
              <a:round/>
              <a:headEnd len="sm" w="sm" type="none"/>
              <a:tailEnd len="sm" w="sm" type="none"/>
            </a:ln>
          </p:spPr>
        </p:sp>
        <p:sp>
          <p:nvSpPr>
            <p:cNvPr id="39" name="Google Shape;39;p1"/>
            <p:cNvSpPr txBox="1"/>
            <p:nvPr/>
          </p:nvSpPr>
          <p:spPr>
            <a:xfrm>
              <a:off x="8833866" y="4483100"/>
              <a:ext cx="1024896"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DEMO DATA</a:t>
              </a:r>
              <a:endParaRPr b="0" i="0" sz="1400" u="none" cap="none" strike="noStrike">
                <a:solidFill>
                  <a:srgbClr val="000000"/>
                </a:solidFill>
                <a:latin typeface="Arial"/>
                <a:ea typeface="Arial"/>
                <a:cs typeface="Arial"/>
                <a:sym typeface="Arial"/>
              </a:endParaRPr>
            </a:p>
          </p:txBody>
        </p:sp>
        <p:sp>
          <p:nvSpPr>
            <p:cNvPr id="40" name="Google Shape;40;p1"/>
            <p:cNvSpPr/>
            <p:nvPr/>
          </p:nvSpPr>
          <p:spPr>
            <a:xfrm>
              <a:off x="8832342" y="4673632"/>
              <a:ext cx="295275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Deterministic and synthetic:</a:t>
              </a:r>
              <a:endParaRPr b="0" i="0" sz="1400" u="none" cap="none" strike="noStrike">
                <a:solidFill>
                  <a:srgbClr val="000000"/>
                </a:solidFill>
                <a:latin typeface="Arial"/>
                <a:ea typeface="Arial"/>
                <a:cs typeface="Arial"/>
                <a:sym typeface="Arial"/>
              </a:endParaRPr>
            </a:p>
          </p:txBody>
        </p:sp>
        <p:sp>
          <p:nvSpPr>
            <p:cNvPr id="41" name="Google Shape;41;p1"/>
            <p:cNvSpPr/>
            <p:nvPr/>
          </p:nvSpPr>
          <p:spPr>
            <a:xfrm>
              <a:off x="8832342" y="4902232"/>
              <a:ext cx="238048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Azure Palms Resort &amp; Spa</a:t>
              </a:r>
              <a:endParaRPr b="0" i="0" sz="1400" u="none" cap="none" strike="noStrike">
                <a:solidFill>
                  <a:srgbClr val="000000"/>
                </a:solidFill>
                <a:latin typeface="Arial"/>
                <a:ea typeface="Arial"/>
                <a:cs typeface="Arial"/>
                <a:sym typeface="Arial"/>
              </a:endParaRPr>
            </a:p>
          </p:txBody>
        </p:sp>
        <p:sp>
          <p:nvSpPr>
            <p:cNvPr id="42" name="Google Shape;42;p1"/>
            <p:cNvSpPr/>
            <p:nvPr/>
          </p:nvSpPr>
          <p:spPr>
            <a:xfrm>
              <a:off x="609600" y="52197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grpSp>
      <p:grpSp>
        <p:nvGrpSpPr>
          <p:cNvPr id="43" name="Google Shape;43;p1"/>
          <p:cNvGrpSpPr/>
          <p:nvPr/>
        </p:nvGrpSpPr>
        <p:grpSpPr>
          <a:xfrm>
            <a:off x="604266" y="5549900"/>
            <a:ext cx="10456164" cy="853091"/>
            <a:chOff x="604266" y="5549900"/>
            <a:chExt cx="10456164" cy="853091"/>
          </a:xfrm>
        </p:grpSpPr>
        <p:sp>
          <p:nvSpPr>
            <p:cNvPr id="44" name="Google Shape;44;p1"/>
            <p:cNvSpPr txBox="1"/>
            <p:nvPr/>
          </p:nvSpPr>
          <p:spPr>
            <a:xfrm>
              <a:off x="604266" y="5549900"/>
              <a:ext cx="1221042"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ASSUMPTIONS</a:t>
              </a:r>
              <a:endParaRPr b="0" i="0" sz="1400" u="none" cap="none" strike="noStrike">
                <a:solidFill>
                  <a:srgbClr val="000000"/>
                </a:solidFill>
                <a:latin typeface="Arial"/>
                <a:ea typeface="Arial"/>
                <a:cs typeface="Arial"/>
                <a:sym typeface="Arial"/>
              </a:endParaRPr>
            </a:p>
          </p:txBody>
        </p:sp>
        <p:sp>
          <p:nvSpPr>
            <p:cNvPr id="45" name="Google Shape;45;p1"/>
            <p:cNvSpPr/>
            <p:nvPr/>
          </p:nvSpPr>
          <p:spPr>
            <a:xfrm>
              <a:off x="604266" y="5797582"/>
              <a:ext cx="1045616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Android app. A booking created in Staymint is created with Agoda at once. Support is an internal booking-linked channel, not an Agoda call.</a:t>
              </a:r>
              <a:endParaRPr b="0" i="0" sz="1400" u="none" cap="none" strike="noStrike">
                <a:solidFill>
                  <a:srgbClr val="000000"/>
                </a:solidFill>
                <a:latin typeface="Arial"/>
                <a:ea typeface="Arial"/>
                <a:cs typeface="Arial"/>
                <a:sym typeface="Arial"/>
              </a:endParaRPr>
            </a:p>
          </p:txBody>
        </p:sp>
        <p:sp>
          <p:nvSpPr>
            <p:cNvPr id="46" name="Google Shape;46;p1"/>
            <p:cNvSpPr/>
            <p:nvPr/>
          </p:nvSpPr>
          <p:spPr>
            <a:xfrm>
              <a:off x="604266" y="6026182"/>
              <a:ext cx="6274308"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The Agoda pages referenced for this flow do not publish HTTP verbs, endpoint paths,</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604266" y="6197632"/>
              <a:ext cx="8141208" cy="20535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reference expiry, or the exact check-in cutoff time; stated as assumptions </a:t>
              </a:r>
              <a:br>
                <a:rPr b="0" i="0" lang="en" sz="1050" u="none" cap="none" strike="noStrike">
                  <a:solidFill>
                    <a:srgbClr val="6B6F66"/>
                  </a:solidFill>
                  <a:latin typeface="Quattrocento Sans"/>
                  <a:ea typeface="Quattrocento Sans"/>
                  <a:cs typeface="Quattrocento Sans"/>
                  <a:sym typeface="Quattrocento Sans"/>
                </a:rPr>
              </a:br>
              <a:r>
                <a:rPr b="0" i="0" lang="en" sz="1050" u="none" cap="none" strike="noStrike">
                  <a:solidFill>
                    <a:srgbClr val="6B6F66"/>
                  </a:solidFill>
                  <a:latin typeface="Quattrocento Sans"/>
                  <a:ea typeface="Quattrocento Sans"/>
                  <a:cs typeface="Quattrocento Sans"/>
                  <a:sym typeface="Quattrocento Sans"/>
                </a:rPr>
                <a:t>where used.</a:t>
              </a:r>
              <a:endParaRPr b="0" i="0" sz="1400" u="none" cap="none" strike="noStrike">
                <a:solidFill>
                  <a:srgbClr val="000000"/>
                </a:solidFill>
                <a:latin typeface="Arial"/>
                <a:ea typeface="Arial"/>
                <a:cs typeface="Arial"/>
                <a:sym typeface="Arial"/>
              </a:endParaRPr>
            </a:p>
          </p:txBody>
        </p:sp>
      </p:grpSp>
      <p:sp>
        <p:nvSpPr>
          <p:cNvPr id="48" name="Google Shape;48;p1"/>
          <p:cNvSpPr/>
          <p:nvPr/>
        </p:nvSpPr>
        <p:spPr>
          <a:xfrm>
            <a:off x="10615422" y="6445282"/>
            <a:ext cx="972312"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October 2026</a:t>
            </a:r>
            <a:endParaRPr b="0" i="0" sz="1400" u="none" cap="none" strike="noStrike">
              <a:solidFill>
                <a:srgbClr val="000000"/>
              </a:solidFill>
              <a:latin typeface="Arial"/>
              <a:ea typeface="Arial"/>
              <a:cs typeface="Arial"/>
              <a:sym typeface="Arial"/>
            </a:endParaRPr>
          </a:p>
        </p:txBody>
      </p:sp>
      <p:sp>
        <p:nvSpPr>
          <p:cNvPr id="49" name="Google Shape;49;p1"/>
          <p:cNvSpPr txBox="1"/>
          <p:nvPr/>
        </p:nvSpPr>
        <p:spPr>
          <a:xfrm>
            <a:off x="10088300" y="281250"/>
            <a:ext cx="1696800" cy="1529625"/>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350"/>
              <a:buFont typeface="Arial"/>
              <a:buNone/>
            </a:pPr>
            <a:r>
              <a:rPr b="1" i="0" lang="en" sz="1350" u="sng" cap="none" strike="noStrike">
                <a:solidFill>
                  <a:srgbClr val="1F2A26"/>
                </a:solidFill>
                <a:latin typeface="Quattrocento Sans"/>
                <a:ea typeface="Quattrocento Sans"/>
                <a:cs typeface="Quattrocento Sans"/>
                <a:sym typeface="Quattrocento Sans"/>
              </a:rPr>
              <a:t>Teammates:</a:t>
            </a:r>
            <a:endParaRPr b="1" i="0" sz="1350" u="sng" cap="none" strike="noStrike">
              <a:solidFill>
                <a:srgbClr val="1F2A2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L Shailender Goud</a:t>
            </a:r>
            <a:endParaRPr b="0" i="0" sz="1350" u="none" cap="none" strike="noStrike">
              <a:solidFill>
                <a:srgbClr val="1F2A2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Mehak Makol</a:t>
            </a:r>
            <a:endParaRPr b="0" i="0" sz="1350" u="none" cap="none" strike="noStrike">
              <a:solidFill>
                <a:srgbClr val="1F2A2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Aashi Bhansali</a:t>
            </a:r>
            <a:endParaRPr b="0" i="0" sz="1350" u="none" cap="none" strike="noStrike">
              <a:solidFill>
                <a:srgbClr val="1F2A26"/>
              </a:solidFill>
              <a:latin typeface="Quattrocento Sans"/>
              <a:ea typeface="Quattrocento Sans"/>
              <a:cs typeface="Quattrocento Sans"/>
              <a:sym typeface="Quattrocento Sans"/>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Harshit Chebolu</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Tanushree Mishra</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53" name="Shape 53"/>
        <p:cNvGrpSpPr/>
        <p:nvPr/>
      </p:nvGrpSpPr>
      <p:grpSpPr>
        <a:xfrm>
          <a:off x="0" y="0"/>
          <a:ext cx="0" cy="0"/>
          <a:chOff x="0" y="0"/>
          <a:chExt cx="0" cy="0"/>
        </a:xfrm>
      </p:grpSpPr>
      <p:grpSp>
        <p:nvGrpSpPr>
          <p:cNvPr id="54" name="Google Shape;54;p11"/>
          <p:cNvGrpSpPr/>
          <p:nvPr/>
        </p:nvGrpSpPr>
        <p:grpSpPr>
          <a:xfrm>
            <a:off x="598170" y="133350"/>
            <a:ext cx="10984230" cy="745141"/>
            <a:chOff x="598170" y="133350"/>
            <a:chExt cx="10984230" cy="745141"/>
          </a:xfrm>
        </p:grpSpPr>
        <p:sp>
          <p:nvSpPr>
            <p:cNvPr id="55" name="Google Shape;55;p11"/>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56" name="Google Shape;56;p11"/>
            <p:cNvSpPr/>
            <p:nvPr/>
          </p:nvSpPr>
          <p:spPr>
            <a:xfrm>
              <a:off x="604838" y="209550"/>
              <a:ext cx="2491550" cy="1760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PRODUCT NOTE · 1 OF 2</a:t>
              </a:r>
              <a:endParaRPr b="0" i="0" sz="1400" u="none" cap="none" strike="noStrike">
                <a:solidFill>
                  <a:srgbClr val="000000"/>
                </a:solidFill>
                <a:latin typeface="Arial"/>
                <a:ea typeface="Arial"/>
                <a:cs typeface="Arial"/>
                <a:sym typeface="Arial"/>
              </a:endParaRPr>
            </a:p>
          </p:txBody>
        </p:sp>
        <p:sp>
          <p:nvSpPr>
            <p:cNvPr id="57" name="Google Shape;57;p11"/>
            <p:cNvSpPr/>
            <p:nvPr/>
          </p:nvSpPr>
          <p:spPr>
            <a:xfrm>
              <a:off x="598170" y="323850"/>
              <a:ext cx="76200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Product Note - the problem and the goal</a:t>
              </a:r>
              <a:endParaRPr b="0" i="0" sz="1400" u="none" cap="none" strike="noStrike">
                <a:solidFill>
                  <a:srgbClr val="000000"/>
                </a:solidFill>
                <a:latin typeface="Arial"/>
                <a:ea typeface="Arial"/>
                <a:cs typeface="Arial"/>
                <a:sym typeface="Arial"/>
              </a:endParaRPr>
            </a:p>
          </p:txBody>
        </p:sp>
        <p:sp>
          <p:nvSpPr>
            <p:cNvPr id="58" name="Google Shape;58;p11"/>
            <p:cNvSpPr/>
            <p:nvPr/>
          </p:nvSpPr>
          <p:spPr>
            <a:xfrm>
              <a:off x="604266" y="673132"/>
              <a:ext cx="49530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What Staymint is fixing, for whom, and how big the problem is.</a:t>
              </a:r>
              <a:endParaRPr b="0" i="0" sz="1400" u="none" cap="none" strike="noStrike">
                <a:solidFill>
                  <a:srgbClr val="000000"/>
                </a:solidFill>
                <a:latin typeface="Arial"/>
                <a:ea typeface="Arial"/>
                <a:cs typeface="Arial"/>
                <a:sym typeface="Arial"/>
              </a:endParaRPr>
            </a:p>
          </p:txBody>
        </p:sp>
      </p:grpSp>
      <p:grpSp>
        <p:nvGrpSpPr>
          <p:cNvPr id="59" name="Google Shape;59;p11"/>
          <p:cNvGrpSpPr/>
          <p:nvPr/>
        </p:nvGrpSpPr>
        <p:grpSpPr>
          <a:xfrm>
            <a:off x="604647" y="1111282"/>
            <a:ext cx="10977753" cy="1822418"/>
            <a:chOff x="604647" y="1111282"/>
            <a:chExt cx="10977753" cy="1822418"/>
          </a:xfrm>
        </p:grpSpPr>
        <p:sp>
          <p:nvSpPr>
            <p:cNvPr id="60" name="Google Shape;60;p11"/>
            <p:cNvSpPr/>
            <p:nvPr/>
          </p:nvSpPr>
          <p:spPr>
            <a:xfrm>
              <a:off x="604647" y="1111282"/>
              <a:ext cx="304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WHAT IT IS - PROJECT AND GOAL</a:t>
              </a:r>
              <a:endParaRPr b="0" i="0" sz="1400" u="none" cap="none" strike="noStrike">
                <a:solidFill>
                  <a:srgbClr val="000000"/>
                </a:solidFill>
                <a:latin typeface="Arial"/>
                <a:ea typeface="Arial"/>
                <a:cs typeface="Arial"/>
                <a:sym typeface="Arial"/>
              </a:endParaRPr>
            </a:p>
          </p:txBody>
        </p:sp>
        <p:sp>
          <p:nvSpPr>
            <p:cNvPr id="61" name="Google Shape;61;p11"/>
            <p:cNvSpPr/>
            <p:nvPr/>
          </p:nvSpPr>
          <p:spPr>
            <a:xfrm>
              <a:off x="609600" y="13335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62" name="Google Shape;62;p11"/>
            <p:cNvSpPr/>
            <p:nvPr/>
          </p:nvSpPr>
          <p:spPr>
            <a:xfrm>
              <a:off x="609600" y="1543050"/>
              <a:ext cx="47625" cy="1390650"/>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1"/>
            <p:cNvSpPr/>
            <p:nvPr/>
          </p:nvSpPr>
          <p:spPr>
            <a:xfrm>
              <a:off x="944499" y="1543050"/>
              <a:ext cx="9048750" cy="3090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0"/>
                <a:buFont typeface="Arial"/>
                <a:buNone/>
              </a:pPr>
              <a:r>
                <a:rPr b="0" i="1" lang="en" sz="1580" u="none" cap="none" strike="noStrike">
                  <a:solidFill>
                    <a:srgbClr val="1F2A26"/>
                  </a:solidFill>
                  <a:latin typeface="Quattrocento Sans"/>
                  <a:ea typeface="Quattrocento Sans"/>
                  <a:cs typeface="Quattrocento Sans"/>
                  <a:sym typeface="Quattrocento Sans"/>
                </a:rPr>
                <a:t>Project: Staymint - the cancellation experience for our multi-hotel booking</a:t>
              </a:r>
              <a:endParaRPr b="0" i="0" sz="1400" u="none" cap="none" strike="noStrike">
                <a:solidFill>
                  <a:srgbClr val="000000"/>
                </a:solidFill>
                <a:latin typeface="Arial"/>
                <a:ea typeface="Arial"/>
                <a:cs typeface="Arial"/>
                <a:sym typeface="Arial"/>
              </a:endParaRPr>
            </a:p>
          </p:txBody>
        </p:sp>
        <p:sp>
          <p:nvSpPr>
            <p:cNvPr id="64" name="Google Shape;64;p11"/>
            <p:cNvSpPr/>
            <p:nvPr/>
          </p:nvSpPr>
          <p:spPr>
            <a:xfrm>
              <a:off x="944499" y="1866900"/>
              <a:ext cx="4286250" cy="3090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0"/>
                <a:buFont typeface="Arial"/>
                <a:buNone/>
              </a:pPr>
              <a:r>
                <a:rPr b="0" i="1" lang="en" sz="1580" u="none" cap="none" strike="noStrike">
                  <a:solidFill>
                    <a:srgbClr val="1F2A26"/>
                  </a:solidFill>
                  <a:latin typeface="Quattrocento Sans"/>
                  <a:ea typeface="Quattrocento Sans"/>
                  <a:cs typeface="Quattrocento Sans"/>
                  <a:sym typeface="Quattrocento Sans"/>
                </a:rPr>
                <a:t>app, built on Agoda's inventory.</a:t>
              </a:r>
              <a:endParaRPr b="0" i="0" sz="1400" u="none" cap="none" strike="noStrike">
                <a:solidFill>
                  <a:srgbClr val="000000"/>
                </a:solidFill>
                <a:latin typeface="Arial"/>
                <a:ea typeface="Arial"/>
                <a:cs typeface="Arial"/>
                <a:sym typeface="Arial"/>
              </a:endParaRPr>
            </a:p>
          </p:txBody>
        </p:sp>
        <p:sp>
          <p:nvSpPr>
            <p:cNvPr id="65" name="Google Shape;65;p11"/>
            <p:cNvSpPr/>
            <p:nvPr/>
          </p:nvSpPr>
          <p:spPr>
            <a:xfrm>
              <a:off x="944499" y="2190750"/>
              <a:ext cx="8763000" cy="3090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0"/>
                <a:buFont typeface="Arial"/>
                <a:buNone/>
              </a:pPr>
              <a:r>
                <a:rPr b="0" i="1" lang="en" sz="1580" u="none" cap="none" strike="noStrike">
                  <a:solidFill>
                    <a:srgbClr val="1F2A26"/>
                  </a:solidFill>
                  <a:latin typeface="Quattrocento Sans"/>
                  <a:ea typeface="Quattrocento Sans"/>
                  <a:cs typeface="Quattrocento Sans"/>
                  <a:sym typeface="Quattrocento Sans"/>
                </a:rPr>
                <a:t>Goal: cancel one existing booking knowing the refund before you commit,</a:t>
              </a:r>
              <a:endParaRPr b="0" i="0" sz="1400" u="none" cap="none" strike="noStrike">
                <a:solidFill>
                  <a:srgbClr val="000000"/>
                </a:solidFill>
                <a:latin typeface="Arial"/>
                <a:ea typeface="Arial"/>
                <a:cs typeface="Arial"/>
                <a:sym typeface="Arial"/>
              </a:endParaRPr>
            </a:p>
          </p:txBody>
        </p:sp>
        <p:sp>
          <p:nvSpPr>
            <p:cNvPr id="66" name="Google Shape;66;p11"/>
            <p:cNvSpPr/>
            <p:nvPr/>
          </p:nvSpPr>
          <p:spPr>
            <a:xfrm>
              <a:off x="944499" y="2514600"/>
              <a:ext cx="4286250" cy="3090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80"/>
                <a:buFont typeface="Arial"/>
                <a:buNone/>
              </a:pPr>
              <a:r>
                <a:rPr b="0" i="1" lang="en" sz="1580" u="none" cap="none" strike="noStrike">
                  <a:solidFill>
                    <a:srgbClr val="1F2A26"/>
                  </a:solidFill>
                  <a:latin typeface="Quattrocento Sans"/>
                  <a:ea typeface="Quattrocento Sans"/>
                  <a:cs typeface="Quattrocento Sans"/>
                  <a:sym typeface="Quattrocento Sans"/>
                </a:rPr>
                <a:t>and the true status after.</a:t>
              </a:r>
              <a:endParaRPr b="0" i="0" sz="1400" u="none" cap="none" strike="noStrike">
                <a:solidFill>
                  <a:srgbClr val="000000"/>
                </a:solidFill>
                <a:latin typeface="Arial"/>
                <a:ea typeface="Arial"/>
                <a:cs typeface="Arial"/>
                <a:sym typeface="Arial"/>
              </a:endParaRPr>
            </a:p>
          </p:txBody>
        </p:sp>
      </p:grpSp>
      <p:grpSp>
        <p:nvGrpSpPr>
          <p:cNvPr id="67" name="Google Shape;67;p11"/>
          <p:cNvGrpSpPr/>
          <p:nvPr/>
        </p:nvGrpSpPr>
        <p:grpSpPr>
          <a:xfrm>
            <a:off x="604647" y="3149632"/>
            <a:ext cx="10977753" cy="1746218"/>
            <a:chOff x="604647" y="3149632"/>
            <a:chExt cx="10977753" cy="1746218"/>
          </a:xfrm>
        </p:grpSpPr>
        <p:sp>
          <p:nvSpPr>
            <p:cNvPr id="68" name="Google Shape;68;p11"/>
            <p:cNvSpPr/>
            <p:nvPr/>
          </p:nvSpPr>
          <p:spPr>
            <a:xfrm>
              <a:off x="604647" y="3149632"/>
              <a:ext cx="283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PROBLEM - WHAT AND FOR WHOM</a:t>
              </a:r>
              <a:endParaRPr b="0" i="0" sz="1400" u="none" cap="none" strike="noStrike">
                <a:solidFill>
                  <a:srgbClr val="000000"/>
                </a:solidFill>
                <a:latin typeface="Arial"/>
                <a:ea typeface="Arial"/>
                <a:cs typeface="Arial"/>
                <a:sym typeface="Arial"/>
              </a:endParaRPr>
            </a:p>
          </p:txBody>
        </p:sp>
        <p:sp>
          <p:nvSpPr>
            <p:cNvPr id="69" name="Google Shape;69;p11"/>
            <p:cNvSpPr/>
            <p:nvPr/>
          </p:nvSpPr>
          <p:spPr>
            <a:xfrm>
              <a:off x="609600" y="337185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70" name="Google Shape;70;p11"/>
            <p:cNvSpPr/>
            <p:nvPr/>
          </p:nvSpPr>
          <p:spPr>
            <a:xfrm>
              <a:off x="609600" y="3562350"/>
              <a:ext cx="5391150" cy="133350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1"/>
            <p:cNvSpPr/>
            <p:nvPr/>
          </p:nvSpPr>
          <p:spPr>
            <a:xfrm>
              <a:off x="871347" y="3816382"/>
              <a:ext cx="241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FOR WHOM - THE CUSTOMER</a:t>
              </a:r>
              <a:endParaRPr b="0" i="0" sz="1400" u="none" cap="none" strike="noStrike">
                <a:solidFill>
                  <a:srgbClr val="000000"/>
                </a:solidFill>
                <a:latin typeface="Arial"/>
                <a:ea typeface="Arial"/>
                <a:cs typeface="Arial"/>
                <a:sym typeface="Arial"/>
              </a:endParaRPr>
            </a:p>
          </p:txBody>
        </p:sp>
        <p:sp>
          <p:nvSpPr>
            <p:cNvPr id="72" name="Google Shape;72;p11"/>
            <p:cNvSpPr/>
            <p:nvPr/>
          </p:nvSpPr>
          <p:spPr>
            <a:xfrm>
              <a:off x="868680" y="4019550"/>
              <a:ext cx="44767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A Staymint customer with one existing hotel booking</a:t>
              </a:r>
              <a:endParaRPr b="0" i="0" sz="1400" u="none" cap="none" strike="noStrike">
                <a:solidFill>
                  <a:srgbClr val="000000"/>
                </a:solidFill>
                <a:latin typeface="Arial"/>
                <a:ea typeface="Arial"/>
                <a:cs typeface="Arial"/>
                <a:sym typeface="Arial"/>
              </a:endParaRPr>
            </a:p>
          </p:txBody>
        </p:sp>
        <p:sp>
          <p:nvSpPr>
            <p:cNvPr id="73" name="Google Shape;73;p11"/>
            <p:cNvSpPr/>
            <p:nvPr/>
          </p:nvSpPr>
          <p:spPr>
            <a:xfrm>
              <a:off x="868680" y="4248150"/>
              <a:ext cx="44767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who needs to cancel it - plans changed, zero-refund,</a:t>
              </a:r>
              <a:endParaRPr b="0" i="0" sz="1400" u="none" cap="none" strike="noStrike">
                <a:solidFill>
                  <a:srgbClr val="000000"/>
                </a:solidFill>
                <a:latin typeface="Arial"/>
                <a:ea typeface="Arial"/>
                <a:cs typeface="Arial"/>
                <a:sym typeface="Arial"/>
              </a:endParaRPr>
            </a:p>
          </p:txBody>
        </p:sp>
        <p:sp>
          <p:nvSpPr>
            <p:cNvPr id="74" name="Google Shape;74;p11"/>
            <p:cNvSpPr/>
            <p:nvPr/>
          </p:nvSpPr>
          <p:spPr>
            <a:xfrm>
              <a:off x="868680" y="4476750"/>
              <a:ext cx="44767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amount moved at commit, unclear outcome, or support.</a:t>
              </a:r>
              <a:endParaRPr b="0" i="0" sz="1400" u="none" cap="none" strike="noStrike">
                <a:solidFill>
                  <a:srgbClr val="000000"/>
                </a:solidFill>
                <a:latin typeface="Arial"/>
                <a:ea typeface="Arial"/>
                <a:cs typeface="Arial"/>
                <a:sym typeface="Arial"/>
              </a:endParaRPr>
            </a:p>
          </p:txBody>
        </p:sp>
        <p:sp>
          <p:nvSpPr>
            <p:cNvPr id="75" name="Google Shape;75;p11"/>
            <p:cNvSpPr/>
            <p:nvPr/>
          </p:nvSpPr>
          <p:spPr>
            <a:xfrm>
              <a:off x="6191250" y="3562350"/>
              <a:ext cx="5391150" cy="133350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11"/>
            <p:cNvSpPr/>
            <p:nvPr/>
          </p:nvSpPr>
          <p:spPr>
            <a:xfrm>
              <a:off x="6452997" y="3816382"/>
              <a:ext cx="220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WHAT GOES WRONG TODAY</a:t>
              </a:r>
              <a:endParaRPr b="0" i="0" sz="1400" u="none" cap="none" strike="noStrike">
                <a:solidFill>
                  <a:srgbClr val="000000"/>
                </a:solidFill>
                <a:latin typeface="Arial"/>
                <a:ea typeface="Arial"/>
                <a:cs typeface="Arial"/>
                <a:sym typeface="Arial"/>
              </a:endParaRPr>
            </a:p>
          </p:txBody>
        </p:sp>
        <p:sp>
          <p:nvSpPr>
            <p:cNvPr id="77" name="Google Shape;77;p11"/>
            <p:cNvSpPr/>
            <p:nvPr/>
          </p:nvSpPr>
          <p:spPr>
            <a:xfrm>
              <a:off x="6450330" y="4019550"/>
              <a:ext cx="46672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The refund consequence is unclear before they commit;</a:t>
              </a:r>
              <a:endParaRPr b="0" i="0" sz="1400" u="none" cap="none" strike="noStrike">
                <a:solidFill>
                  <a:srgbClr val="000000"/>
                </a:solidFill>
                <a:latin typeface="Arial"/>
                <a:ea typeface="Arial"/>
                <a:cs typeface="Arial"/>
                <a:sym typeface="Arial"/>
              </a:endParaRPr>
            </a:p>
          </p:txBody>
        </p:sp>
        <p:sp>
          <p:nvSpPr>
            <p:cNvPr id="78" name="Google Shape;78;p11"/>
            <p:cNvSpPr/>
            <p:nvPr/>
          </p:nvSpPr>
          <p:spPr>
            <a:xfrm>
              <a:off x="6450330" y="4248150"/>
              <a:ext cx="44767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an uncertain outcome can look like success; support</a:t>
              </a:r>
              <a:endParaRPr b="0" i="0" sz="1400" u="none" cap="none" strike="noStrike">
                <a:solidFill>
                  <a:srgbClr val="000000"/>
                </a:solidFill>
                <a:latin typeface="Arial"/>
                <a:ea typeface="Arial"/>
                <a:cs typeface="Arial"/>
                <a:sym typeface="Arial"/>
              </a:endParaRPr>
            </a:p>
          </p:txBody>
        </p:sp>
        <p:sp>
          <p:nvSpPr>
            <p:cNvPr id="79" name="Google Shape;79;p11"/>
            <p:cNvSpPr/>
            <p:nvPr/>
          </p:nvSpPr>
          <p:spPr>
            <a:xfrm>
              <a:off x="6450330" y="4476750"/>
              <a:ext cx="3333750" cy="22688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restarts without the booking context.</a:t>
              </a:r>
              <a:endParaRPr b="0" i="0" sz="1400" u="none" cap="none" strike="noStrike">
                <a:solidFill>
                  <a:srgbClr val="000000"/>
                </a:solidFill>
                <a:latin typeface="Arial"/>
                <a:ea typeface="Arial"/>
                <a:cs typeface="Arial"/>
                <a:sym typeface="Arial"/>
              </a:endParaRPr>
            </a:p>
          </p:txBody>
        </p:sp>
      </p:grpSp>
      <p:grpSp>
        <p:nvGrpSpPr>
          <p:cNvPr id="80" name="Google Shape;80;p11"/>
          <p:cNvGrpSpPr/>
          <p:nvPr/>
        </p:nvGrpSpPr>
        <p:grpSpPr>
          <a:xfrm>
            <a:off x="602742" y="5092732"/>
            <a:ext cx="10979658" cy="1261872"/>
            <a:chOff x="602742" y="5092732"/>
            <a:chExt cx="10979658" cy="1261872"/>
          </a:xfrm>
        </p:grpSpPr>
        <p:sp>
          <p:nvSpPr>
            <p:cNvPr id="81" name="Google Shape;81;p11"/>
            <p:cNvSpPr/>
            <p:nvPr/>
          </p:nvSpPr>
          <p:spPr>
            <a:xfrm>
              <a:off x="604647" y="5092732"/>
              <a:ext cx="241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HOW BIG IS THE PROBLEM?</a:t>
              </a:r>
              <a:endParaRPr b="0" i="0" sz="1400" u="none" cap="none" strike="noStrike">
                <a:solidFill>
                  <a:srgbClr val="000000"/>
                </a:solidFill>
                <a:latin typeface="Arial"/>
                <a:ea typeface="Arial"/>
                <a:cs typeface="Arial"/>
                <a:sym typeface="Arial"/>
              </a:endParaRPr>
            </a:p>
          </p:txBody>
        </p:sp>
        <p:sp>
          <p:nvSpPr>
            <p:cNvPr id="82" name="Google Shape;82;p11"/>
            <p:cNvSpPr/>
            <p:nvPr/>
          </p:nvSpPr>
          <p:spPr>
            <a:xfrm>
              <a:off x="609600" y="531495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83" name="Google Shape;83;p11"/>
            <p:cNvSpPr/>
            <p:nvPr/>
          </p:nvSpPr>
          <p:spPr>
            <a:xfrm>
              <a:off x="602742" y="5378482"/>
              <a:ext cx="109000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India: the National Consumer Helpline recovered over Rs 10 crore in Travel &amp; Tourism refunds, 25 Apr 2025-31 Jul 2026 [1].</a:t>
              </a:r>
              <a:endParaRPr b="0" i="0" sz="1400" u="none" cap="none" strike="noStrike">
                <a:solidFill>
                  <a:srgbClr val="000000"/>
                </a:solidFill>
                <a:latin typeface="Arial"/>
                <a:ea typeface="Arial"/>
                <a:cs typeface="Arial"/>
                <a:sym typeface="Arial"/>
              </a:endParaRPr>
            </a:p>
          </p:txBody>
        </p:sp>
        <p:sp>
          <p:nvSpPr>
            <p:cNvPr id="84" name="Google Shape;84;p11"/>
            <p:cNvSpPr/>
            <p:nvPr/>
          </p:nvSpPr>
          <p:spPr>
            <a:xfrm>
              <a:off x="602742" y="5645182"/>
              <a:ext cx="109000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That is money recovered through grievances, not total customer loss, and covers all travel, not only hotels.</a:t>
              </a:r>
              <a:endParaRPr b="0" i="0" sz="1400" u="none" cap="none" strike="noStrike">
                <a:solidFill>
                  <a:srgbClr val="000000"/>
                </a:solidFill>
                <a:latin typeface="Arial"/>
                <a:ea typeface="Arial"/>
                <a:cs typeface="Arial"/>
                <a:sym typeface="Arial"/>
              </a:endParaRPr>
            </a:p>
          </p:txBody>
        </p:sp>
        <p:sp>
          <p:nvSpPr>
            <p:cNvPr id="85" name="Google Shape;85;p11"/>
            <p:cNvSpPr/>
            <p:nvPr/>
          </p:nvSpPr>
          <p:spPr>
            <a:xfrm>
              <a:off x="602742" y="5899118"/>
              <a:ext cx="109000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For hotels, a room-night is perishable: once the night passes, it cannot be sold [2], so late cancellations leave less time to resell it.</a:t>
              </a:r>
              <a:endParaRPr b="0" i="0" sz="1400" u="none" cap="none" strike="noStrike">
                <a:solidFill>
                  <a:srgbClr val="000000"/>
                </a:solidFill>
                <a:latin typeface="Arial"/>
                <a:ea typeface="Arial"/>
                <a:cs typeface="Arial"/>
                <a:sym typeface="Arial"/>
              </a:endParaRPr>
            </a:p>
          </p:txBody>
        </p:sp>
        <p:sp>
          <p:nvSpPr>
            <p:cNvPr id="86" name="Google Shape;86;p11"/>
            <p:cNvSpPr/>
            <p:nvPr/>
          </p:nvSpPr>
          <p:spPr>
            <a:xfrm>
              <a:off x="602742" y="6127718"/>
              <a:ext cx="109000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Staymint targets the customer's uncertainty (refund amount, true status), not penalties or hotel occupancy.</a:t>
              </a:r>
              <a:endParaRPr b="0" i="0" sz="1400" u="none" cap="none" strike="noStrike">
                <a:solidFill>
                  <a:srgbClr val="000000"/>
                </a:solidFill>
                <a:latin typeface="Arial"/>
                <a:ea typeface="Arial"/>
                <a:cs typeface="Arial"/>
                <a:sym typeface="Arial"/>
              </a:endParaRPr>
            </a:p>
          </p:txBody>
        </p:sp>
      </p:grpSp>
      <p:sp>
        <p:nvSpPr>
          <p:cNvPr id="87" name="Google Shape;87;p11"/>
          <p:cNvSpPr/>
          <p:nvPr/>
        </p:nvSpPr>
        <p:spPr>
          <a:xfrm>
            <a:off x="11362182" y="6597682"/>
            <a:ext cx="225552"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2</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92" name="Shape 92"/>
        <p:cNvGrpSpPr/>
        <p:nvPr/>
      </p:nvGrpSpPr>
      <p:grpSpPr>
        <a:xfrm>
          <a:off x="0" y="0"/>
          <a:ext cx="0" cy="0"/>
          <a:chOff x="0" y="0"/>
          <a:chExt cx="0" cy="0"/>
        </a:xfrm>
      </p:grpSpPr>
      <p:grpSp>
        <p:nvGrpSpPr>
          <p:cNvPr id="93" name="Google Shape;93;p16"/>
          <p:cNvGrpSpPr/>
          <p:nvPr/>
        </p:nvGrpSpPr>
        <p:grpSpPr>
          <a:xfrm>
            <a:off x="598170" y="133350"/>
            <a:ext cx="10984230" cy="745141"/>
            <a:chOff x="598170" y="133350"/>
            <a:chExt cx="10984230" cy="745141"/>
          </a:xfrm>
        </p:grpSpPr>
        <p:sp>
          <p:nvSpPr>
            <p:cNvPr id="94" name="Google Shape;94;p16"/>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95" name="Google Shape;95;p16"/>
            <p:cNvSpPr/>
            <p:nvPr/>
          </p:nvSpPr>
          <p:spPr>
            <a:xfrm>
              <a:off x="604838" y="209550"/>
              <a:ext cx="4000000" cy="1760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PRODUCT NOTE · EVIDENCE</a:t>
              </a:r>
              <a:endParaRPr b="0" i="0" sz="1400" u="none" cap="none" strike="noStrike">
                <a:solidFill>
                  <a:srgbClr val="000000"/>
                </a:solidFill>
                <a:latin typeface="Arial"/>
                <a:ea typeface="Arial"/>
                <a:cs typeface="Arial"/>
                <a:sym typeface="Arial"/>
              </a:endParaRPr>
            </a:p>
          </p:txBody>
        </p:sp>
        <p:sp>
          <p:nvSpPr>
            <p:cNvPr id="96" name="Google Shape;96;p16"/>
            <p:cNvSpPr/>
            <p:nvPr/>
          </p:nvSpPr>
          <p:spPr>
            <a:xfrm>
              <a:off x="598170" y="323850"/>
              <a:ext cx="76200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Evidence behind the problem size</a:t>
              </a:r>
              <a:endParaRPr b="0" i="0" sz="1400" u="none" cap="none" strike="noStrike">
                <a:solidFill>
                  <a:srgbClr val="000000"/>
                </a:solidFill>
                <a:latin typeface="Arial"/>
                <a:ea typeface="Arial"/>
                <a:cs typeface="Arial"/>
                <a:sym typeface="Arial"/>
              </a:endParaRPr>
            </a:p>
          </p:txBody>
        </p:sp>
        <p:sp>
          <p:nvSpPr>
            <p:cNvPr id="97" name="Google Shape;97;p16"/>
            <p:cNvSpPr/>
            <p:nvPr/>
          </p:nvSpPr>
          <p:spPr>
            <a:xfrm>
              <a:off x="604266" y="673132"/>
              <a:ext cx="90000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India refund grievances, what they show, and what stays unmeasured. Sources cited.</a:t>
              </a:r>
              <a:endParaRPr b="0" i="0" sz="1400" u="none" cap="none" strike="noStrike">
                <a:solidFill>
                  <a:srgbClr val="000000"/>
                </a:solidFill>
                <a:latin typeface="Arial"/>
                <a:ea typeface="Arial"/>
                <a:cs typeface="Arial"/>
                <a:sym typeface="Arial"/>
              </a:endParaRPr>
            </a:p>
          </p:txBody>
        </p:sp>
      </p:grpSp>
      <p:sp>
        <p:nvSpPr>
          <p:cNvPr id="98" name="Google Shape;98;p16"/>
          <p:cNvSpPr/>
          <p:nvPr/>
        </p:nvSpPr>
        <p:spPr>
          <a:xfrm>
            <a:off x="11362182" y="6597682"/>
            <a:ext cx="225552"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14</a:t>
            </a:r>
            <a:endParaRPr b="0" i="0" sz="1400" u="none" cap="none" strike="noStrike">
              <a:solidFill>
                <a:srgbClr val="000000"/>
              </a:solidFill>
              <a:latin typeface="Arial"/>
              <a:ea typeface="Arial"/>
              <a:cs typeface="Arial"/>
              <a:sym typeface="Arial"/>
            </a:endParaRPr>
          </a:p>
        </p:txBody>
      </p:sp>
      <p:sp>
        <p:nvSpPr>
          <p:cNvPr id="99" name="Google Shape;99;p16"/>
          <p:cNvSpPr/>
          <p:nvPr/>
        </p:nvSpPr>
        <p:spPr>
          <a:xfrm>
            <a:off x="604647" y="1050000"/>
            <a:ext cx="8000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THE CUSTOMER'S PAIN</a:t>
            </a:r>
            <a:endParaRPr b="0" i="0" sz="1400" u="none" cap="none" strike="noStrike">
              <a:solidFill>
                <a:srgbClr val="000000"/>
              </a:solidFill>
              <a:latin typeface="Arial"/>
              <a:ea typeface="Arial"/>
              <a:cs typeface="Arial"/>
              <a:sym typeface="Arial"/>
            </a:endParaRPr>
          </a:p>
        </p:txBody>
      </p:sp>
      <p:sp>
        <p:nvSpPr>
          <p:cNvPr id="100" name="Google Shape;100;p16"/>
          <p:cNvSpPr/>
          <p:nvPr/>
        </p:nvSpPr>
        <p:spPr>
          <a:xfrm>
            <a:off x="609600" y="1272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101" name="Google Shape;101;p16"/>
          <p:cNvSpPr/>
          <p:nvPr/>
        </p:nvSpPr>
        <p:spPr>
          <a:xfrm>
            <a:off x="604647" y="135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After cancelling, the customer needs two clear answers: "Is my booking cancelled?" and "How much money will I get back?" If the refund changes or confirmation fails, they may be unsure whether they are still booked or charged. That is the uncertainty our flow addresses.</a:t>
            </a:r>
            <a:endParaRPr b="0" i="0" sz="1400" u="none" cap="none" strike="noStrike">
              <a:solidFill>
                <a:srgbClr val="000000"/>
              </a:solidFill>
              <a:latin typeface="Arial"/>
              <a:ea typeface="Arial"/>
              <a:cs typeface="Arial"/>
              <a:sym typeface="Arial"/>
            </a:endParaRPr>
          </a:p>
        </p:txBody>
      </p:sp>
      <p:sp>
        <p:nvSpPr>
          <p:cNvPr id="102" name="Google Shape;102;p16"/>
          <p:cNvSpPr/>
          <p:nvPr/>
        </p:nvSpPr>
        <p:spPr>
          <a:xfrm>
            <a:off x="604647" y="179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Our reading, not tested with users: Agoda's cancel flow can cause this. The refund amount can move between preview and confirm (error 914), and a timeout leaves the status unknown [3].</a:t>
            </a:r>
            <a:endParaRPr b="0" i="0" sz="1400" u="none" cap="none" strike="noStrike">
              <a:solidFill>
                <a:srgbClr val="000000"/>
              </a:solidFill>
              <a:latin typeface="Arial"/>
              <a:ea typeface="Arial"/>
              <a:cs typeface="Arial"/>
              <a:sym typeface="Arial"/>
            </a:endParaRPr>
          </a:p>
        </p:txBody>
      </p:sp>
      <p:sp>
        <p:nvSpPr>
          <p:cNvPr id="103" name="Google Shape;103;p16"/>
          <p:cNvSpPr/>
          <p:nvPr/>
        </p:nvSpPr>
        <p:spPr>
          <a:xfrm>
            <a:off x="604647" y="2290000"/>
            <a:ext cx="8000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THE COST, KEPT SEPARATE</a:t>
            </a:r>
            <a:endParaRPr b="0" i="0" sz="1400" u="none" cap="none" strike="noStrike">
              <a:solidFill>
                <a:srgbClr val="000000"/>
              </a:solidFill>
              <a:latin typeface="Arial"/>
              <a:ea typeface="Arial"/>
              <a:cs typeface="Arial"/>
              <a:sym typeface="Arial"/>
            </a:endParaRPr>
          </a:p>
        </p:txBody>
      </p:sp>
      <p:sp>
        <p:nvSpPr>
          <p:cNvPr id="104" name="Google Shape;104;p16"/>
          <p:cNvSpPr/>
          <p:nvPr/>
        </p:nvSpPr>
        <p:spPr>
          <a:xfrm>
            <a:off x="609600" y="2512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105" name="Google Shape;105;p16"/>
          <p:cNvSpPr/>
          <p:nvPr/>
        </p:nvSpPr>
        <p:spPr>
          <a:xfrm>
            <a:off x="604647" y="259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Customer: a penalty the booking policy allows is a cost, not a failure. A delayed refund is money tied up, not lost. A wrong or wrongly denied refund is a loss.</a:t>
            </a:r>
            <a:endParaRPr b="0" i="0" sz="1400" u="none" cap="none" strike="noStrike">
              <a:solidFill>
                <a:srgbClr val="000000"/>
              </a:solidFill>
              <a:latin typeface="Arial"/>
              <a:ea typeface="Arial"/>
              <a:cs typeface="Arial"/>
              <a:sym typeface="Arial"/>
            </a:endParaRPr>
          </a:p>
        </p:txBody>
      </p:sp>
      <p:sp>
        <p:nvSpPr>
          <p:cNvPr id="106" name="Google Shape;106;p16"/>
          <p:cNvSpPr/>
          <p:nvPr/>
        </p:nvSpPr>
        <p:spPr>
          <a:xfrm>
            <a:off x="604647" y="303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India evidence: the National Consumer Helpline recovered over Rs 10 crore in Travel &amp; Tourism refunds, 25 Apr 2025-31 Jul 2026 [1]. This is money recovered through grievances, not total customer loss, and it covers all travel, not only hotels.</a:t>
            </a:r>
            <a:endParaRPr b="0" i="0" sz="1400" u="none" cap="none" strike="noStrike">
              <a:solidFill>
                <a:srgbClr val="000000"/>
              </a:solidFill>
              <a:latin typeface="Arial"/>
              <a:ea typeface="Arial"/>
              <a:cs typeface="Arial"/>
              <a:sym typeface="Arial"/>
            </a:endParaRPr>
          </a:p>
        </p:txBody>
      </p:sp>
      <p:sp>
        <p:nvSpPr>
          <p:cNvPr id="107" name="Google Shape;107;p16"/>
          <p:cNvSpPr/>
          <p:nvPr/>
        </p:nvSpPr>
        <p:spPr>
          <a:xfrm>
            <a:off x="604647" y="347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Hotel: a room-night is perishable. Once the night passes, an unsold room's revenue is gone [2], so late cancellations leave less time to resell the room. Resale or penalties can offset the loss. We make rules, amounts and outcomes clearer; we claim no effect on occupancy.</a:t>
            </a:r>
            <a:endParaRPr b="0" i="0" sz="1400" u="none" cap="none" strike="noStrike">
              <a:solidFill>
                <a:srgbClr val="000000"/>
              </a:solidFill>
              <a:latin typeface="Arial"/>
              <a:ea typeface="Arial"/>
              <a:cs typeface="Arial"/>
              <a:sym typeface="Arial"/>
            </a:endParaRPr>
          </a:p>
        </p:txBody>
      </p:sp>
      <p:sp>
        <p:nvSpPr>
          <p:cNvPr id="108" name="Google Shape;108;p16"/>
          <p:cNvSpPr/>
          <p:nvPr/>
        </p:nvSpPr>
        <p:spPr>
          <a:xfrm>
            <a:off x="604647" y="3970000"/>
            <a:ext cx="8000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SOURCES</a:t>
            </a:r>
            <a:endParaRPr b="0" i="0" sz="1400" u="none" cap="none" strike="noStrike">
              <a:solidFill>
                <a:srgbClr val="000000"/>
              </a:solidFill>
              <a:latin typeface="Arial"/>
              <a:ea typeface="Arial"/>
              <a:cs typeface="Arial"/>
              <a:sym typeface="Arial"/>
            </a:endParaRPr>
          </a:p>
        </p:txBody>
      </p:sp>
      <p:sp>
        <p:nvSpPr>
          <p:cNvPr id="109" name="Google Shape;109;p16"/>
          <p:cNvSpPr/>
          <p:nvPr/>
        </p:nvSpPr>
        <p:spPr>
          <a:xfrm>
            <a:off x="609600" y="4192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110" name="Google Shape;110;p16"/>
          <p:cNvSpPr/>
          <p:nvPr/>
        </p:nvSpPr>
        <p:spPr>
          <a:xfrm>
            <a:off x="604647" y="4270000"/>
            <a:ext cx="10900000" cy="390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[1] Press Information Bureau (PIB), "National Consumer Helpline facilitates refunds of over Rs 105 crore to consumers in 15 months", 9 Sep 2026. https://www.pib.gov.in/PressReleasePage.aspx?PRID=2308386&amp;lang=1&amp;reg=3</a:t>
            </a:r>
            <a:endParaRPr b="0" i="0" sz="1400" u="none" cap="none" strike="noStrike">
              <a:solidFill>
                <a:srgbClr val="000000"/>
              </a:solidFill>
              <a:latin typeface="Arial"/>
              <a:ea typeface="Arial"/>
              <a:cs typeface="Arial"/>
              <a:sym typeface="Arial"/>
            </a:endParaRPr>
          </a:p>
        </p:txBody>
      </p:sp>
      <p:sp>
        <p:nvSpPr>
          <p:cNvPr id="111" name="Google Shape;111;p16"/>
          <p:cNvSpPr/>
          <p:nvPr/>
        </p:nvSpPr>
        <p:spPr>
          <a:xfrm>
            <a:off x="604647" y="4710000"/>
            <a:ext cx="10900000" cy="205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[2] Peaqplus, "What is Perishable Inventory in Hotels?" (vendor definition). https://peaqplus.com/learn-perishable-inventory.html</a:t>
            </a:r>
            <a:endParaRPr b="0" i="0" sz="1400" u="none" cap="none" strike="noStrike">
              <a:solidFill>
                <a:srgbClr val="000000"/>
              </a:solidFill>
              <a:latin typeface="Arial"/>
              <a:ea typeface="Arial"/>
              <a:cs typeface="Arial"/>
              <a:sym typeface="Arial"/>
            </a:endParaRPr>
          </a:p>
        </p:txBody>
      </p:sp>
      <p:sp>
        <p:nvSpPr>
          <p:cNvPr id="112" name="Google Shape;112;p16"/>
          <p:cNvSpPr/>
          <p:nvPr/>
        </p:nvSpPr>
        <p:spPr>
          <a:xfrm>
            <a:off x="604647" y="4965000"/>
            <a:ext cx="10900000" cy="20500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F2A26"/>
                </a:solidFill>
                <a:latin typeface="Quattrocento Sans"/>
                <a:ea typeface="Quattrocento Sans"/>
                <a:cs typeface="Quattrocento Sans"/>
                <a:sym typeface="Quattrocento Sans"/>
              </a:rPr>
              <a:t>[3] Agoda Demand API documentation, "Cancel bookings". https://developer.agoda.com/demand/docs/cancel-bookings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116" name="Shape 116"/>
        <p:cNvGrpSpPr/>
        <p:nvPr/>
      </p:nvGrpSpPr>
      <p:grpSpPr>
        <a:xfrm>
          <a:off x="0" y="0"/>
          <a:ext cx="0" cy="0"/>
          <a:chOff x="0" y="0"/>
          <a:chExt cx="0" cy="0"/>
        </a:xfrm>
      </p:grpSpPr>
      <p:grpSp>
        <p:nvGrpSpPr>
          <p:cNvPr id="117" name="Google Shape;117;p12"/>
          <p:cNvGrpSpPr/>
          <p:nvPr/>
        </p:nvGrpSpPr>
        <p:grpSpPr>
          <a:xfrm>
            <a:off x="598170" y="133350"/>
            <a:ext cx="10984230" cy="745141"/>
            <a:chOff x="598170" y="133350"/>
            <a:chExt cx="10984230" cy="745141"/>
          </a:xfrm>
        </p:grpSpPr>
        <p:sp>
          <p:nvSpPr>
            <p:cNvPr id="118" name="Google Shape;118;p12"/>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119" name="Google Shape;119;p12"/>
            <p:cNvSpPr/>
            <p:nvPr/>
          </p:nvSpPr>
          <p:spPr>
            <a:xfrm>
              <a:off x="604838" y="209550"/>
              <a:ext cx="2491550" cy="17602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PRODUCT NOTE · 2 OF 2</a:t>
              </a:r>
              <a:endParaRPr b="0" i="0" sz="1400" u="none" cap="none" strike="noStrike">
                <a:solidFill>
                  <a:srgbClr val="000000"/>
                </a:solidFill>
                <a:latin typeface="Arial"/>
                <a:ea typeface="Arial"/>
                <a:cs typeface="Arial"/>
                <a:sym typeface="Arial"/>
              </a:endParaRPr>
            </a:p>
          </p:txBody>
        </p:sp>
        <p:sp>
          <p:nvSpPr>
            <p:cNvPr id="120" name="Google Shape;120;p12"/>
            <p:cNvSpPr/>
            <p:nvPr/>
          </p:nvSpPr>
          <p:spPr>
            <a:xfrm>
              <a:off x="598170" y="323850"/>
              <a:ext cx="70485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Product Note - how we answer it</a:t>
              </a:r>
              <a:endParaRPr b="0" i="0" sz="1400" u="none" cap="none" strike="noStrike">
                <a:solidFill>
                  <a:srgbClr val="000000"/>
                </a:solidFill>
                <a:latin typeface="Arial"/>
                <a:ea typeface="Arial"/>
                <a:cs typeface="Arial"/>
                <a:sym typeface="Arial"/>
              </a:endParaRPr>
            </a:p>
          </p:txBody>
        </p:sp>
        <p:sp>
          <p:nvSpPr>
            <p:cNvPr id="121" name="Google Shape;121;p12"/>
            <p:cNvSpPr/>
            <p:nvPr/>
          </p:nvSpPr>
          <p:spPr>
            <a:xfrm>
              <a:off x="604266" y="673132"/>
              <a:ext cx="4381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Objectives, approach, proof, and what is still unknown.</a:t>
              </a:r>
              <a:endParaRPr b="0" i="0" sz="1400" u="none" cap="none" strike="noStrike">
                <a:solidFill>
                  <a:srgbClr val="000000"/>
                </a:solidFill>
                <a:latin typeface="Arial"/>
                <a:ea typeface="Arial"/>
                <a:cs typeface="Arial"/>
                <a:sym typeface="Arial"/>
              </a:endParaRPr>
            </a:p>
          </p:txBody>
        </p:sp>
      </p:grpSp>
      <p:grpSp>
        <p:nvGrpSpPr>
          <p:cNvPr id="122" name="Google Shape;122;p12"/>
          <p:cNvGrpSpPr/>
          <p:nvPr/>
        </p:nvGrpSpPr>
        <p:grpSpPr>
          <a:xfrm>
            <a:off x="604647" y="996982"/>
            <a:ext cx="7243953" cy="2167509"/>
            <a:chOff x="604647" y="996982"/>
            <a:chExt cx="7243953" cy="2167509"/>
          </a:xfrm>
        </p:grpSpPr>
        <p:sp>
          <p:nvSpPr>
            <p:cNvPr id="123" name="Google Shape;123;p12"/>
            <p:cNvSpPr/>
            <p:nvPr/>
          </p:nvSpPr>
          <p:spPr>
            <a:xfrm>
              <a:off x="604647" y="996982"/>
              <a:ext cx="346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OBJECTIVES - WHAT GOOD LOOKS LIKE</a:t>
              </a:r>
              <a:endParaRPr b="0" i="0" sz="1400" u="none" cap="none" strike="noStrike">
                <a:solidFill>
                  <a:srgbClr val="000000"/>
                </a:solidFill>
                <a:latin typeface="Arial"/>
                <a:ea typeface="Arial"/>
                <a:cs typeface="Arial"/>
                <a:sym typeface="Arial"/>
              </a:endParaRPr>
            </a:p>
          </p:txBody>
        </p:sp>
        <p:sp>
          <p:nvSpPr>
            <p:cNvPr id="124" name="Google Shape;124;p12"/>
            <p:cNvSpPr/>
            <p:nvPr/>
          </p:nvSpPr>
          <p:spPr>
            <a:xfrm>
              <a:off x="609600" y="1219200"/>
              <a:ext cx="7239000" cy="9525"/>
            </a:xfrm>
            <a:custGeom>
              <a:rect b="b" l="l" r="r" t="t"/>
              <a:pathLst>
                <a:path extrusionOk="0" h="9525" w="7239000">
                  <a:moveTo>
                    <a:pt x="0" y="0"/>
                  </a:moveTo>
                  <a:lnTo>
                    <a:pt x="7239000" y="0"/>
                  </a:lnTo>
                </a:path>
              </a:pathLst>
            </a:custGeom>
            <a:solidFill>
              <a:srgbClr val="000000"/>
            </a:solidFill>
            <a:ln cap="flat" cmpd="sng" w="9525">
              <a:solidFill>
                <a:srgbClr val="D8CFBC"/>
              </a:solidFill>
              <a:prstDash val="solid"/>
              <a:round/>
              <a:headEnd len="sm" w="sm" type="none"/>
              <a:tailEnd len="sm" w="sm" type="none"/>
            </a:ln>
          </p:spPr>
        </p:sp>
        <p:sp>
          <p:nvSpPr>
            <p:cNvPr id="125" name="Google Shape;125;p12"/>
            <p:cNvSpPr/>
            <p:nvPr/>
          </p:nvSpPr>
          <p:spPr>
            <a:xfrm>
              <a:off x="609600" y="1333500"/>
              <a:ext cx="2381250" cy="180975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12"/>
            <p:cNvSpPr/>
            <p:nvPr/>
          </p:nvSpPr>
          <p:spPr>
            <a:xfrm>
              <a:off x="862584" y="1587532"/>
              <a:ext cx="268224" cy="5280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B45309"/>
                  </a:solidFill>
                  <a:latin typeface="Garamond"/>
                  <a:ea typeface="Garamond"/>
                  <a:cs typeface="Garamond"/>
                  <a:sym typeface="Garamond"/>
                </a:rPr>
                <a:t>1</a:t>
              </a:r>
              <a:endParaRPr b="0" i="0" sz="1400" u="none" cap="none" strike="noStrike">
                <a:solidFill>
                  <a:srgbClr val="000000"/>
                </a:solidFill>
                <a:latin typeface="Arial"/>
                <a:ea typeface="Arial"/>
                <a:cs typeface="Arial"/>
                <a:sym typeface="Arial"/>
              </a:endParaRPr>
            </a:p>
          </p:txBody>
        </p:sp>
        <p:sp>
          <p:nvSpPr>
            <p:cNvPr id="127" name="Google Shape;127;p12"/>
            <p:cNvSpPr/>
            <p:nvPr/>
          </p:nvSpPr>
          <p:spPr>
            <a:xfrm>
              <a:off x="869442" y="2045970"/>
              <a:ext cx="1905000" cy="2346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B3D36"/>
                  </a:solidFill>
                  <a:latin typeface="Quattrocento Sans"/>
                  <a:ea typeface="Quattrocento Sans"/>
                  <a:cs typeface="Quattrocento Sans"/>
                  <a:sym typeface="Quattrocento Sans"/>
                </a:rPr>
                <a:t>Latest terms first</a:t>
              </a:r>
              <a:endParaRPr b="0" i="0" sz="1400" u="none" cap="none" strike="noStrike">
                <a:solidFill>
                  <a:srgbClr val="000000"/>
                </a:solidFill>
                <a:latin typeface="Arial"/>
                <a:ea typeface="Arial"/>
                <a:cs typeface="Arial"/>
                <a:sym typeface="Arial"/>
              </a:endParaRPr>
            </a:p>
          </p:txBody>
        </p:sp>
        <p:sp>
          <p:nvSpPr>
            <p:cNvPr id="128" name="Google Shape;128;p12"/>
            <p:cNvSpPr/>
            <p:nvPr/>
          </p:nvSpPr>
          <p:spPr>
            <a:xfrm>
              <a:off x="870394" y="2273332"/>
              <a:ext cx="1714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See the latest refund</a:t>
              </a:r>
              <a:endParaRPr b="0" i="0" sz="1400" u="none" cap="none" strike="noStrike">
                <a:solidFill>
                  <a:srgbClr val="000000"/>
                </a:solidFill>
                <a:latin typeface="Arial"/>
                <a:ea typeface="Arial"/>
                <a:cs typeface="Arial"/>
                <a:sym typeface="Arial"/>
              </a:endParaRPr>
            </a:p>
          </p:txBody>
        </p:sp>
        <p:sp>
          <p:nvSpPr>
            <p:cNvPr id="129" name="Google Shape;129;p12"/>
            <p:cNvSpPr/>
            <p:nvPr/>
          </p:nvSpPr>
          <p:spPr>
            <a:xfrm>
              <a:off x="870394" y="2501932"/>
              <a:ext cx="1714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estimate before you</a:t>
              </a:r>
              <a:endParaRPr b="0" i="0" sz="1400" u="none" cap="none" strike="noStrike">
                <a:solidFill>
                  <a:srgbClr val="000000"/>
                </a:solidFill>
                <a:latin typeface="Arial"/>
                <a:ea typeface="Arial"/>
                <a:cs typeface="Arial"/>
                <a:sym typeface="Arial"/>
              </a:endParaRPr>
            </a:p>
          </p:txBody>
        </p:sp>
        <p:sp>
          <p:nvSpPr>
            <p:cNvPr id="130" name="Google Shape;130;p12"/>
            <p:cNvSpPr/>
            <p:nvPr/>
          </p:nvSpPr>
          <p:spPr>
            <a:xfrm>
              <a:off x="870394" y="2730532"/>
              <a:ext cx="1714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confirm; if it moves,</a:t>
              </a:r>
              <a:endParaRPr b="0" i="0" sz="1400" u="none" cap="none" strike="noStrike">
                <a:solidFill>
                  <a:srgbClr val="000000"/>
                </a:solidFill>
                <a:latin typeface="Arial"/>
                <a:ea typeface="Arial"/>
                <a:cs typeface="Arial"/>
                <a:sym typeface="Arial"/>
              </a:endParaRPr>
            </a:p>
          </p:txBody>
        </p:sp>
        <p:sp>
          <p:nvSpPr>
            <p:cNvPr id="131" name="Google Shape;131;p12"/>
            <p:cNvSpPr/>
            <p:nvPr/>
          </p:nvSpPr>
          <p:spPr>
            <a:xfrm>
              <a:off x="870394" y="2959132"/>
              <a:ext cx="1333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we ask again.</a:t>
              </a:r>
              <a:endParaRPr b="0" i="0" sz="1400" u="none" cap="none" strike="noStrike">
                <a:solidFill>
                  <a:srgbClr val="000000"/>
                </a:solidFill>
                <a:latin typeface="Arial"/>
                <a:ea typeface="Arial"/>
                <a:cs typeface="Arial"/>
                <a:sym typeface="Arial"/>
              </a:endParaRPr>
            </a:p>
          </p:txBody>
        </p:sp>
        <p:sp>
          <p:nvSpPr>
            <p:cNvPr id="132" name="Google Shape;132;p12"/>
            <p:cNvSpPr/>
            <p:nvPr/>
          </p:nvSpPr>
          <p:spPr>
            <a:xfrm>
              <a:off x="3038475" y="1333500"/>
              <a:ext cx="2381250" cy="180975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p12"/>
            <p:cNvSpPr/>
            <p:nvPr/>
          </p:nvSpPr>
          <p:spPr>
            <a:xfrm>
              <a:off x="3291459" y="1587532"/>
              <a:ext cx="268224" cy="5280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B45309"/>
                  </a:solidFill>
                  <a:latin typeface="Garamond"/>
                  <a:ea typeface="Garamond"/>
                  <a:cs typeface="Garamond"/>
                  <a:sym typeface="Garamond"/>
                </a:rPr>
                <a:t>2</a:t>
              </a:r>
              <a:endParaRPr b="0" i="0" sz="1400" u="none" cap="none" strike="noStrike">
                <a:solidFill>
                  <a:srgbClr val="000000"/>
                </a:solidFill>
                <a:latin typeface="Arial"/>
                <a:ea typeface="Arial"/>
                <a:cs typeface="Arial"/>
                <a:sym typeface="Arial"/>
              </a:endParaRPr>
            </a:p>
          </p:txBody>
        </p:sp>
        <p:sp>
          <p:nvSpPr>
            <p:cNvPr id="134" name="Google Shape;134;p12"/>
            <p:cNvSpPr/>
            <p:nvPr/>
          </p:nvSpPr>
          <p:spPr>
            <a:xfrm>
              <a:off x="3298317" y="2045970"/>
              <a:ext cx="1809750" cy="2346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B3D36"/>
                  </a:solidFill>
                  <a:latin typeface="Quattrocento Sans"/>
                  <a:ea typeface="Quattrocento Sans"/>
                  <a:cs typeface="Quattrocento Sans"/>
                  <a:sym typeface="Quattrocento Sans"/>
                </a:rPr>
                <a:t>No fake certainty</a:t>
              </a:r>
              <a:endParaRPr b="0" i="0" sz="1400" u="none" cap="none" strike="noStrike">
                <a:solidFill>
                  <a:srgbClr val="000000"/>
                </a:solidFill>
                <a:latin typeface="Arial"/>
                <a:ea typeface="Arial"/>
                <a:cs typeface="Arial"/>
                <a:sym typeface="Arial"/>
              </a:endParaRPr>
            </a:p>
          </p:txBody>
        </p:sp>
        <p:sp>
          <p:nvSpPr>
            <p:cNvPr id="135" name="Google Shape;135;p12"/>
            <p:cNvSpPr/>
            <p:nvPr/>
          </p:nvSpPr>
          <p:spPr>
            <a:xfrm>
              <a:off x="3299270" y="2273332"/>
              <a:ext cx="180975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An uncertain outcome is</a:t>
              </a:r>
              <a:endParaRPr b="0" i="0" sz="1400" u="none" cap="none" strike="noStrike">
                <a:solidFill>
                  <a:srgbClr val="000000"/>
                </a:solidFill>
                <a:latin typeface="Arial"/>
                <a:ea typeface="Arial"/>
                <a:cs typeface="Arial"/>
                <a:sym typeface="Arial"/>
              </a:endParaRPr>
            </a:p>
          </p:txBody>
        </p:sp>
        <p:sp>
          <p:nvSpPr>
            <p:cNvPr id="136" name="Google Shape;136;p12"/>
            <p:cNvSpPr/>
            <p:nvPr/>
          </p:nvSpPr>
          <p:spPr>
            <a:xfrm>
              <a:off x="3299270" y="2501932"/>
              <a:ext cx="161925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never shown as a</a:t>
              </a:r>
              <a:endParaRPr b="0" i="0" sz="1400" u="none" cap="none" strike="noStrike">
                <a:solidFill>
                  <a:srgbClr val="000000"/>
                </a:solidFill>
                <a:latin typeface="Arial"/>
                <a:ea typeface="Arial"/>
                <a:cs typeface="Arial"/>
                <a:sym typeface="Arial"/>
              </a:endParaRPr>
            </a:p>
          </p:txBody>
        </p:sp>
        <p:sp>
          <p:nvSpPr>
            <p:cNvPr id="137" name="Google Shape;137;p12"/>
            <p:cNvSpPr/>
            <p:nvPr/>
          </p:nvSpPr>
          <p:spPr>
            <a:xfrm>
              <a:off x="3299270" y="2730532"/>
              <a:ext cx="11430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success.</a:t>
              </a:r>
              <a:endParaRPr b="0" i="0" sz="1400" u="none" cap="none" strike="noStrike">
                <a:solidFill>
                  <a:srgbClr val="000000"/>
                </a:solidFill>
                <a:latin typeface="Arial"/>
                <a:ea typeface="Arial"/>
                <a:cs typeface="Arial"/>
                <a:sym typeface="Arial"/>
              </a:endParaRPr>
            </a:p>
          </p:txBody>
        </p:sp>
        <p:sp>
          <p:nvSpPr>
            <p:cNvPr id="138" name="Google Shape;138;p12"/>
            <p:cNvSpPr/>
            <p:nvPr/>
          </p:nvSpPr>
          <p:spPr>
            <a:xfrm>
              <a:off x="5467350" y="1333500"/>
              <a:ext cx="2381250" cy="180975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2"/>
            <p:cNvSpPr/>
            <p:nvPr/>
          </p:nvSpPr>
          <p:spPr>
            <a:xfrm>
              <a:off x="5720334" y="1587532"/>
              <a:ext cx="268224" cy="5280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0" i="0" lang="en" sz="2700" u="none" cap="none" strike="noStrike">
                  <a:solidFill>
                    <a:srgbClr val="B45309"/>
                  </a:solidFill>
                  <a:latin typeface="Garamond"/>
                  <a:ea typeface="Garamond"/>
                  <a:cs typeface="Garamond"/>
                  <a:sym typeface="Garamond"/>
                </a:rPr>
                <a:t>3</a:t>
              </a:r>
              <a:endParaRPr b="0" i="0" sz="1400" u="none" cap="none" strike="noStrike">
                <a:solidFill>
                  <a:srgbClr val="000000"/>
                </a:solidFill>
                <a:latin typeface="Arial"/>
                <a:ea typeface="Arial"/>
                <a:cs typeface="Arial"/>
                <a:sym typeface="Arial"/>
              </a:endParaRPr>
            </a:p>
          </p:txBody>
        </p:sp>
        <p:sp>
          <p:nvSpPr>
            <p:cNvPr id="140" name="Google Shape;140;p12"/>
            <p:cNvSpPr/>
            <p:nvPr/>
          </p:nvSpPr>
          <p:spPr>
            <a:xfrm>
              <a:off x="5727192" y="2045970"/>
              <a:ext cx="2000250" cy="23469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0B3D36"/>
                  </a:solidFill>
                  <a:latin typeface="Quattrocento Sans"/>
                  <a:ea typeface="Quattrocento Sans"/>
                  <a:cs typeface="Quattrocento Sans"/>
                  <a:sym typeface="Quattrocento Sans"/>
                </a:rPr>
                <a:t>Context into support</a:t>
              </a:r>
              <a:endParaRPr b="0" i="0" sz="1400" u="none" cap="none" strike="noStrike">
                <a:solidFill>
                  <a:srgbClr val="000000"/>
                </a:solidFill>
                <a:latin typeface="Arial"/>
                <a:ea typeface="Arial"/>
                <a:cs typeface="Arial"/>
                <a:sym typeface="Arial"/>
              </a:endParaRPr>
            </a:p>
          </p:txBody>
        </p:sp>
        <p:sp>
          <p:nvSpPr>
            <p:cNvPr id="141" name="Google Shape;141;p12"/>
            <p:cNvSpPr/>
            <p:nvPr/>
          </p:nvSpPr>
          <p:spPr>
            <a:xfrm>
              <a:off x="5728144" y="2273332"/>
              <a:ext cx="17145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Support picks up where</a:t>
              </a:r>
              <a:endParaRPr b="0" i="0" sz="1400" u="none" cap="none" strike="noStrike">
                <a:solidFill>
                  <a:srgbClr val="000000"/>
                </a:solidFill>
                <a:latin typeface="Arial"/>
                <a:ea typeface="Arial"/>
                <a:cs typeface="Arial"/>
                <a:sym typeface="Arial"/>
              </a:endParaRPr>
            </a:p>
          </p:txBody>
        </p:sp>
        <p:sp>
          <p:nvSpPr>
            <p:cNvPr id="142" name="Google Shape;142;p12"/>
            <p:cNvSpPr/>
            <p:nvPr/>
          </p:nvSpPr>
          <p:spPr>
            <a:xfrm>
              <a:off x="5728144" y="2501932"/>
              <a:ext cx="180975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the customer left off -</a:t>
              </a:r>
              <a:endParaRPr b="0" i="0" sz="1400" u="none" cap="none" strike="noStrike">
                <a:solidFill>
                  <a:srgbClr val="000000"/>
                </a:solidFill>
                <a:latin typeface="Arial"/>
                <a:ea typeface="Arial"/>
                <a:cs typeface="Arial"/>
                <a:sym typeface="Arial"/>
              </a:endParaRPr>
            </a:p>
          </p:txBody>
        </p:sp>
        <p:sp>
          <p:nvSpPr>
            <p:cNvPr id="143" name="Google Shape;143;p12"/>
            <p:cNvSpPr/>
            <p:nvPr/>
          </p:nvSpPr>
          <p:spPr>
            <a:xfrm>
              <a:off x="5728144" y="2730532"/>
              <a:ext cx="142875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no starting over.</a:t>
              </a:r>
              <a:endParaRPr b="0" i="0" sz="1400" u="none" cap="none" strike="noStrike">
                <a:solidFill>
                  <a:srgbClr val="000000"/>
                </a:solidFill>
                <a:latin typeface="Arial"/>
                <a:ea typeface="Arial"/>
                <a:cs typeface="Arial"/>
                <a:sym typeface="Arial"/>
              </a:endParaRPr>
            </a:p>
          </p:txBody>
        </p:sp>
      </p:grpSp>
      <p:grpSp>
        <p:nvGrpSpPr>
          <p:cNvPr id="144" name="Google Shape;144;p12"/>
          <p:cNvGrpSpPr/>
          <p:nvPr/>
        </p:nvGrpSpPr>
        <p:grpSpPr>
          <a:xfrm>
            <a:off x="602742" y="3302032"/>
            <a:ext cx="7245858" cy="1757172"/>
            <a:chOff x="602742" y="3302032"/>
            <a:chExt cx="7245858" cy="1757172"/>
          </a:xfrm>
        </p:grpSpPr>
        <p:sp>
          <p:nvSpPr>
            <p:cNvPr id="145" name="Google Shape;145;p12"/>
            <p:cNvSpPr/>
            <p:nvPr/>
          </p:nvSpPr>
          <p:spPr>
            <a:xfrm>
              <a:off x="604647" y="3302032"/>
              <a:ext cx="220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HOW WE ARE SOLVING IT</a:t>
              </a:r>
              <a:endParaRPr b="0" i="0" sz="1400" u="none" cap="none" strike="noStrike">
                <a:solidFill>
                  <a:srgbClr val="000000"/>
                </a:solidFill>
                <a:latin typeface="Arial"/>
                <a:ea typeface="Arial"/>
                <a:cs typeface="Arial"/>
                <a:sym typeface="Arial"/>
              </a:endParaRPr>
            </a:p>
          </p:txBody>
        </p:sp>
        <p:sp>
          <p:nvSpPr>
            <p:cNvPr id="146" name="Google Shape;146;p12"/>
            <p:cNvSpPr/>
            <p:nvPr/>
          </p:nvSpPr>
          <p:spPr>
            <a:xfrm>
              <a:off x="609600" y="3524250"/>
              <a:ext cx="7239000" cy="9525"/>
            </a:xfrm>
            <a:custGeom>
              <a:rect b="b" l="l" r="r" t="t"/>
              <a:pathLst>
                <a:path extrusionOk="0" h="9525" w="7239000">
                  <a:moveTo>
                    <a:pt x="0" y="0"/>
                  </a:moveTo>
                  <a:lnTo>
                    <a:pt x="7239000" y="0"/>
                  </a:lnTo>
                </a:path>
              </a:pathLst>
            </a:custGeom>
            <a:solidFill>
              <a:srgbClr val="000000"/>
            </a:solidFill>
            <a:ln cap="flat" cmpd="sng" w="9525">
              <a:solidFill>
                <a:srgbClr val="D8CFBC"/>
              </a:solidFill>
              <a:prstDash val="solid"/>
              <a:round/>
              <a:headEnd len="sm" w="sm" type="none"/>
              <a:tailEnd len="sm" w="sm" type="none"/>
            </a:ln>
          </p:spPr>
        </p:sp>
        <p:sp>
          <p:nvSpPr>
            <p:cNvPr id="147" name="Google Shape;147;p12"/>
            <p:cNvSpPr/>
            <p:nvPr/>
          </p:nvSpPr>
          <p:spPr>
            <a:xfrm>
              <a:off x="602742" y="3575018"/>
              <a:ext cx="66675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Two-step cancel on Agoda's APIs: Preview shows the refund and policy; Confirm</a:t>
              </a:r>
              <a:endParaRPr b="0" i="0" sz="1400" u="none" cap="none" strike="noStrike">
                <a:solidFill>
                  <a:srgbClr val="000000"/>
                </a:solidFill>
                <a:latin typeface="Arial"/>
                <a:ea typeface="Arial"/>
                <a:cs typeface="Arial"/>
                <a:sym typeface="Arial"/>
              </a:endParaRPr>
            </a:p>
          </p:txBody>
        </p:sp>
        <p:sp>
          <p:nvSpPr>
            <p:cNvPr id="148" name="Google Shape;148;p12"/>
            <p:cNvSpPr/>
            <p:nvPr/>
          </p:nvSpPr>
          <p:spPr>
            <a:xfrm>
              <a:off x="602742" y="3784568"/>
              <a:ext cx="66675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sends the same reference and amount with a reason. Amount moved (error 914):</a:t>
              </a:r>
              <a:endParaRPr b="0" i="0" sz="1400" u="none" cap="none" strike="noStrike">
                <a:solidFill>
                  <a:srgbClr val="000000"/>
                </a:solidFill>
                <a:latin typeface="Arial"/>
                <a:ea typeface="Arial"/>
                <a:cs typeface="Arial"/>
                <a:sym typeface="Arial"/>
              </a:endParaRPr>
            </a:p>
          </p:txBody>
        </p:sp>
        <p:sp>
          <p:nvSpPr>
            <p:cNvPr id="149" name="Google Shape;149;p12"/>
            <p:cNvSpPr/>
            <p:nvPr/>
          </p:nvSpPr>
          <p:spPr>
            <a:xfrm>
              <a:off x="602742" y="3994118"/>
              <a:ext cx="657225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re-preview, show old and new, take fresh consent. Timeout: no blind retry -</a:t>
              </a:r>
              <a:endParaRPr b="0" i="0" sz="1400" u="none" cap="none" strike="noStrike">
                <a:solidFill>
                  <a:srgbClr val="000000"/>
                </a:solidFill>
                <a:latin typeface="Arial"/>
                <a:ea typeface="Arial"/>
                <a:cs typeface="Arial"/>
                <a:sym typeface="Arial"/>
              </a:endParaRPr>
            </a:p>
          </p:txBody>
        </p:sp>
        <p:sp>
          <p:nvSpPr>
            <p:cNvPr id="150" name="Google Shape;150;p12"/>
            <p:cNvSpPr/>
            <p:nvPr/>
          </p:nvSpPr>
          <p:spPr>
            <a:xfrm>
              <a:off x="602742" y="4203668"/>
              <a:ext cx="638175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recheck status, then resolve, retry, or escalate. Support is internal and</a:t>
              </a:r>
              <a:endParaRPr b="0" i="0" sz="1400" u="none" cap="none" strike="noStrike">
                <a:solidFill>
                  <a:srgbClr val="000000"/>
                </a:solidFill>
                <a:latin typeface="Arial"/>
                <a:ea typeface="Arial"/>
                <a:cs typeface="Arial"/>
                <a:sym typeface="Arial"/>
              </a:endParaRPr>
            </a:p>
          </p:txBody>
        </p:sp>
        <p:sp>
          <p:nvSpPr>
            <p:cNvPr id="151" name="Google Shape;151;p12"/>
            <p:cNvSpPr/>
            <p:nvPr/>
          </p:nvSpPr>
          <p:spPr>
            <a:xfrm>
              <a:off x="602742" y="4413218"/>
              <a:ext cx="53340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carries the booking context. Scope: one existing booking only.</a:t>
              </a:r>
              <a:endParaRPr b="0" i="0" sz="1400" u="none" cap="none" strike="noStrike">
                <a:solidFill>
                  <a:srgbClr val="000000"/>
                </a:solidFill>
                <a:latin typeface="Arial"/>
                <a:ea typeface="Arial"/>
                <a:cs typeface="Arial"/>
                <a:sym typeface="Arial"/>
              </a:endParaRPr>
            </a:p>
          </p:txBody>
        </p:sp>
        <p:sp>
          <p:nvSpPr>
            <p:cNvPr id="152" name="Google Shape;152;p12"/>
            <p:cNvSpPr/>
            <p:nvPr/>
          </p:nvSpPr>
          <p:spPr>
            <a:xfrm>
              <a:off x="602742" y="4622768"/>
              <a:ext cx="695325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1" lang="en" sz="1160" u="none" cap="none" strike="noStrike">
                  <a:solidFill>
                    <a:srgbClr val="4A7C6F"/>
                  </a:solidFill>
                  <a:latin typeface="Quattrocento Sans"/>
                  <a:ea typeface="Quattrocento Sans"/>
                  <a:cs typeface="Quattrocento Sans"/>
                  <a:sym typeface="Quattrocento Sans"/>
                </a:rPr>
                <a:t>Trade-off accepted: extra checks over fewer taps - never friction to discourage</a:t>
              </a:r>
              <a:endParaRPr b="0" i="0" sz="1400" u="none" cap="none" strike="noStrike">
                <a:solidFill>
                  <a:srgbClr val="000000"/>
                </a:solidFill>
                <a:latin typeface="Arial"/>
                <a:ea typeface="Arial"/>
                <a:cs typeface="Arial"/>
                <a:sym typeface="Arial"/>
              </a:endParaRPr>
            </a:p>
          </p:txBody>
        </p:sp>
        <p:sp>
          <p:nvSpPr>
            <p:cNvPr id="153" name="Google Shape;153;p12"/>
            <p:cNvSpPr/>
            <p:nvPr/>
          </p:nvSpPr>
          <p:spPr>
            <a:xfrm>
              <a:off x="602742" y="4832318"/>
              <a:ext cx="133350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1" lang="en" sz="1160" u="none" cap="none" strike="noStrike">
                  <a:solidFill>
                    <a:srgbClr val="4A7C6F"/>
                  </a:solidFill>
                  <a:latin typeface="Quattrocento Sans"/>
                  <a:ea typeface="Quattrocento Sans"/>
                  <a:cs typeface="Quattrocento Sans"/>
                  <a:sym typeface="Quattrocento Sans"/>
                </a:rPr>
                <a:t>cancelling.</a:t>
              </a:r>
              <a:endParaRPr b="0" i="0" sz="1400" u="none" cap="none" strike="noStrike">
                <a:solidFill>
                  <a:srgbClr val="000000"/>
                </a:solidFill>
                <a:latin typeface="Arial"/>
                <a:ea typeface="Arial"/>
                <a:cs typeface="Arial"/>
                <a:sym typeface="Arial"/>
              </a:endParaRPr>
            </a:p>
          </p:txBody>
        </p:sp>
      </p:grpSp>
      <p:grpSp>
        <p:nvGrpSpPr>
          <p:cNvPr id="154" name="Google Shape;154;p12"/>
          <p:cNvGrpSpPr/>
          <p:nvPr/>
        </p:nvGrpSpPr>
        <p:grpSpPr>
          <a:xfrm>
            <a:off x="609600" y="5105400"/>
            <a:ext cx="10972800" cy="1428750"/>
            <a:chOff x="609600" y="5105400"/>
            <a:chExt cx="10972800" cy="1428750"/>
          </a:xfrm>
        </p:grpSpPr>
        <p:sp>
          <p:nvSpPr>
            <p:cNvPr id="155" name="Google Shape;155;p12"/>
            <p:cNvSpPr/>
            <p:nvPr/>
          </p:nvSpPr>
          <p:spPr>
            <a:xfrm>
              <a:off x="609600" y="5105400"/>
              <a:ext cx="5391150" cy="142875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12"/>
            <p:cNvSpPr/>
            <p:nvPr/>
          </p:nvSpPr>
          <p:spPr>
            <a:xfrm>
              <a:off x="871347" y="5226082"/>
              <a:ext cx="5145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2E7D32"/>
                  </a:solidFill>
                  <a:latin typeface="Quattrocento Sans"/>
                  <a:ea typeface="Quattrocento Sans"/>
                  <a:cs typeface="Quattrocento Sans"/>
                  <a:sym typeface="Quattrocento Sans"/>
                </a:rPr>
                <a:t>SUCCESS METRICS - TO MEASURE, NOT CLAIMED RESULTS</a:t>
              </a:r>
              <a:endParaRPr b="0" i="0" sz="1400" u="none" cap="none" strike="noStrike">
                <a:solidFill>
                  <a:srgbClr val="000000"/>
                </a:solidFill>
                <a:latin typeface="Arial"/>
                <a:ea typeface="Arial"/>
                <a:cs typeface="Arial"/>
                <a:sym typeface="Arial"/>
              </a:endParaRPr>
            </a:p>
          </p:txBody>
        </p:sp>
        <p:sp>
          <p:nvSpPr>
            <p:cNvPr id="157" name="Google Shape;157;p12"/>
            <p:cNvSpPr/>
            <p:nvPr/>
          </p:nvSpPr>
          <p:spPr>
            <a:xfrm>
              <a:off x="869442" y="5441918"/>
              <a:ext cx="381000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Refund disputes per 100 cancellations.</a:t>
              </a:r>
              <a:endParaRPr b="0" i="0" sz="1400" u="none" cap="none" strike="noStrike">
                <a:solidFill>
                  <a:srgbClr val="000000"/>
                </a:solidFill>
                <a:latin typeface="Arial"/>
                <a:ea typeface="Arial"/>
                <a:cs typeface="Arial"/>
                <a:sym typeface="Arial"/>
              </a:endParaRPr>
            </a:p>
          </p:txBody>
        </p:sp>
        <p:sp>
          <p:nvSpPr>
            <p:cNvPr id="158" name="Google Shape;158;p12"/>
            <p:cNvSpPr/>
            <p:nvPr/>
          </p:nvSpPr>
          <p:spPr>
            <a:xfrm>
              <a:off x="869442" y="5670518"/>
              <a:ext cx="400050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'What is my status' contacts per cancellation.</a:t>
              </a:r>
              <a:endParaRPr b="0" i="0" sz="1400" u="none" cap="none" strike="noStrike">
                <a:solidFill>
                  <a:srgbClr val="000000"/>
                </a:solidFill>
                <a:latin typeface="Arial"/>
                <a:ea typeface="Arial"/>
                <a:cs typeface="Arial"/>
                <a:sym typeface="Arial"/>
              </a:endParaRPr>
            </a:p>
          </p:txBody>
        </p:sp>
        <p:sp>
          <p:nvSpPr>
            <p:cNvPr id="159" name="Google Shape;159;p12"/>
            <p:cNvSpPr/>
            <p:nvPr/>
          </p:nvSpPr>
          <p:spPr>
            <a:xfrm>
              <a:off x="869442" y="5899118"/>
              <a:ext cx="447675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Repeat-booking rate among customers who cancelled.</a:t>
              </a:r>
              <a:endParaRPr b="0" i="0" sz="1400" u="none" cap="none" strike="noStrike">
                <a:solidFill>
                  <a:srgbClr val="000000"/>
                </a:solidFill>
                <a:latin typeface="Arial"/>
                <a:ea typeface="Arial"/>
                <a:cs typeface="Arial"/>
                <a:sym typeface="Arial"/>
              </a:endParaRPr>
            </a:p>
          </p:txBody>
        </p:sp>
        <p:sp>
          <p:nvSpPr>
            <p:cNvPr id="160" name="Google Shape;160;p12"/>
            <p:cNvSpPr/>
            <p:nvPr/>
          </p:nvSpPr>
          <p:spPr>
            <a:xfrm>
              <a:off x="869442" y="6127718"/>
              <a:ext cx="409575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Resolution time for cancellation support tickets.</a:t>
              </a:r>
              <a:endParaRPr b="0" i="0" sz="1400" u="none" cap="none" strike="noStrike">
                <a:solidFill>
                  <a:srgbClr val="000000"/>
                </a:solidFill>
                <a:latin typeface="Arial"/>
                <a:ea typeface="Arial"/>
                <a:cs typeface="Arial"/>
                <a:sym typeface="Arial"/>
              </a:endParaRPr>
            </a:p>
          </p:txBody>
        </p:sp>
        <p:sp>
          <p:nvSpPr>
            <p:cNvPr id="161" name="Google Shape;161;p12"/>
            <p:cNvSpPr/>
            <p:nvPr/>
          </p:nvSpPr>
          <p:spPr>
            <a:xfrm>
              <a:off x="6191250" y="5105400"/>
              <a:ext cx="5391150" cy="1428750"/>
            </a:xfrm>
            <a:prstGeom prst="roundRect">
              <a:avLst>
                <a:gd fmla="val 5556" name="adj"/>
              </a:avLst>
            </a:prstGeom>
            <a:solidFill>
              <a:srgbClr val="FBF9F2"/>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2"/>
            <p:cNvSpPr/>
            <p:nvPr/>
          </p:nvSpPr>
          <p:spPr>
            <a:xfrm>
              <a:off x="6452997" y="5226082"/>
              <a:ext cx="1470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OPEN QUESTIONS</a:t>
              </a:r>
              <a:endParaRPr b="0" i="0" sz="1400" u="none" cap="none" strike="noStrike">
                <a:solidFill>
                  <a:srgbClr val="000000"/>
                </a:solidFill>
                <a:latin typeface="Arial"/>
                <a:ea typeface="Arial"/>
                <a:cs typeface="Arial"/>
                <a:sym typeface="Arial"/>
              </a:endParaRPr>
            </a:p>
          </p:txBody>
        </p:sp>
        <p:sp>
          <p:nvSpPr>
            <p:cNvPr id="163" name="Google Shape;163;p12"/>
            <p:cNvSpPr/>
            <p:nvPr/>
          </p:nvSpPr>
          <p:spPr>
            <a:xfrm>
              <a:off x="6451092" y="5441918"/>
              <a:ext cx="438150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Refund payout timing and method: not specified in the</a:t>
              </a:r>
              <a:endParaRPr b="0" i="0" sz="1400" u="none" cap="none" strike="noStrike">
                <a:solidFill>
                  <a:srgbClr val="000000"/>
                </a:solidFill>
                <a:latin typeface="Arial"/>
                <a:ea typeface="Arial"/>
                <a:cs typeface="Arial"/>
                <a:sym typeface="Arial"/>
              </a:endParaRPr>
            </a:p>
          </p:txBody>
        </p:sp>
        <p:sp>
          <p:nvSpPr>
            <p:cNvPr id="164" name="Google Shape;164;p12"/>
            <p:cNvSpPr/>
            <p:nvPr/>
          </p:nvSpPr>
          <p:spPr>
            <a:xfrm>
              <a:off x="6451092" y="5651468"/>
              <a:ext cx="466725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  referenced docs; the receipt confirms cancellation only.</a:t>
              </a:r>
              <a:endParaRPr b="0" i="0" sz="1400" u="none" cap="none" strike="noStrike">
                <a:solidFill>
                  <a:srgbClr val="000000"/>
                </a:solidFill>
                <a:latin typeface="Arial"/>
                <a:ea typeface="Arial"/>
                <a:cs typeface="Arial"/>
                <a:sym typeface="Arial"/>
              </a:endParaRPr>
            </a:p>
          </p:txBody>
        </p:sp>
        <p:sp>
          <p:nvSpPr>
            <p:cNvPr id="165" name="Google Shape;165;p12"/>
            <p:cNvSpPr/>
            <p:nvPr/>
          </p:nvSpPr>
          <p:spPr>
            <a:xfrm>
              <a:off x="6451092" y="5861018"/>
              <a:ext cx="4572000" cy="226886"/>
            </a:xfrm>
            <a:prstGeom prst="rect">
              <a:avLst/>
            </a:prstGeom>
            <a:noFill/>
            <a:ln>
              <a:noFill/>
            </a:ln>
          </p:spPr>
          <p:txBody>
            <a:bodyPr anchorCtr="0" anchor="t" bIns="0" lIns="0" spcFirstLastPara="1" rIns="0" wrap="square" tIns="25">
              <a:noAutofit/>
            </a:bodyPr>
            <a:lstStyle/>
            <a:p>
              <a:pPr indent="-125222" lvl="0" marL="125222" marR="0" rtl="0" algn="l">
                <a:lnSpc>
                  <a:spcPct val="100000"/>
                </a:lnSpc>
                <a:spcBef>
                  <a:spcPts val="0"/>
                </a:spcBef>
                <a:spcAft>
                  <a:spcPts val="0"/>
                </a:spcAft>
                <a:buClr>
                  <a:srgbClr val="1F2A26"/>
                </a:buClr>
                <a:buSzPts val="1160"/>
                <a:buFont typeface="Arial"/>
                <a:buChar char="•"/>
              </a:pPr>
              <a:r>
                <a:rPr b="0" i="0" lang="en" sz="1160" u="none" cap="none" strike="noStrike">
                  <a:solidFill>
                    <a:srgbClr val="1F2A26"/>
                  </a:solidFill>
                  <a:latin typeface="Quattrocento Sans"/>
                  <a:ea typeface="Quattrocento Sans"/>
                  <a:cs typeface="Quattrocento Sans"/>
                  <a:sym typeface="Quattrocento Sans"/>
                </a:rPr>
                <a:t>Exact check-in cutoff, reference expiry: not specified.</a:t>
              </a:r>
              <a:endParaRPr b="0" i="0" sz="1400" u="none" cap="none" strike="noStrike">
                <a:solidFill>
                  <a:srgbClr val="000000"/>
                </a:solidFill>
                <a:latin typeface="Arial"/>
                <a:ea typeface="Arial"/>
                <a:cs typeface="Arial"/>
                <a:sym typeface="Arial"/>
              </a:endParaRPr>
            </a:p>
          </p:txBody>
        </p:sp>
        <p:sp>
          <p:nvSpPr>
            <p:cNvPr id="166" name="Google Shape;166;p12"/>
            <p:cNvSpPr/>
            <p:nvPr/>
          </p:nvSpPr>
          <p:spPr>
            <a:xfrm>
              <a:off x="6451092" y="6070568"/>
              <a:ext cx="4476750" cy="226886"/>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  Fee-waiver wait: docs allow polling up to 72 h -</a:t>
              </a:r>
              <a:endParaRPr b="0" i="0" sz="1400" u="none" cap="none" strike="noStrike">
                <a:solidFill>
                  <a:srgbClr val="000000"/>
                </a:solidFill>
                <a:latin typeface="Arial"/>
                <a:ea typeface="Arial"/>
                <a:cs typeface="Arial"/>
                <a:sym typeface="Arial"/>
              </a:endParaRPr>
            </a:p>
          </p:txBody>
        </p:sp>
        <p:sp>
          <p:nvSpPr>
            <p:cNvPr id="167" name="Google Shape;167;p12"/>
            <p:cNvSpPr/>
            <p:nvPr/>
          </p:nvSpPr>
          <p:spPr>
            <a:xfrm>
              <a:off x="6451092" y="6280118"/>
              <a:ext cx="3619500" cy="227362"/>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  when should we escalate to support?</a:t>
              </a:r>
              <a:endParaRPr b="0" i="0" sz="1400" u="none" cap="none" strike="noStrike">
                <a:solidFill>
                  <a:srgbClr val="000000"/>
                </a:solidFill>
                <a:latin typeface="Arial"/>
                <a:ea typeface="Arial"/>
                <a:cs typeface="Arial"/>
                <a:sym typeface="Arial"/>
              </a:endParaRPr>
            </a:p>
          </p:txBody>
        </p:sp>
      </p:grpSp>
      <p:grpSp>
        <p:nvGrpSpPr>
          <p:cNvPr id="168" name="Google Shape;168;p12"/>
          <p:cNvGrpSpPr/>
          <p:nvPr/>
        </p:nvGrpSpPr>
        <p:grpSpPr>
          <a:xfrm>
            <a:off x="8077200" y="996982"/>
            <a:ext cx="3505200" cy="3992308"/>
            <a:chOff x="8077200" y="996982"/>
            <a:chExt cx="3505200" cy="3992308"/>
          </a:xfrm>
        </p:grpSpPr>
        <p:sp>
          <p:nvSpPr>
            <p:cNvPr id="169" name="Google Shape;169;p12"/>
            <p:cNvSpPr/>
            <p:nvPr/>
          </p:nvSpPr>
          <p:spPr>
            <a:xfrm>
              <a:off x="8077200" y="996982"/>
              <a:ext cx="1260000" cy="19173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CONCEPT MOCK</a:t>
              </a:r>
              <a:endParaRPr b="0" i="0" sz="1400" u="none" cap="none" strike="noStrike">
                <a:solidFill>
                  <a:srgbClr val="000000"/>
                </a:solidFill>
                <a:latin typeface="Arial"/>
                <a:ea typeface="Arial"/>
                <a:cs typeface="Arial"/>
                <a:sym typeface="Arial"/>
              </a:endParaRPr>
            </a:p>
          </p:txBody>
        </p:sp>
        <p:sp>
          <p:nvSpPr>
            <p:cNvPr id="170" name="Google Shape;170;p12"/>
            <p:cNvSpPr/>
            <p:nvPr/>
          </p:nvSpPr>
          <p:spPr>
            <a:xfrm>
              <a:off x="8077200" y="1219200"/>
              <a:ext cx="3505200" cy="9525"/>
            </a:xfrm>
            <a:custGeom>
              <a:rect b="b" l="l" r="r" t="t"/>
              <a:pathLst>
                <a:path extrusionOk="0" h="9525" w="3505200">
                  <a:moveTo>
                    <a:pt x="0" y="0"/>
                  </a:moveTo>
                  <a:lnTo>
                    <a:pt x="3505200" y="0"/>
                  </a:lnTo>
                </a:path>
              </a:pathLst>
            </a:custGeom>
            <a:solidFill>
              <a:srgbClr val="000000"/>
            </a:solidFill>
            <a:ln cap="flat" cmpd="sng" w="9525">
              <a:solidFill>
                <a:srgbClr val="D8CFBC"/>
              </a:solidFill>
              <a:prstDash val="solid"/>
              <a:round/>
              <a:headEnd len="sm" w="sm" type="none"/>
              <a:tailEnd len="sm" w="sm" type="none"/>
            </a:ln>
          </p:spPr>
        </p:sp>
        <p:pic>
          <p:nvPicPr>
            <p:cNvPr id="171" name="Google Shape;171;p12"/>
            <p:cNvPicPr preferRelativeResize="0"/>
            <p:nvPr/>
          </p:nvPicPr>
          <p:blipFill rotWithShape="1">
            <a:blip r:embed="rId3">
              <a:alphaModFix/>
            </a:blip>
            <a:srcRect b="0" l="0" r="0" t="0"/>
            <a:stretch/>
          </p:blipFill>
          <p:spPr>
            <a:xfrm>
              <a:off x="9100185" y="1333500"/>
              <a:ext cx="1458278" cy="3238500"/>
            </a:xfrm>
            <a:prstGeom prst="rect">
              <a:avLst/>
            </a:prstGeom>
            <a:noFill/>
            <a:ln>
              <a:noFill/>
            </a:ln>
          </p:spPr>
        </p:pic>
        <p:sp>
          <p:nvSpPr>
            <p:cNvPr id="172" name="Google Shape;172;p12"/>
            <p:cNvSpPr/>
            <p:nvPr/>
          </p:nvSpPr>
          <p:spPr>
            <a:xfrm>
              <a:off x="8077200" y="4635532"/>
              <a:ext cx="3505200" cy="17602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W3 Review cancellation - refund before commit.</a:t>
              </a:r>
              <a:endParaRPr b="0" i="0" sz="1400" u="none" cap="none" strike="noStrike">
                <a:solidFill>
                  <a:srgbClr val="000000"/>
                </a:solidFill>
                <a:latin typeface="Arial"/>
                <a:ea typeface="Arial"/>
                <a:cs typeface="Arial"/>
                <a:sym typeface="Arial"/>
              </a:endParaRPr>
            </a:p>
          </p:txBody>
        </p:sp>
        <p:sp>
          <p:nvSpPr>
            <p:cNvPr id="173" name="Google Shape;173;p12"/>
            <p:cNvSpPr/>
            <p:nvPr/>
          </p:nvSpPr>
          <p:spPr>
            <a:xfrm>
              <a:off x="8077200" y="4813268"/>
              <a:ext cx="3505200" cy="176022"/>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Full set: Slides 8-12 · live demo: Slide 13.</a:t>
              </a:r>
              <a:endParaRPr b="0" i="0" sz="1400" u="none" cap="none" strike="noStrike">
                <a:solidFill>
                  <a:srgbClr val="000000"/>
                </a:solidFill>
                <a:latin typeface="Arial"/>
                <a:ea typeface="Arial"/>
                <a:cs typeface="Arial"/>
                <a:sym typeface="Arial"/>
              </a:endParaRPr>
            </a:p>
          </p:txBody>
        </p:sp>
      </p:grpSp>
      <p:sp>
        <p:nvSpPr>
          <p:cNvPr id="174" name="Google Shape;174;p12"/>
          <p:cNvSpPr/>
          <p:nvPr/>
        </p:nvSpPr>
        <p:spPr>
          <a:xfrm>
            <a:off x="11362182" y="6597682"/>
            <a:ext cx="225552"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178" name="Shape 178"/>
        <p:cNvGrpSpPr/>
        <p:nvPr/>
      </p:nvGrpSpPr>
      <p:grpSpPr>
        <a:xfrm>
          <a:off x="0" y="0"/>
          <a:ext cx="0" cy="0"/>
          <a:chOff x="0" y="0"/>
          <a:chExt cx="0" cy="0"/>
        </a:xfrm>
      </p:grpSpPr>
      <p:grpSp>
        <p:nvGrpSpPr>
          <p:cNvPr id="179" name="Google Shape;179;p2"/>
          <p:cNvGrpSpPr/>
          <p:nvPr/>
        </p:nvGrpSpPr>
        <p:grpSpPr>
          <a:xfrm>
            <a:off x="596646" y="171450"/>
            <a:ext cx="9639966" cy="642557"/>
            <a:chOff x="596646" y="171450"/>
            <a:chExt cx="9639966" cy="642557"/>
          </a:xfrm>
        </p:grpSpPr>
        <p:sp>
          <p:nvSpPr>
            <p:cNvPr id="180" name="Google Shape;180;p2"/>
            <p:cNvSpPr txBox="1"/>
            <p:nvPr/>
          </p:nvSpPr>
          <p:spPr>
            <a:xfrm>
              <a:off x="604838" y="171450"/>
              <a:ext cx="358011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CUSTOMER JOURNEY · FLOW DIAGRAM</a:t>
              </a:r>
              <a:endParaRPr b="0" i="0" sz="1400" u="none" cap="none" strike="noStrike">
                <a:solidFill>
                  <a:srgbClr val="000000"/>
                </a:solidFill>
                <a:latin typeface="Arial"/>
                <a:ea typeface="Arial"/>
                <a:cs typeface="Arial"/>
                <a:sym typeface="Arial"/>
              </a:endParaRPr>
            </a:p>
          </p:txBody>
        </p:sp>
        <p:sp>
          <p:nvSpPr>
            <p:cNvPr id="181" name="Google Shape;181;p2"/>
            <p:cNvSpPr/>
            <p:nvPr/>
          </p:nvSpPr>
          <p:spPr>
            <a:xfrm>
              <a:off x="596646" y="260318"/>
              <a:ext cx="8962644" cy="498729"/>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2550"/>
                <a:buFont typeface="Arial"/>
                <a:buNone/>
              </a:pPr>
              <a:r>
                <a:rPr b="0" i="0" lang="en" sz="2550" u="none" cap="none" strike="noStrike">
                  <a:solidFill>
                    <a:srgbClr val="0B3D36"/>
                  </a:solidFill>
                  <a:latin typeface="Garamond"/>
                  <a:ea typeface="Garamond"/>
                  <a:cs typeface="Garamond"/>
                  <a:sym typeface="Garamond"/>
                </a:rPr>
                <a:t>The cancellation journey, part 1: entry to review</a:t>
              </a:r>
              <a:endParaRPr b="0" i="0" sz="1400" u="none" cap="none" strike="noStrike">
                <a:solidFill>
                  <a:srgbClr val="000000"/>
                </a:solidFill>
                <a:latin typeface="Arial"/>
                <a:ea typeface="Arial"/>
                <a:cs typeface="Arial"/>
                <a:sym typeface="Arial"/>
              </a:endParaRPr>
            </a:p>
          </p:txBody>
        </p:sp>
        <p:sp>
          <p:nvSpPr>
            <p:cNvPr id="182" name="Google Shape;182;p2"/>
            <p:cNvSpPr/>
            <p:nvPr/>
          </p:nvSpPr>
          <p:spPr>
            <a:xfrm>
              <a:off x="604456" y="615982"/>
              <a:ext cx="9632156" cy="198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0"/>
                <a:buFont typeface="Arial"/>
                <a:buNone/>
              </a:pPr>
              <a:r>
                <a:rPr b="0" i="0" lang="en" sz="1010" u="none" cap="none" strike="noStrike">
                  <a:solidFill>
                    <a:srgbClr val="6B6F66"/>
                  </a:solidFill>
                  <a:latin typeface="Quattrocento Sans"/>
                  <a:ea typeface="Quattrocento Sans"/>
                  <a:cs typeface="Quattrocento Sans"/>
                  <a:sym typeface="Quattrocento Sans"/>
                </a:rPr>
                <a:t>From opening a booking to the cancel review, including the unhappy paths. The keep-or-confirm decision continues in Part 2 (Slide 5).</a:t>
              </a:r>
              <a:endParaRPr b="0" i="0" sz="1400" u="none" cap="none" strike="noStrike">
                <a:solidFill>
                  <a:srgbClr val="000000"/>
                </a:solidFill>
                <a:latin typeface="Arial"/>
                <a:ea typeface="Arial"/>
                <a:cs typeface="Arial"/>
                <a:sym typeface="Arial"/>
              </a:endParaRPr>
            </a:p>
          </p:txBody>
        </p:sp>
      </p:grpSp>
      <p:sp>
        <p:nvSpPr>
          <p:cNvPr id="183" name="Google Shape;183;p2"/>
          <p:cNvSpPr/>
          <p:nvPr/>
        </p:nvSpPr>
        <p:spPr>
          <a:xfrm>
            <a:off x="9694926" y="946118"/>
            <a:ext cx="1892236" cy="161925"/>
          </a:xfrm>
          <a:prstGeom prst="rect">
            <a:avLst/>
          </a:prstGeom>
          <a:noFill/>
          <a:ln>
            <a:noFill/>
          </a:ln>
        </p:spPr>
        <p:txBody>
          <a:bodyPr anchorCtr="0" anchor="t" bIns="0" lIns="0" spcFirstLastPara="1" rIns="0" wrap="square" tIns="25">
            <a:noAutofit/>
          </a:bodyPr>
          <a:lstStyle/>
          <a:p>
            <a:pPr indent="0" lvl="0" marL="0" marR="0" rtl="0" algn="r">
              <a:lnSpc>
                <a:spcPct val="100000"/>
              </a:lnSpc>
              <a:spcBef>
                <a:spcPts val="0"/>
              </a:spcBef>
              <a:spcAft>
                <a:spcPts val="0"/>
              </a:spcAft>
              <a:buClr>
                <a:srgbClr val="000000"/>
              </a:buClr>
              <a:buSzPts val="820"/>
              <a:buFont typeface="Arial"/>
              <a:buNone/>
            </a:pPr>
            <a:r>
              <a:rPr b="1" i="0" lang="en" sz="820" u="none" cap="none" strike="noStrike">
                <a:solidFill>
                  <a:srgbClr val="4A7C6F"/>
                </a:solidFill>
                <a:latin typeface="Quattrocento Sans"/>
                <a:ea typeface="Quattrocento Sans"/>
                <a:cs typeface="Quattrocento Sans"/>
                <a:sym typeface="Quattrocento Sans"/>
              </a:rPr>
              <a:t>PART 1 OF 2 · ENTRY TO REVIEW</a:t>
            </a:r>
            <a:endParaRPr b="0" i="0" sz="1400" u="none" cap="none" strike="noStrike">
              <a:solidFill>
                <a:srgbClr val="000000"/>
              </a:solidFill>
              <a:latin typeface="Arial"/>
              <a:ea typeface="Arial"/>
              <a:cs typeface="Arial"/>
              <a:sym typeface="Arial"/>
            </a:endParaRPr>
          </a:p>
        </p:txBody>
      </p:sp>
      <p:sp>
        <p:nvSpPr>
          <p:cNvPr id="184" name="Google Shape;184;p2"/>
          <p:cNvSpPr/>
          <p:nvPr/>
        </p:nvSpPr>
        <p:spPr>
          <a:xfrm>
            <a:off x="609600" y="9906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609600" y="10668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2"/>
          <p:cNvSpPr/>
          <p:nvPr/>
        </p:nvSpPr>
        <p:spPr>
          <a:xfrm>
            <a:off x="604838" y="1104900"/>
            <a:ext cx="77466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CUSTOMER</a:t>
            </a:r>
            <a:endParaRPr b="0" i="0" sz="1400" u="none" cap="none" strike="noStrike">
              <a:solidFill>
                <a:srgbClr val="000000"/>
              </a:solidFill>
              <a:latin typeface="Arial"/>
              <a:ea typeface="Arial"/>
              <a:cs typeface="Arial"/>
              <a:sym typeface="Arial"/>
            </a:endParaRPr>
          </a:p>
        </p:txBody>
      </p:sp>
      <p:sp>
        <p:nvSpPr>
          <p:cNvPr id="187" name="Google Shape;187;p2"/>
          <p:cNvSpPr/>
          <p:nvPr/>
        </p:nvSpPr>
        <p:spPr>
          <a:xfrm>
            <a:off x="609600" y="21844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p:nvPr/>
        </p:nvSpPr>
        <p:spPr>
          <a:xfrm>
            <a:off x="609600" y="22606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2"/>
          <p:cNvSpPr/>
          <p:nvPr/>
        </p:nvSpPr>
        <p:spPr>
          <a:xfrm>
            <a:off x="604838" y="2298700"/>
            <a:ext cx="629317"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OUR APP</a:t>
            </a:r>
            <a:endParaRPr b="0" i="0" sz="1400" u="none" cap="none" strike="noStrike">
              <a:solidFill>
                <a:srgbClr val="000000"/>
              </a:solidFill>
              <a:latin typeface="Arial"/>
              <a:ea typeface="Arial"/>
              <a:cs typeface="Arial"/>
              <a:sym typeface="Arial"/>
            </a:endParaRPr>
          </a:p>
        </p:txBody>
      </p:sp>
      <p:sp>
        <p:nvSpPr>
          <p:cNvPr id="190" name="Google Shape;190;p2"/>
          <p:cNvSpPr/>
          <p:nvPr/>
        </p:nvSpPr>
        <p:spPr>
          <a:xfrm>
            <a:off x="609600" y="48895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2"/>
          <p:cNvSpPr/>
          <p:nvPr/>
        </p:nvSpPr>
        <p:spPr>
          <a:xfrm>
            <a:off x="609600" y="49657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2"/>
          <p:cNvSpPr/>
          <p:nvPr/>
        </p:nvSpPr>
        <p:spPr>
          <a:xfrm>
            <a:off x="604838" y="5003800"/>
            <a:ext cx="51463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AGODA</a:t>
            </a:r>
            <a:endParaRPr b="0" i="0" sz="1400" u="none" cap="none" strike="noStrike">
              <a:solidFill>
                <a:srgbClr val="000000"/>
              </a:solidFill>
              <a:latin typeface="Arial"/>
              <a:ea typeface="Arial"/>
              <a:cs typeface="Arial"/>
              <a:sym typeface="Arial"/>
            </a:endParaRPr>
          </a:p>
        </p:txBody>
      </p:sp>
      <p:sp>
        <p:nvSpPr>
          <p:cNvPr id="193" name="Google Shape;193;p2"/>
          <p:cNvSpPr/>
          <p:nvPr/>
        </p:nvSpPr>
        <p:spPr>
          <a:xfrm>
            <a:off x="609600" y="6096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2"/>
          <p:cNvSpPr/>
          <p:nvPr/>
        </p:nvSpPr>
        <p:spPr>
          <a:xfrm>
            <a:off x="11684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2"/>
          <p:cNvSpPr/>
          <p:nvPr/>
        </p:nvSpPr>
        <p:spPr>
          <a:xfrm>
            <a:off x="1307941" y="1366552"/>
            <a:ext cx="843724" cy="191643"/>
          </a:xfrm>
          <a:prstGeom prst="rect">
            <a:avLst/>
          </a:prstGeom>
          <a:noFill/>
          <a:ln>
            <a:noFill/>
          </a:ln>
        </p:spPr>
        <p:txBody>
          <a:bodyPr anchorCtr="0" anchor="t" bIns="0" lIns="0" spcFirstLastPara="1" rIns="2846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Open My</a:t>
            </a:r>
            <a:endParaRPr b="0" i="0" sz="1400" u="none" cap="none" strike="noStrike">
              <a:solidFill>
                <a:srgbClr val="000000"/>
              </a:solidFill>
              <a:latin typeface="Arial"/>
              <a:ea typeface="Arial"/>
              <a:cs typeface="Arial"/>
              <a:sym typeface="Arial"/>
            </a:endParaRPr>
          </a:p>
        </p:txBody>
      </p:sp>
      <p:sp>
        <p:nvSpPr>
          <p:cNvPr id="196" name="Google Shape;196;p2"/>
          <p:cNvSpPr/>
          <p:nvPr/>
        </p:nvSpPr>
        <p:spPr>
          <a:xfrm>
            <a:off x="1313561" y="1514189"/>
            <a:ext cx="907828" cy="191643"/>
          </a:xfrm>
          <a:prstGeom prst="rect">
            <a:avLst/>
          </a:prstGeom>
          <a:noFill/>
          <a:ln>
            <a:noFill/>
          </a:ln>
        </p:spPr>
        <p:txBody>
          <a:bodyPr anchorCtr="0" anchor="t" bIns="0" lIns="0" spcFirstLastPara="1" rIns="359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bookings</a:t>
            </a:r>
            <a:endParaRPr b="0" i="0" sz="1400" u="none" cap="none" strike="noStrike">
              <a:solidFill>
                <a:srgbClr val="000000"/>
              </a:solidFill>
              <a:latin typeface="Arial"/>
              <a:ea typeface="Arial"/>
              <a:cs typeface="Arial"/>
              <a:sym typeface="Arial"/>
            </a:endParaRPr>
          </a:p>
        </p:txBody>
      </p:sp>
      <p:sp>
        <p:nvSpPr>
          <p:cNvPr id="197" name="Google Shape;197;p2"/>
          <p:cNvSpPr/>
          <p:nvPr/>
        </p:nvSpPr>
        <p:spPr>
          <a:xfrm>
            <a:off x="17864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198" name="Google Shape;198;p2"/>
          <p:cNvSpPr/>
          <p:nvPr/>
        </p:nvSpPr>
        <p:spPr>
          <a:xfrm>
            <a:off x="1168400" y="33718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2"/>
          <p:cNvSpPr/>
          <p:nvPr/>
        </p:nvSpPr>
        <p:spPr>
          <a:xfrm>
            <a:off x="1146588" y="3423952"/>
            <a:ext cx="1423416" cy="191643"/>
          </a:xfrm>
          <a:prstGeom prst="rect">
            <a:avLst/>
          </a:prstGeom>
          <a:noFill/>
          <a:ln>
            <a:noFill/>
          </a:ln>
        </p:spPr>
        <p:txBody>
          <a:bodyPr anchorCtr="0" anchor="t" bIns="0" lIns="0" spcFirstLastPara="1" rIns="5415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Open booking,</a:t>
            </a:r>
            <a:endParaRPr b="0" i="0" sz="1400" u="none" cap="none" strike="noStrike">
              <a:solidFill>
                <a:srgbClr val="000000"/>
              </a:solidFill>
              <a:latin typeface="Arial"/>
              <a:ea typeface="Arial"/>
              <a:cs typeface="Arial"/>
              <a:sym typeface="Arial"/>
            </a:endParaRPr>
          </a:p>
        </p:txBody>
      </p:sp>
      <p:sp>
        <p:nvSpPr>
          <p:cNvPr id="200" name="Google Shape;200;p2"/>
          <p:cNvSpPr/>
          <p:nvPr/>
        </p:nvSpPr>
        <p:spPr>
          <a:xfrm>
            <a:off x="1192022" y="3571589"/>
            <a:ext cx="1447705" cy="191643"/>
          </a:xfrm>
          <a:prstGeom prst="rect">
            <a:avLst/>
          </a:prstGeom>
          <a:noFill/>
          <a:ln>
            <a:noFill/>
          </a:ln>
        </p:spPr>
        <p:txBody>
          <a:bodyPr anchorCtr="0" anchor="t" bIns="0" lIns="0" spcFirstLastPara="1" rIns="6567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refresh status</a:t>
            </a:r>
            <a:endParaRPr b="0" i="0" sz="1400" u="none" cap="none" strike="noStrike">
              <a:solidFill>
                <a:srgbClr val="000000"/>
              </a:solidFill>
              <a:latin typeface="Arial"/>
              <a:ea typeface="Arial"/>
              <a:cs typeface="Arial"/>
              <a:sym typeface="Arial"/>
            </a:endParaRPr>
          </a:p>
        </p:txBody>
      </p:sp>
      <p:sp>
        <p:nvSpPr>
          <p:cNvPr id="201" name="Google Shape;201;p2"/>
          <p:cNvSpPr/>
          <p:nvPr/>
        </p:nvSpPr>
        <p:spPr>
          <a:xfrm>
            <a:off x="1786477" y="3730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202" name="Google Shape;202;p2"/>
          <p:cNvSpPr/>
          <p:nvPr/>
        </p:nvSpPr>
        <p:spPr>
          <a:xfrm>
            <a:off x="1320800" y="5343450"/>
            <a:ext cx="914400" cy="36210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2"/>
          <p:cNvSpPr/>
          <p:nvPr/>
        </p:nvSpPr>
        <p:spPr>
          <a:xfrm>
            <a:off x="1347878" y="5402696"/>
            <a:ext cx="1560600" cy="191700"/>
          </a:xfrm>
          <a:prstGeom prst="rect">
            <a:avLst/>
          </a:prstGeom>
          <a:noFill/>
          <a:ln>
            <a:noFill/>
          </a:ln>
        </p:spPr>
        <p:txBody>
          <a:bodyPr anchorCtr="0" anchor="t" bIns="0" lIns="0" spcFirstLastPara="1" rIns="683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Status + policy</a:t>
            </a:r>
            <a:endParaRPr b="0" i="0" sz="1400" u="none" cap="none" strike="noStrike">
              <a:solidFill>
                <a:srgbClr val="000000"/>
              </a:solidFill>
              <a:latin typeface="Arial"/>
              <a:ea typeface="Arial"/>
              <a:cs typeface="Arial"/>
              <a:sym typeface="Arial"/>
            </a:endParaRPr>
          </a:p>
        </p:txBody>
      </p:sp>
      <p:sp>
        <p:nvSpPr>
          <p:cNvPr id="204" name="Google Shape;204;p2"/>
          <p:cNvSpPr/>
          <p:nvPr/>
        </p:nvSpPr>
        <p:spPr>
          <a:xfrm>
            <a:off x="2023581" y="556890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205" name="Google Shape;205;p2"/>
          <p:cNvSpPr/>
          <p:nvPr/>
        </p:nvSpPr>
        <p:spPr>
          <a:xfrm>
            <a:off x="2336800" y="3371850"/>
            <a:ext cx="9144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2"/>
          <p:cNvSpPr/>
          <p:nvPr/>
        </p:nvSpPr>
        <p:spPr>
          <a:xfrm>
            <a:off x="2421192" y="3423952"/>
            <a:ext cx="1285589" cy="191643"/>
          </a:xfrm>
          <a:prstGeom prst="rect">
            <a:avLst/>
          </a:prstGeom>
          <a:noFill/>
          <a:ln>
            <a:noFill/>
          </a:ln>
        </p:spPr>
        <p:txBody>
          <a:bodyPr anchorCtr="0" anchor="t" bIns="0" lIns="0" spcFirstLastPara="1" rIns="539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Show details</a:t>
            </a:r>
            <a:endParaRPr b="0" i="0" sz="1400" u="none" cap="none" strike="noStrike">
              <a:solidFill>
                <a:srgbClr val="000000"/>
              </a:solidFill>
              <a:latin typeface="Arial"/>
              <a:ea typeface="Arial"/>
              <a:cs typeface="Arial"/>
              <a:sym typeface="Arial"/>
            </a:endParaRPr>
          </a:p>
        </p:txBody>
      </p:sp>
      <p:sp>
        <p:nvSpPr>
          <p:cNvPr id="207" name="Google Shape;207;p2"/>
          <p:cNvSpPr/>
          <p:nvPr/>
        </p:nvSpPr>
        <p:spPr>
          <a:xfrm>
            <a:off x="2371566" y="3571589"/>
            <a:ext cx="1474660" cy="191643"/>
          </a:xfrm>
          <a:prstGeom prst="rect">
            <a:avLst/>
          </a:prstGeom>
          <a:noFill/>
          <a:ln>
            <a:noFill/>
          </a:ln>
        </p:spPr>
        <p:txBody>
          <a:bodyPr anchorCtr="0" anchor="t" bIns="0" lIns="0" spcFirstLastPara="1" rIns="6297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review entry</a:t>
            </a:r>
            <a:endParaRPr b="0" i="0" sz="1400" u="none" cap="none" strike="noStrike">
              <a:solidFill>
                <a:srgbClr val="000000"/>
              </a:solidFill>
              <a:latin typeface="Arial"/>
              <a:ea typeface="Arial"/>
              <a:cs typeface="Arial"/>
              <a:sym typeface="Arial"/>
            </a:endParaRPr>
          </a:p>
        </p:txBody>
      </p:sp>
      <p:sp>
        <p:nvSpPr>
          <p:cNvPr id="208" name="Google Shape;208;p2"/>
          <p:cNvSpPr/>
          <p:nvPr/>
        </p:nvSpPr>
        <p:spPr>
          <a:xfrm>
            <a:off x="3031077" y="3730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S2</a:t>
            </a:r>
            <a:endParaRPr b="0" i="0" sz="1400" u="none" cap="none" strike="noStrike">
              <a:solidFill>
                <a:srgbClr val="000000"/>
              </a:solidFill>
              <a:latin typeface="Arial"/>
              <a:ea typeface="Arial"/>
              <a:cs typeface="Arial"/>
              <a:sym typeface="Arial"/>
            </a:endParaRPr>
          </a:p>
        </p:txBody>
      </p:sp>
      <p:sp>
        <p:nvSpPr>
          <p:cNvPr id="209" name="Google Shape;209;p2"/>
          <p:cNvSpPr/>
          <p:nvPr/>
        </p:nvSpPr>
        <p:spPr>
          <a:xfrm>
            <a:off x="23749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2"/>
          <p:cNvSpPr/>
          <p:nvPr/>
        </p:nvSpPr>
        <p:spPr>
          <a:xfrm>
            <a:off x="2440908" y="1366552"/>
            <a:ext cx="1196150" cy="191643"/>
          </a:xfrm>
          <a:prstGeom prst="rect">
            <a:avLst/>
          </a:prstGeom>
          <a:noFill/>
          <a:ln>
            <a:noFill/>
          </a:ln>
        </p:spPr>
        <p:txBody>
          <a:bodyPr anchorCtr="0" anchor="t" bIns="0" lIns="0" spcFirstLastPara="1" rIns="489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Tap 'Review</a:t>
            </a:r>
            <a:endParaRPr b="0" i="0" sz="1400" u="none" cap="none" strike="noStrike">
              <a:solidFill>
                <a:srgbClr val="000000"/>
              </a:solidFill>
              <a:latin typeface="Arial"/>
              <a:ea typeface="Arial"/>
              <a:cs typeface="Arial"/>
              <a:sym typeface="Arial"/>
            </a:endParaRPr>
          </a:p>
        </p:txBody>
      </p:sp>
      <p:sp>
        <p:nvSpPr>
          <p:cNvPr id="211" name="Google Shape;211;p2"/>
          <p:cNvSpPr/>
          <p:nvPr/>
        </p:nvSpPr>
        <p:spPr>
          <a:xfrm>
            <a:off x="2427764" y="1514189"/>
            <a:ext cx="1348740" cy="191643"/>
          </a:xfrm>
          <a:prstGeom prst="rect">
            <a:avLst/>
          </a:prstGeom>
          <a:noFill/>
          <a:ln>
            <a:noFill/>
          </a:ln>
        </p:spPr>
        <p:txBody>
          <a:bodyPr anchorCtr="0" anchor="t" bIns="0" lIns="0" spcFirstLastPara="1" rIns="6162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cancellation'</a:t>
            </a:r>
            <a:endParaRPr b="0" i="0" sz="1400" u="none" cap="none" strike="noStrike">
              <a:solidFill>
                <a:srgbClr val="000000"/>
              </a:solidFill>
              <a:latin typeface="Arial"/>
              <a:ea typeface="Arial"/>
              <a:cs typeface="Arial"/>
              <a:sym typeface="Arial"/>
            </a:endParaRPr>
          </a:p>
        </p:txBody>
      </p:sp>
      <p:sp>
        <p:nvSpPr>
          <p:cNvPr id="212" name="Google Shape;212;p2"/>
          <p:cNvSpPr/>
          <p:nvPr/>
        </p:nvSpPr>
        <p:spPr>
          <a:xfrm>
            <a:off x="29929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S2</a:t>
            </a:r>
            <a:endParaRPr b="0" i="0" sz="1400" u="none" cap="none" strike="noStrike">
              <a:solidFill>
                <a:srgbClr val="000000"/>
              </a:solidFill>
              <a:latin typeface="Arial"/>
              <a:ea typeface="Arial"/>
              <a:cs typeface="Arial"/>
              <a:sym typeface="Arial"/>
            </a:endParaRPr>
          </a:p>
        </p:txBody>
      </p:sp>
      <p:sp>
        <p:nvSpPr>
          <p:cNvPr id="213" name="Google Shape;213;p2"/>
          <p:cNvSpPr/>
          <p:nvPr/>
        </p:nvSpPr>
        <p:spPr>
          <a:xfrm>
            <a:off x="3606800" y="3333750"/>
            <a:ext cx="914400" cy="571500"/>
          </a:xfrm>
          <a:custGeom>
            <a:rect b="b" l="l" r="r" t="t"/>
            <a:pathLst>
              <a:path extrusionOk="0" h="571500" w="914400">
                <a:moveTo>
                  <a:pt x="457200" y="0"/>
                </a:moveTo>
                <a:lnTo>
                  <a:pt x="914400" y="285750"/>
                </a:lnTo>
                <a:lnTo>
                  <a:pt x="45720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2"/>
          <p:cNvSpPr/>
          <p:nvPr/>
        </p:nvSpPr>
        <p:spPr>
          <a:xfrm>
            <a:off x="3873405" y="3425952"/>
            <a:ext cx="674942" cy="161925"/>
          </a:xfrm>
          <a:prstGeom prst="rect">
            <a:avLst/>
          </a:prstGeom>
          <a:noFill/>
          <a:ln>
            <a:noFill/>
          </a:ln>
        </p:spPr>
        <p:txBody>
          <a:bodyPr anchorCtr="0" anchor="t" bIns="0" lIns="0" spcFirstLastPara="1" rIns="2937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Already</a:t>
            </a:r>
            <a:endParaRPr b="0" i="0" sz="1400" u="none" cap="none" strike="noStrike">
              <a:solidFill>
                <a:srgbClr val="000000"/>
              </a:solidFill>
              <a:latin typeface="Arial"/>
              <a:ea typeface="Arial"/>
              <a:cs typeface="Arial"/>
              <a:sym typeface="Arial"/>
            </a:endParaRPr>
          </a:p>
        </p:txBody>
      </p:sp>
      <p:sp>
        <p:nvSpPr>
          <p:cNvPr id="215" name="Google Shape;215;p2"/>
          <p:cNvSpPr/>
          <p:nvPr/>
        </p:nvSpPr>
        <p:spPr>
          <a:xfrm>
            <a:off x="3807206" y="3554540"/>
            <a:ext cx="916019" cy="161925"/>
          </a:xfrm>
          <a:prstGeom prst="rect">
            <a:avLst/>
          </a:prstGeom>
          <a:noFill/>
          <a:ln>
            <a:noFill/>
          </a:ln>
        </p:spPr>
        <p:txBody>
          <a:bodyPr anchorCtr="0" anchor="t" bIns="0" lIns="0" spcFirstLastPara="1" rIns="40242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cancelled?</a:t>
            </a:r>
            <a:endParaRPr b="0" i="0" sz="1400" u="none" cap="none" strike="noStrike">
              <a:solidFill>
                <a:srgbClr val="000000"/>
              </a:solidFill>
              <a:latin typeface="Arial"/>
              <a:ea typeface="Arial"/>
              <a:cs typeface="Arial"/>
              <a:sym typeface="Arial"/>
            </a:endParaRPr>
          </a:p>
        </p:txBody>
      </p:sp>
      <p:sp>
        <p:nvSpPr>
          <p:cNvPr id="216" name="Google Shape;216;p2"/>
          <p:cNvSpPr/>
          <p:nvPr/>
        </p:nvSpPr>
        <p:spPr>
          <a:xfrm>
            <a:off x="3961606" y="3683127"/>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(S3)</a:t>
            </a:r>
            <a:endParaRPr b="0" i="0" sz="1400" u="none" cap="none" strike="noStrike">
              <a:solidFill>
                <a:srgbClr val="000000"/>
              </a:solidFill>
              <a:latin typeface="Arial"/>
              <a:ea typeface="Arial"/>
              <a:cs typeface="Arial"/>
              <a:sym typeface="Arial"/>
            </a:endParaRPr>
          </a:p>
        </p:txBody>
      </p:sp>
      <p:sp>
        <p:nvSpPr>
          <p:cNvPr id="217" name="Google Shape;217;p2"/>
          <p:cNvSpPr/>
          <p:nvPr/>
        </p:nvSpPr>
        <p:spPr>
          <a:xfrm>
            <a:off x="3606800" y="4222750"/>
            <a:ext cx="91440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
          <p:cNvSpPr/>
          <p:nvPr/>
        </p:nvSpPr>
        <p:spPr>
          <a:xfrm>
            <a:off x="3730530" y="4274852"/>
            <a:ext cx="1176528" cy="191643"/>
          </a:xfrm>
          <a:prstGeom prst="rect">
            <a:avLst/>
          </a:prstGeom>
          <a:noFill/>
          <a:ln>
            <a:noFill/>
          </a:ln>
        </p:spPr>
        <p:txBody>
          <a:bodyPr anchorCtr="0" anchor="t" bIns="0" lIns="0" spcFirstLastPara="1" rIns="5095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Cancelled -</a:t>
            </a:r>
            <a:endParaRPr b="0" i="0" sz="1400" u="none" cap="none" strike="noStrike">
              <a:solidFill>
                <a:srgbClr val="000000"/>
              </a:solidFill>
              <a:latin typeface="Arial"/>
              <a:ea typeface="Arial"/>
              <a:cs typeface="Arial"/>
              <a:sym typeface="Arial"/>
            </a:endParaRPr>
          </a:p>
        </p:txBody>
      </p:sp>
      <p:sp>
        <p:nvSpPr>
          <p:cNvPr id="219" name="Google Shape;219;p2"/>
          <p:cNvSpPr/>
          <p:nvPr/>
        </p:nvSpPr>
        <p:spPr>
          <a:xfrm>
            <a:off x="3773297" y="4422489"/>
            <a:ext cx="994315" cy="191643"/>
          </a:xfrm>
          <a:prstGeom prst="rect">
            <a:avLst/>
          </a:prstGeom>
          <a:noFill/>
          <a:ln>
            <a:noFill/>
          </a:ln>
        </p:spPr>
        <p:txBody>
          <a:bodyPr anchorCtr="0" anchor="t" bIns="0" lIns="0" spcFirstLastPara="1" rIns="4129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option</a:t>
            </a:r>
            <a:endParaRPr b="0" i="0" sz="1400" u="none" cap="none" strike="noStrike">
              <a:solidFill>
                <a:srgbClr val="000000"/>
              </a:solidFill>
              <a:latin typeface="Arial"/>
              <a:ea typeface="Arial"/>
              <a:cs typeface="Arial"/>
              <a:sym typeface="Arial"/>
            </a:endParaRPr>
          </a:p>
        </p:txBody>
      </p:sp>
      <p:sp>
        <p:nvSpPr>
          <p:cNvPr id="220" name="Google Shape;220;p2"/>
          <p:cNvSpPr/>
          <p:nvPr/>
        </p:nvSpPr>
        <p:spPr>
          <a:xfrm>
            <a:off x="4351655" y="45815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B</a:t>
            </a:r>
            <a:endParaRPr b="0" i="0" sz="1400" u="none" cap="none" strike="noStrike">
              <a:solidFill>
                <a:srgbClr val="000000"/>
              </a:solidFill>
              <a:latin typeface="Arial"/>
              <a:ea typeface="Arial"/>
              <a:cs typeface="Arial"/>
              <a:sym typeface="Arial"/>
            </a:endParaRPr>
          </a:p>
        </p:txBody>
      </p:sp>
      <p:sp>
        <p:nvSpPr>
          <p:cNvPr id="221" name="Google Shape;221;p2"/>
          <p:cNvSpPr/>
          <p:nvPr/>
        </p:nvSpPr>
        <p:spPr>
          <a:xfrm>
            <a:off x="5257800" y="3333750"/>
            <a:ext cx="914400" cy="571500"/>
          </a:xfrm>
          <a:custGeom>
            <a:rect b="b" l="l" r="r" t="t"/>
            <a:pathLst>
              <a:path extrusionOk="0" h="571500" w="914400">
                <a:moveTo>
                  <a:pt x="457200" y="0"/>
                </a:moveTo>
                <a:lnTo>
                  <a:pt x="914400" y="285750"/>
                </a:lnTo>
                <a:lnTo>
                  <a:pt x="45720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2"/>
          <p:cNvSpPr/>
          <p:nvPr/>
        </p:nvSpPr>
        <p:spPr>
          <a:xfrm>
            <a:off x="5550598" y="3425952"/>
            <a:ext cx="590360" cy="161925"/>
          </a:xfrm>
          <a:prstGeom prst="rect">
            <a:avLst/>
          </a:prstGeom>
          <a:noFill/>
          <a:ln>
            <a:noFill/>
          </a:ln>
        </p:spPr>
        <p:txBody>
          <a:bodyPr anchorCtr="0" anchor="t" bIns="0" lIns="0" spcFirstLastPara="1" rIns="2615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Before</a:t>
            </a:r>
            <a:endParaRPr b="0" i="0" sz="1400" u="none" cap="none" strike="noStrike">
              <a:solidFill>
                <a:srgbClr val="000000"/>
              </a:solidFill>
              <a:latin typeface="Arial"/>
              <a:ea typeface="Arial"/>
              <a:cs typeface="Arial"/>
              <a:sym typeface="Arial"/>
            </a:endParaRPr>
          </a:p>
        </p:txBody>
      </p:sp>
      <p:sp>
        <p:nvSpPr>
          <p:cNvPr id="223" name="Google Shape;223;p2"/>
          <p:cNvSpPr/>
          <p:nvPr/>
        </p:nvSpPr>
        <p:spPr>
          <a:xfrm>
            <a:off x="5480304" y="3554540"/>
            <a:ext cx="835628" cy="161925"/>
          </a:xfrm>
          <a:prstGeom prst="rect">
            <a:avLst/>
          </a:prstGeom>
          <a:noFill/>
          <a:ln>
            <a:noFill/>
          </a:ln>
        </p:spPr>
        <p:txBody>
          <a:bodyPr anchorCtr="0" anchor="t" bIns="0" lIns="0" spcFirstLastPara="1" rIns="36622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check-in?</a:t>
            </a:r>
            <a:endParaRPr b="0" i="0" sz="1400" u="none" cap="none" strike="noStrike">
              <a:solidFill>
                <a:srgbClr val="000000"/>
              </a:solidFill>
              <a:latin typeface="Arial"/>
              <a:ea typeface="Arial"/>
              <a:cs typeface="Arial"/>
              <a:sym typeface="Arial"/>
            </a:endParaRPr>
          </a:p>
        </p:txBody>
      </p:sp>
      <p:sp>
        <p:nvSpPr>
          <p:cNvPr id="224" name="Google Shape;224;p2"/>
          <p:cNvSpPr/>
          <p:nvPr/>
        </p:nvSpPr>
        <p:spPr>
          <a:xfrm>
            <a:off x="5612606" y="3683127"/>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(S3)</a:t>
            </a:r>
            <a:endParaRPr b="0" i="0" sz="1400" u="none" cap="none" strike="noStrike">
              <a:solidFill>
                <a:srgbClr val="000000"/>
              </a:solidFill>
              <a:latin typeface="Arial"/>
              <a:ea typeface="Arial"/>
              <a:cs typeface="Arial"/>
              <a:sym typeface="Arial"/>
            </a:endParaRPr>
          </a:p>
        </p:txBody>
      </p:sp>
      <p:sp>
        <p:nvSpPr>
          <p:cNvPr id="225" name="Google Shape;225;p2"/>
          <p:cNvSpPr/>
          <p:nvPr/>
        </p:nvSpPr>
        <p:spPr>
          <a:xfrm>
            <a:off x="5257800" y="2520950"/>
            <a:ext cx="9144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2"/>
          <p:cNvSpPr/>
          <p:nvPr/>
        </p:nvSpPr>
        <p:spPr>
          <a:xfrm>
            <a:off x="5327523" y="2573052"/>
            <a:ext cx="1369981" cy="191643"/>
          </a:xfrm>
          <a:prstGeom prst="rect">
            <a:avLst/>
          </a:prstGeom>
          <a:noFill/>
          <a:ln>
            <a:noFill/>
          </a:ln>
        </p:spPr>
        <p:txBody>
          <a:bodyPr anchorCtr="0" anchor="t" bIns="0" lIns="0" spcFirstLastPara="1" rIns="595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Unavailable -</a:t>
            </a:r>
            <a:endParaRPr b="0" i="0" sz="1400" u="none" cap="none" strike="noStrike">
              <a:solidFill>
                <a:srgbClr val="000000"/>
              </a:solidFill>
              <a:latin typeface="Arial"/>
              <a:ea typeface="Arial"/>
              <a:cs typeface="Arial"/>
              <a:sym typeface="Arial"/>
            </a:endParaRPr>
          </a:p>
        </p:txBody>
      </p:sp>
      <p:sp>
        <p:nvSpPr>
          <p:cNvPr id="227" name="Google Shape;227;p2"/>
          <p:cNvSpPr/>
          <p:nvPr/>
        </p:nvSpPr>
        <p:spPr>
          <a:xfrm>
            <a:off x="5327809" y="2720689"/>
            <a:ext cx="1369695" cy="191643"/>
          </a:xfrm>
          <a:prstGeom prst="rect">
            <a:avLst/>
          </a:prstGeom>
          <a:noFill/>
          <a:ln>
            <a:noFill/>
          </a:ln>
        </p:spPr>
        <p:txBody>
          <a:bodyPr anchorCtr="0" anchor="t" bIns="0" lIns="0" spcFirstLastPara="1" rIns="595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offer support</a:t>
            </a:r>
            <a:endParaRPr b="0" i="0" sz="1400" u="none" cap="none" strike="noStrike">
              <a:solidFill>
                <a:srgbClr val="000000"/>
              </a:solidFill>
              <a:latin typeface="Arial"/>
              <a:ea typeface="Arial"/>
              <a:cs typeface="Arial"/>
              <a:sym typeface="Arial"/>
            </a:endParaRPr>
          </a:p>
        </p:txBody>
      </p:sp>
      <p:sp>
        <p:nvSpPr>
          <p:cNvPr id="228" name="Google Shape;228;p2"/>
          <p:cNvSpPr/>
          <p:nvPr/>
        </p:nvSpPr>
        <p:spPr>
          <a:xfrm>
            <a:off x="6002655" y="28797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229" name="Google Shape;229;p2"/>
          <p:cNvSpPr/>
          <p:nvPr/>
        </p:nvSpPr>
        <p:spPr>
          <a:xfrm>
            <a:off x="52959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2"/>
          <p:cNvSpPr/>
          <p:nvPr/>
        </p:nvSpPr>
        <p:spPr>
          <a:xfrm>
            <a:off x="5340191" y="1366552"/>
            <a:ext cx="1287590" cy="191643"/>
          </a:xfrm>
          <a:prstGeom prst="rect">
            <a:avLst/>
          </a:prstGeom>
          <a:noFill/>
          <a:ln>
            <a:noFill/>
          </a:ln>
        </p:spPr>
        <p:txBody>
          <a:bodyPr anchorCtr="0" anchor="t" bIns="0" lIns="0" spcFirstLastPara="1" rIns="537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Tap 'Contact</a:t>
            </a:r>
            <a:endParaRPr b="0" i="0" sz="1400" u="none" cap="none" strike="noStrike">
              <a:solidFill>
                <a:srgbClr val="000000"/>
              </a:solidFill>
              <a:latin typeface="Arial"/>
              <a:ea typeface="Arial"/>
              <a:cs typeface="Arial"/>
              <a:sym typeface="Arial"/>
            </a:endParaRPr>
          </a:p>
        </p:txBody>
      </p:sp>
      <p:sp>
        <p:nvSpPr>
          <p:cNvPr id="231" name="Google Shape;231;p2"/>
          <p:cNvSpPr/>
          <p:nvPr/>
        </p:nvSpPr>
        <p:spPr>
          <a:xfrm>
            <a:off x="5468017" y="1514189"/>
            <a:ext cx="880872" cy="191643"/>
          </a:xfrm>
          <a:prstGeom prst="rect">
            <a:avLst/>
          </a:prstGeom>
          <a:noFill/>
          <a:ln>
            <a:noFill/>
          </a:ln>
        </p:spPr>
        <p:txBody>
          <a:bodyPr anchorCtr="0" anchor="t" bIns="0" lIns="0" spcFirstLastPara="1" rIns="3869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232" name="Google Shape;232;p2"/>
          <p:cNvSpPr/>
          <p:nvPr/>
        </p:nvSpPr>
        <p:spPr>
          <a:xfrm>
            <a:off x="5964555" y="16732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233" name="Google Shape;233;p2"/>
          <p:cNvSpPr/>
          <p:nvPr/>
        </p:nvSpPr>
        <p:spPr>
          <a:xfrm>
            <a:off x="7505700" y="3438525"/>
            <a:ext cx="9906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
          <p:cNvSpPr/>
          <p:nvPr/>
        </p:nvSpPr>
        <p:spPr>
          <a:xfrm>
            <a:off x="7515130" y="3497771"/>
            <a:ext cx="1607820" cy="191643"/>
          </a:xfrm>
          <a:prstGeom prst="rect">
            <a:avLst/>
          </a:prstGeom>
          <a:noFill/>
          <a:ln>
            <a:noFill/>
          </a:ln>
        </p:spPr>
        <p:txBody>
          <a:bodyPr anchorCtr="0" anchor="t" bIns="0" lIns="0" spcFirstLastPara="1" rIns="6360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Request preview</a:t>
            </a:r>
            <a:endParaRPr b="0" i="0" sz="1400" u="none" cap="none" strike="noStrike">
              <a:solidFill>
                <a:srgbClr val="000000"/>
              </a:solidFill>
              <a:latin typeface="Arial"/>
              <a:ea typeface="Arial"/>
              <a:cs typeface="Arial"/>
              <a:sym typeface="Arial"/>
            </a:endParaRPr>
          </a:p>
        </p:txBody>
      </p:sp>
      <p:sp>
        <p:nvSpPr>
          <p:cNvPr id="235" name="Google Shape;235;p2"/>
          <p:cNvSpPr/>
          <p:nvPr/>
        </p:nvSpPr>
        <p:spPr>
          <a:xfrm>
            <a:off x="8276177" y="3663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236" name="Google Shape;236;p2"/>
          <p:cNvSpPr/>
          <p:nvPr/>
        </p:nvSpPr>
        <p:spPr>
          <a:xfrm>
            <a:off x="6413500" y="2587625"/>
            <a:ext cx="990600" cy="361950"/>
          </a:xfrm>
          <a:prstGeom prst="roundRect">
            <a:avLst>
              <a:gd fmla="val 13158"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2"/>
          <p:cNvSpPr/>
          <p:nvPr/>
        </p:nvSpPr>
        <p:spPr>
          <a:xfrm>
            <a:off x="6431598" y="2646871"/>
            <a:ext cx="1599152" cy="191643"/>
          </a:xfrm>
          <a:prstGeom prst="rect">
            <a:avLst/>
          </a:prstGeom>
          <a:noFill/>
          <a:ln>
            <a:noFill/>
          </a:ln>
        </p:spPr>
        <p:txBody>
          <a:bodyPr anchorCtr="0" anchor="t" bIns="0" lIns="0" spcFirstLastPara="1" rIns="6447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 request</a:t>
            </a:r>
            <a:endParaRPr b="0" i="0" sz="1400" u="none" cap="none" strike="noStrike">
              <a:solidFill>
                <a:srgbClr val="000000"/>
              </a:solidFill>
              <a:latin typeface="Arial"/>
              <a:ea typeface="Arial"/>
              <a:cs typeface="Arial"/>
              <a:sym typeface="Arial"/>
            </a:endParaRPr>
          </a:p>
        </p:txBody>
      </p:sp>
      <p:sp>
        <p:nvSpPr>
          <p:cNvPr id="238" name="Google Shape;238;p2"/>
          <p:cNvSpPr/>
          <p:nvPr/>
        </p:nvSpPr>
        <p:spPr>
          <a:xfrm>
            <a:off x="7234555" y="2813082"/>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239" name="Google Shape;239;p2"/>
          <p:cNvSpPr/>
          <p:nvPr/>
        </p:nvSpPr>
        <p:spPr>
          <a:xfrm>
            <a:off x="7543800" y="5343525"/>
            <a:ext cx="9144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2"/>
          <p:cNvSpPr/>
          <p:nvPr/>
        </p:nvSpPr>
        <p:spPr>
          <a:xfrm>
            <a:off x="7551134" y="5402771"/>
            <a:ext cx="1571816" cy="191643"/>
          </a:xfrm>
          <a:prstGeom prst="rect">
            <a:avLst/>
          </a:prstGeom>
          <a:noFill/>
          <a:ln>
            <a:noFill/>
          </a:ln>
        </p:spPr>
        <p:txBody>
          <a:bodyPr anchorCtr="0" anchor="t" bIns="0" lIns="0" spcFirstLastPara="1" rIns="6720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Policy + refund</a:t>
            </a:r>
            <a:endParaRPr b="0" i="0" sz="1400" u="none" cap="none" strike="noStrike">
              <a:solidFill>
                <a:srgbClr val="000000"/>
              </a:solidFill>
              <a:latin typeface="Arial"/>
              <a:ea typeface="Arial"/>
              <a:cs typeface="Arial"/>
              <a:sym typeface="Arial"/>
            </a:endParaRPr>
          </a:p>
        </p:txBody>
      </p:sp>
      <p:sp>
        <p:nvSpPr>
          <p:cNvPr id="241" name="Google Shape;241;p2"/>
          <p:cNvSpPr/>
          <p:nvPr/>
        </p:nvSpPr>
        <p:spPr>
          <a:xfrm>
            <a:off x="8238077" y="5568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242" name="Google Shape;242;p2"/>
          <p:cNvSpPr/>
          <p:nvPr/>
        </p:nvSpPr>
        <p:spPr>
          <a:xfrm>
            <a:off x="7581900" y="2587625"/>
            <a:ext cx="838200" cy="361950"/>
          </a:xfrm>
          <a:prstGeom prst="roundRect">
            <a:avLst>
              <a:gd fmla="val 13158"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2"/>
          <p:cNvSpPr/>
          <p:nvPr/>
        </p:nvSpPr>
        <p:spPr>
          <a:xfrm>
            <a:off x="7592568" y="2646871"/>
            <a:ext cx="1460659" cy="191643"/>
          </a:xfrm>
          <a:prstGeom prst="rect">
            <a:avLst/>
          </a:prstGeom>
          <a:noFill/>
          <a:ln>
            <a:noFill/>
          </a:ln>
        </p:spPr>
        <p:txBody>
          <a:bodyPr anchorCtr="0" anchor="t" bIns="0" lIns="0" spcFirstLastPara="1" rIns="6437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Preview failed</a:t>
            </a:r>
            <a:endParaRPr b="0" i="0" sz="1400" u="none" cap="none" strike="noStrike">
              <a:solidFill>
                <a:srgbClr val="000000"/>
              </a:solidFill>
              <a:latin typeface="Arial"/>
              <a:ea typeface="Arial"/>
              <a:cs typeface="Arial"/>
              <a:sym typeface="Arial"/>
            </a:endParaRPr>
          </a:p>
        </p:txBody>
      </p:sp>
      <p:sp>
        <p:nvSpPr>
          <p:cNvPr id="244" name="Google Shape;244;p2"/>
          <p:cNvSpPr/>
          <p:nvPr/>
        </p:nvSpPr>
        <p:spPr>
          <a:xfrm>
            <a:off x="8250555" y="2813082"/>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D</a:t>
            </a:r>
            <a:endParaRPr b="0" i="0" sz="1400" u="none" cap="none" strike="noStrike">
              <a:solidFill>
                <a:srgbClr val="000000"/>
              </a:solidFill>
              <a:latin typeface="Arial"/>
              <a:ea typeface="Arial"/>
              <a:cs typeface="Arial"/>
              <a:sym typeface="Arial"/>
            </a:endParaRPr>
          </a:p>
        </p:txBody>
      </p:sp>
      <p:sp>
        <p:nvSpPr>
          <p:cNvPr id="245" name="Google Shape;245;p2"/>
          <p:cNvSpPr/>
          <p:nvPr/>
        </p:nvSpPr>
        <p:spPr>
          <a:xfrm>
            <a:off x="7524750" y="1276350"/>
            <a:ext cx="952500" cy="571500"/>
          </a:xfrm>
          <a:custGeom>
            <a:rect b="b" l="l" r="r" t="t"/>
            <a:pathLst>
              <a:path extrusionOk="0" h="571500" w="952500">
                <a:moveTo>
                  <a:pt x="476250" y="0"/>
                </a:moveTo>
                <a:lnTo>
                  <a:pt x="952500" y="285750"/>
                </a:lnTo>
                <a:lnTo>
                  <a:pt x="47625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2"/>
          <p:cNvSpPr/>
          <p:nvPr/>
        </p:nvSpPr>
        <p:spPr>
          <a:xfrm>
            <a:off x="7789450" y="1368552"/>
            <a:ext cx="812482" cy="161925"/>
          </a:xfrm>
          <a:prstGeom prst="rect">
            <a:avLst/>
          </a:prstGeom>
          <a:noFill/>
          <a:ln>
            <a:noFill/>
          </a:ln>
        </p:spPr>
        <p:txBody>
          <a:bodyPr anchorCtr="0" anchor="t" bIns="0" lIns="0" spcFirstLastPara="1" rIns="3893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Retry, or</a:t>
            </a:r>
            <a:endParaRPr b="0" i="0" sz="1400" u="none" cap="none" strike="noStrike">
              <a:solidFill>
                <a:srgbClr val="000000"/>
              </a:solidFill>
              <a:latin typeface="Arial"/>
              <a:ea typeface="Arial"/>
              <a:cs typeface="Arial"/>
              <a:sym typeface="Arial"/>
            </a:endParaRPr>
          </a:p>
        </p:txBody>
      </p:sp>
      <p:sp>
        <p:nvSpPr>
          <p:cNvPr id="247" name="Google Shape;247;p2"/>
          <p:cNvSpPr/>
          <p:nvPr/>
        </p:nvSpPr>
        <p:spPr>
          <a:xfrm>
            <a:off x="7816215" y="1497139"/>
            <a:ext cx="669131" cy="161925"/>
          </a:xfrm>
          <a:prstGeom prst="rect">
            <a:avLst/>
          </a:prstGeom>
          <a:noFill/>
          <a:ln>
            <a:noFill/>
          </a:ln>
        </p:spPr>
        <p:txBody>
          <a:bodyPr anchorCtr="0" anchor="t" bIns="0" lIns="0" spcFirstLastPara="1" rIns="2995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contact</a:t>
            </a:r>
            <a:endParaRPr b="0" i="0" sz="1400" u="none" cap="none" strike="noStrike">
              <a:solidFill>
                <a:srgbClr val="000000"/>
              </a:solidFill>
              <a:latin typeface="Arial"/>
              <a:ea typeface="Arial"/>
              <a:cs typeface="Arial"/>
              <a:sym typeface="Arial"/>
            </a:endParaRPr>
          </a:p>
        </p:txBody>
      </p:sp>
      <p:sp>
        <p:nvSpPr>
          <p:cNvPr id="248" name="Google Shape;248;p2"/>
          <p:cNvSpPr/>
          <p:nvPr/>
        </p:nvSpPr>
        <p:spPr>
          <a:xfrm>
            <a:off x="7781734" y="1625727"/>
            <a:ext cx="761905" cy="161925"/>
          </a:xfrm>
          <a:prstGeom prst="rect">
            <a:avLst/>
          </a:prstGeom>
          <a:noFill/>
          <a:ln>
            <a:noFill/>
          </a:ln>
        </p:spPr>
        <p:txBody>
          <a:bodyPr anchorCtr="0" anchor="t" bIns="0" lIns="0" spcFirstLastPara="1" rIns="3233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249" name="Google Shape;249;p2"/>
          <p:cNvSpPr/>
          <p:nvPr/>
        </p:nvSpPr>
        <p:spPr>
          <a:xfrm>
            <a:off x="8307705" y="17113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D</a:t>
            </a:r>
            <a:endParaRPr b="0" i="0" sz="1400" u="none" cap="none" strike="noStrike">
              <a:solidFill>
                <a:srgbClr val="000000"/>
              </a:solidFill>
              <a:latin typeface="Arial"/>
              <a:ea typeface="Arial"/>
              <a:cs typeface="Arial"/>
              <a:sym typeface="Arial"/>
            </a:endParaRPr>
          </a:p>
        </p:txBody>
      </p:sp>
      <p:sp>
        <p:nvSpPr>
          <p:cNvPr id="250" name="Google Shape;250;p2"/>
          <p:cNvSpPr/>
          <p:nvPr/>
        </p:nvSpPr>
        <p:spPr>
          <a:xfrm>
            <a:off x="9131300" y="3438525"/>
            <a:ext cx="9144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
          <p:cNvSpPr/>
          <p:nvPr/>
        </p:nvSpPr>
        <p:spPr>
          <a:xfrm>
            <a:off x="9101392" y="3497771"/>
            <a:ext cx="1609058" cy="191643"/>
          </a:xfrm>
          <a:prstGeom prst="rect">
            <a:avLst/>
          </a:prstGeom>
          <a:noFill/>
          <a:ln>
            <a:noFill/>
          </a:ln>
        </p:spPr>
        <p:txBody>
          <a:bodyPr anchorCtr="0" anchor="t" bIns="0" lIns="0" spcFirstLastPara="1" rIns="6348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Review + reason</a:t>
            </a:r>
            <a:endParaRPr b="0" i="0" sz="1400" u="none" cap="none" strike="noStrike">
              <a:solidFill>
                <a:srgbClr val="000000"/>
              </a:solidFill>
              <a:latin typeface="Arial"/>
              <a:ea typeface="Arial"/>
              <a:cs typeface="Arial"/>
              <a:sym typeface="Arial"/>
            </a:endParaRPr>
          </a:p>
        </p:txBody>
      </p:sp>
      <p:sp>
        <p:nvSpPr>
          <p:cNvPr id="252" name="Google Shape;252;p2"/>
          <p:cNvSpPr/>
          <p:nvPr/>
        </p:nvSpPr>
        <p:spPr>
          <a:xfrm>
            <a:off x="9825577" y="3663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253" name="Google Shape;253;p2"/>
          <p:cNvSpPr/>
          <p:nvPr/>
        </p:nvSpPr>
        <p:spPr>
          <a:xfrm>
            <a:off x="10375900" y="3352800"/>
            <a:ext cx="838200" cy="533400"/>
          </a:xfrm>
          <a:custGeom>
            <a:rect b="b" l="l" r="r" t="t"/>
            <a:pathLst>
              <a:path extrusionOk="0" h="533400" w="838200">
                <a:moveTo>
                  <a:pt x="419100" y="0"/>
                </a:moveTo>
                <a:lnTo>
                  <a:pt x="838200" y="266700"/>
                </a:lnTo>
                <a:lnTo>
                  <a:pt x="419100" y="533400"/>
                </a:lnTo>
                <a:lnTo>
                  <a:pt x="0" y="26670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2"/>
          <p:cNvSpPr/>
          <p:nvPr/>
        </p:nvSpPr>
        <p:spPr>
          <a:xfrm>
            <a:off x="10490867" y="3490246"/>
            <a:ext cx="1021652" cy="161925"/>
          </a:xfrm>
          <a:prstGeom prst="rect">
            <a:avLst/>
          </a:prstGeom>
          <a:noFill/>
          <a:ln>
            <a:noFill/>
          </a:ln>
        </p:spPr>
        <p:txBody>
          <a:bodyPr anchorCtr="0" anchor="t" bIns="0" lIns="0" spcFirstLastPara="1" rIns="4133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Refund = 0?</a:t>
            </a:r>
            <a:endParaRPr b="0" i="0" sz="1400" u="none" cap="none" strike="noStrike">
              <a:solidFill>
                <a:srgbClr val="000000"/>
              </a:solidFill>
              <a:latin typeface="Arial"/>
              <a:ea typeface="Arial"/>
              <a:cs typeface="Arial"/>
              <a:sym typeface="Arial"/>
            </a:endParaRPr>
          </a:p>
        </p:txBody>
      </p:sp>
      <p:sp>
        <p:nvSpPr>
          <p:cNvPr id="255" name="Google Shape;255;p2"/>
          <p:cNvSpPr/>
          <p:nvPr/>
        </p:nvSpPr>
        <p:spPr>
          <a:xfrm>
            <a:off x="10692606" y="3618833"/>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256" name="Google Shape;256;p2"/>
          <p:cNvSpPr/>
          <p:nvPr/>
        </p:nvSpPr>
        <p:spPr>
          <a:xfrm>
            <a:off x="10233025" y="4222750"/>
            <a:ext cx="1123950" cy="495300"/>
          </a:xfrm>
          <a:prstGeom prst="roundRect">
            <a:avLst>
              <a:gd fmla="val 9615" name="adj"/>
            </a:avLst>
          </a:prstGeom>
          <a:solidFill>
            <a:srgbClr val="FBF3E6"/>
          </a:solidFill>
          <a:ln cap="flat" cmpd="sng" w="11425">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
          <p:cNvSpPr/>
          <p:nvPr/>
        </p:nvSpPr>
        <p:spPr>
          <a:xfrm>
            <a:off x="10247884" y="4274852"/>
            <a:ext cx="1878235" cy="191643"/>
          </a:xfrm>
          <a:prstGeom prst="rect">
            <a:avLst/>
          </a:prstGeom>
          <a:noFill/>
          <a:ln>
            <a:noFill/>
          </a:ln>
        </p:spPr>
        <p:txBody>
          <a:bodyPr anchorCtr="0" anchor="t" bIns="0" lIns="0" spcFirstLastPara="1" rIns="7840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refund. Cancel</a:t>
            </a:r>
            <a:endParaRPr b="0" i="0" sz="1400" u="none" cap="none" strike="noStrike">
              <a:solidFill>
                <a:srgbClr val="000000"/>
              </a:solidFill>
              <a:latin typeface="Arial"/>
              <a:ea typeface="Arial"/>
              <a:cs typeface="Arial"/>
              <a:sym typeface="Arial"/>
            </a:endParaRPr>
          </a:p>
        </p:txBody>
      </p:sp>
      <p:sp>
        <p:nvSpPr>
          <p:cNvPr id="258" name="Google Shape;258;p2"/>
          <p:cNvSpPr/>
          <p:nvPr/>
        </p:nvSpPr>
        <p:spPr>
          <a:xfrm>
            <a:off x="10313987" y="4422489"/>
            <a:ext cx="1672685" cy="191643"/>
          </a:xfrm>
          <a:prstGeom prst="rect">
            <a:avLst/>
          </a:prstGeom>
          <a:noFill/>
          <a:ln>
            <a:noFill/>
          </a:ln>
        </p:spPr>
        <p:txBody>
          <a:bodyPr anchorCtr="0" anchor="t" bIns="0" lIns="0" spcFirstLastPara="1" rIns="7106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without refund?'</a:t>
            </a:r>
            <a:endParaRPr b="0" i="0" sz="1400" u="none" cap="none" strike="noStrike">
              <a:solidFill>
                <a:srgbClr val="000000"/>
              </a:solidFill>
              <a:latin typeface="Arial"/>
              <a:ea typeface="Arial"/>
              <a:cs typeface="Arial"/>
              <a:sym typeface="Arial"/>
            </a:endParaRPr>
          </a:p>
        </p:txBody>
      </p:sp>
      <p:sp>
        <p:nvSpPr>
          <p:cNvPr id="259" name="Google Shape;259;p2"/>
          <p:cNvSpPr/>
          <p:nvPr/>
        </p:nvSpPr>
        <p:spPr>
          <a:xfrm>
            <a:off x="11187430" y="45815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A</a:t>
            </a:r>
            <a:endParaRPr b="0" i="0" sz="1400" u="none" cap="none" strike="noStrike">
              <a:solidFill>
                <a:srgbClr val="000000"/>
              </a:solidFill>
              <a:latin typeface="Arial"/>
              <a:ea typeface="Arial"/>
              <a:cs typeface="Arial"/>
              <a:sym typeface="Arial"/>
            </a:endParaRPr>
          </a:p>
        </p:txBody>
      </p:sp>
      <p:sp>
        <p:nvSpPr>
          <p:cNvPr id="260" name="Google Shape;260;p2"/>
          <p:cNvSpPr/>
          <p:nvPr/>
        </p:nvSpPr>
        <p:spPr>
          <a:xfrm>
            <a:off x="10356850" y="1276350"/>
            <a:ext cx="876300" cy="571500"/>
          </a:xfrm>
          <a:custGeom>
            <a:rect b="b" l="l" r="r" t="t"/>
            <a:pathLst>
              <a:path extrusionOk="0" h="571500" w="876300">
                <a:moveTo>
                  <a:pt x="438150" y="0"/>
                </a:moveTo>
                <a:lnTo>
                  <a:pt x="876300" y="285750"/>
                </a:lnTo>
                <a:lnTo>
                  <a:pt x="43815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2"/>
          <p:cNvSpPr/>
          <p:nvPr/>
        </p:nvSpPr>
        <p:spPr>
          <a:xfrm>
            <a:off x="10599642" y="1432846"/>
            <a:ext cx="679704" cy="161925"/>
          </a:xfrm>
          <a:prstGeom prst="rect">
            <a:avLst/>
          </a:prstGeom>
          <a:noFill/>
          <a:ln>
            <a:noFill/>
          </a:ln>
        </p:spPr>
        <p:txBody>
          <a:bodyPr anchorCtr="0" anchor="t" bIns="0" lIns="0" spcFirstLastPara="1" rIns="288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Keep or</a:t>
            </a:r>
            <a:endParaRPr b="0" i="0" sz="1400" u="none" cap="none" strike="noStrike">
              <a:solidFill>
                <a:srgbClr val="000000"/>
              </a:solidFill>
              <a:latin typeface="Arial"/>
              <a:ea typeface="Arial"/>
              <a:cs typeface="Arial"/>
              <a:sym typeface="Arial"/>
            </a:endParaRPr>
          </a:p>
        </p:txBody>
      </p:sp>
      <p:sp>
        <p:nvSpPr>
          <p:cNvPr id="262" name="Google Shape;262;p2"/>
          <p:cNvSpPr/>
          <p:nvPr/>
        </p:nvSpPr>
        <p:spPr>
          <a:xfrm>
            <a:off x="10579068" y="1561433"/>
            <a:ext cx="758571" cy="161925"/>
          </a:xfrm>
          <a:prstGeom prst="rect">
            <a:avLst/>
          </a:prstGeom>
          <a:noFill/>
          <a:ln>
            <a:noFill/>
          </a:ln>
        </p:spPr>
        <p:txBody>
          <a:bodyPr anchorCtr="0" anchor="t" bIns="0" lIns="0" spcFirstLastPara="1" rIns="32670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confirm?</a:t>
            </a:r>
            <a:endParaRPr b="0" i="0" sz="1400" u="none" cap="none" strike="noStrike">
              <a:solidFill>
                <a:srgbClr val="000000"/>
              </a:solidFill>
              <a:latin typeface="Arial"/>
              <a:ea typeface="Arial"/>
              <a:cs typeface="Arial"/>
              <a:sym typeface="Arial"/>
            </a:endParaRPr>
          </a:p>
        </p:txBody>
      </p:sp>
      <p:sp>
        <p:nvSpPr>
          <p:cNvPr id="263" name="Google Shape;263;p2"/>
          <p:cNvSpPr/>
          <p:nvPr/>
        </p:nvSpPr>
        <p:spPr>
          <a:xfrm>
            <a:off x="11013027" y="17113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grpSp>
        <p:nvGrpSpPr>
          <p:cNvPr id="264" name="Google Shape;264;p2"/>
          <p:cNvGrpSpPr/>
          <p:nvPr/>
        </p:nvGrpSpPr>
        <p:grpSpPr>
          <a:xfrm>
            <a:off x="604838" y="6242018"/>
            <a:ext cx="5498116" cy="333375"/>
            <a:chOff x="604838" y="6242018"/>
            <a:chExt cx="5498116" cy="333375"/>
          </a:xfrm>
        </p:grpSpPr>
        <p:sp>
          <p:nvSpPr>
            <p:cNvPr id="265" name="Google Shape;265;p2"/>
            <p:cNvSpPr/>
            <p:nvPr/>
          </p:nvSpPr>
          <p:spPr>
            <a:xfrm>
              <a:off x="604838" y="6242018"/>
              <a:ext cx="5498116" cy="161925"/>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6B6F66"/>
                  </a:solidFill>
                  <a:latin typeface="Quattrocento Sans"/>
                  <a:ea typeface="Quattrocento Sans"/>
                  <a:cs typeface="Quattrocento Sans"/>
                  <a:sym typeface="Quattrocento Sans"/>
                </a:rPr>
                <a:t>Diamond = decision · red = stop state · green = final state · dashed = return or recheck path</a:t>
              </a:r>
              <a:endParaRPr b="0" i="0" sz="1400" u="none" cap="none" strike="noStrike">
                <a:solidFill>
                  <a:srgbClr val="000000"/>
                </a:solidFill>
                <a:latin typeface="Arial"/>
                <a:ea typeface="Arial"/>
                <a:cs typeface="Arial"/>
                <a:sym typeface="Arial"/>
              </a:endParaRPr>
            </a:p>
          </p:txBody>
        </p:sp>
        <p:sp>
          <p:nvSpPr>
            <p:cNvPr id="266" name="Google Shape;266;p2"/>
            <p:cNvSpPr/>
            <p:nvPr/>
          </p:nvSpPr>
          <p:spPr>
            <a:xfrm>
              <a:off x="604838" y="6413468"/>
              <a:ext cx="5498116" cy="161925"/>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6B6F66"/>
                  </a:solidFill>
                  <a:latin typeface="Quattrocento Sans"/>
                  <a:ea typeface="Quattrocento Sans"/>
                  <a:cs typeface="Quattrocento Sans"/>
                  <a:sym typeface="Quattrocento Sans"/>
                </a:rPr>
                <a:t>S1-S9 = journey step ids · A-D = exception branches · W1-W7 = wireframe screens (Slides 8-12)</a:t>
              </a:r>
              <a:endParaRPr b="0" i="0" sz="1400" u="none" cap="none" strike="noStrike">
                <a:solidFill>
                  <a:srgbClr val="000000"/>
                </a:solidFill>
                <a:latin typeface="Arial"/>
                <a:ea typeface="Arial"/>
                <a:cs typeface="Arial"/>
                <a:sym typeface="Arial"/>
              </a:endParaRPr>
            </a:p>
          </p:txBody>
        </p:sp>
      </p:grpSp>
      <p:sp>
        <p:nvSpPr>
          <p:cNvPr id="267" name="Google Shape;267;p2"/>
          <p:cNvSpPr/>
          <p:nvPr/>
        </p:nvSpPr>
        <p:spPr>
          <a:xfrm>
            <a:off x="11436858" y="65976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4</a:t>
            </a:r>
            <a:endParaRPr b="0" i="0" sz="1400" u="none" cap="none" strike="noStrike">
              <a:solidFill>
                <a:srgbClr val="000000"/>
              </a:solidFill>
              <a:latin typeface="Arial"/>
              <a:ea typeface="Arial"/>
              <a:cs typeface="Arial"/>
              <a:sym typeface="Arial"/>
            </a:endParaRPr>
          </a:p>
        </p:txBody>
      </p:sp>
      <p:sp>
        <p:nvSpPr>
          <p:cNvPr id="268" name="Google Shape;268;p2"/>
          <p:cNvSpPr/>
          <p:nvPr/>
        </p:nvSpPr>
        <p:spPr>
          <a:xfrm>
            <a:off x="604838" y="845820"/>
            <a:ext cx="1905000" cy="155258"/>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4A7C6F"/>
                </a:solidFill>
                <a:latin typeface="Quattrocento Sans"/>
                <a:ea typeface="Quattrocento Sans"/>
                <a:cs typeface="Quattrocento Sans"/>
                <a:sym typeface="Quattrocento Sans"/>
              </a:rPr>
              <a:t>decision continues on Slide 5</a:t>
            </a:r>
            <a:endParaRPr b="0" i="0" sz="1400" u="none" cap="none" strike="noStrike">
              <a:solidFill>
                <a:srgbClr val="000000"/>
              </a:solidFill>
              <a:latin typeface="Arial"/>
              <a:ea typeface="Arial"/>
              <a:cs typeface="Arial"/>
              <a:sym typeface="Arial"/>
            </a:endParaRPr>
          </a:p>
        </p:txBody>
      </p:sp>
      <p:sp>
        <p:nvSpPr>
          <p:cNvPr id="269" name="Google Shape;269;p2"/>
          <p:cNvSpPr/>
          <p:nvPr/>
        </p:nvSpPr>
        <p:spPr>
          <a:xfrm>
            <a:off x="1778000" y="1809750"/>
            <a:ext cx="127" cy="1562100"/>
          </a:xfrm>
          <a:custGeom>
            <a:rect b="b" l="l" r="r" t="t"/>
            <a:pathLst>
              <a:path extrusionOk="0" h="1562100" w="127">
                <a:moveTo>
                  <a:pt x="0" y="0"/>
                </a:moveTo>
                <a:lnTo>
                  <a:pt x="0" y="15621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2"/>
          <p:cNvSpPr/>
          <p:nvPr/>
        </p:nvSpPr>
        <p:spPr>
          <a:xfrm>
            <a:off x="1778000" y="3867150"/>
            <a:ext cx="127" cy="1476300"/>
          </a:xfrm>
          <a:custGeom>
            <a:rect b="b" l="l" r="r" t="t"/>
            <a:pathLst>
              <a:path extrusionOk="0" h="1476300" w="127">
                <a:moveTo>
                  <a:pt x="0" y="0"/>
                </a:moveTo>
                <a:lnTo>
                  <a:pt x="0" y="14763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2"/>
          <p:cNvSpPr/>
          <p:nvPr/>
        </p:nvSpPr>
        <p:spPr>
          <a:xfrm>
            <a:off x="2235200" y="3867150"/>
            <a:ext cx="558800" cy="1657350"/>
          </a:xfrm>
          <a:custGeom>
            <a:rect b="b" l="l" r="r" t="t"/>
            <a:pathLst>
              <a:path extrusionOk="0" h="1657350" w="558800">
                <a:moveTo>
                  <a:pt x="0" y="1657350"/>
                </a:moveTo>
                <a:lnTo>
                  <a:pt x="558800" y="1657350"/>
                </a:lnTo>
                <a:lnTo>
                  <a:pt x="5588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2"/>
          <p:cNvSpPr/>
          <p:nvPr/>
        </p:nvSpPr>
        <p:spPr>
          <a:xfrm>
            <a:off x="2794000" y="1809750"/>
            <a:ext cx="127" cy="1562100"/>
          </a:xfrm>
          <a:custGeom>
            <a:rect b="b" l="l" r="r" t="t"/>
            <a:pathLst>
              <a:path extrusionOk="0" h="1562100" w="127">
                <a:moveTo>
                  <a:pt x="0" y="1562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2"/>
          <p:cNvSpPr/>
          <p:nvPr/>
        </p:nvSpPr>
        <p:spPr>
          <a:xfrm>
            <a:off x="3213100" y="1562100"/>
            <a:ext cx="850900" cy="1771650"/>
          </a:xfrm>
          <a:custGeom>
            <a:rect b="b" l="l" r="r" t="t"/>
            <a:pathLst>
              <a:path extrusionOk="0" h="1771650" w="850900">
                <a:moveTo>
                  <a:pt x="0" y="0"/>
                </a:moveTo>
                <a:lnTo>
                  <a:pt x="850900" y="0"/>
                </a:lnTo>
                <a:lnTo>
                  <a:pt x="850900" y="17716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
          <p:cNvSpPr/>
          <p:nvPr/>
        </p:nvSpPr>
        <p:spPr>
          <a:xfrm>
            <a:off x="4064000" y="3905250"/>
            <a:ext cx="127" cy="317500"/>
          </a:xfrm>
          <a:custGeom>
            <a:rect b="b" l="l" r="r" t="t"/>
            <a:pathLst>
              <a:path extrusionOk="0" h="317500" w="127">
                <a:moveTo>
                  <a:pt x="0" y="0"/>
                </a:moveTo>
                <a:lnTo>
                  <a:pt x="0" y="3175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2"/>
          <p:cNvSpPr/>
          <p:nvPr/>
        </p:nvSpPr>
        <p:spPr>
          <a:xfrm>
            <a:off x="4521200" y="3619500"/>
            <a:ext cx="736600" cy="127"/>
          </a:xfrm>
          <a:custGeom>
            <a:rect b="b" l="l" r="r" t="t"/>
            <a:pathLst>
              <a:path extrusionOk="0" h="127" w="736600">
                <a:moveTo>
                  <a:pt x="0" y="0"/>
                </a:moveTo>
                <a:lnTo>
                  <a:pt x="7366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2"/>
          <p:cNvSpPr/>
          <p:nvPr/>
        </p:nvSpPr>
        <p:spPr>
          <a:xfrm>
            <a:off x="5715000" y="3016250"/>
            <a:ext cx="127" cy="317500"/>
          </a:xfrm>
          <a:custGeom>
            <a:rect b="b" l="l" r="r" t="t"/>
            <a:pathLst>
              <a:path extrusionOk="0" h="317500" w="127">
                <a:moveTo>
                  <a:pt x="0" y="3175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2"/>
          <p:cNvSpPr/>
          <p:nvPr/>
        </p:nvSpPr>
        <p:spPr>
          <a:xfrm>
            <a:off x="5715000" y="1809750"/>
            <a:ext cx="127" cy="711200"/>
          </a:xfrm>
          <a:custGeom>
            <a:rect b="b" l="l" r="r" t="t"/>
            <a:pathLst>
              <a:path extrusionOk="0" h="711200" w="127">
                <a:moveTo>
                  <a:pt x="0" y="7112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2"/>
          <p:cNvSpPr/>
          <p:nvPr/>
        </p:nvSpPr>
        <p:spPr>
          <a:xfrm>
            <a:off x="6134100" y="1562100"/>
            <a:ext cx="457200" cy="1025525"/>
          </a:xfrm>
          <a:custGeom>
            <a:rect b="b" l="l" r="r" t="t"/>
            <a:pathLst>
              <a:path extrusionOk="0" h="1025525" w="457200">
                <a:moveTo>
                  <a:pt x="0" y="0"/>
                </a:moveTo>
                <a:lnTo>
                  <a:pt x="457200" y="0"/>
                </a:lnTo>
                <a:lnTo>
                  <a:pt x="457200" y="102552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
          <p:cNvSpPr/>
          <p:nvPr/>
        </p:nvSpPr>
        <p:spPr>
          <a:xfrm>
            <a:off x="6172200" y="3619500"/>
            <a:ext cx="1333500" cy="127"/>
          </a:xfrm>
          <a:custGeom>
            <a:rect b="b" l="l" r="r" t="t"/>
            <a:pathLst>
              <a:path extrusionOk="0" h="127" w="1333500">
                <a:moveTo>
                  <a:pt x="0" y="0"/>
                </a:moveTo>
                <a:lnTo>
                  <a:pt x="13335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0" name="Google Shape;280;p2"/>
          <p:cNvSpPr/>
          <p:nvPr/>
        </p:nvSpPr>
        <p:spPr>
          <a:xfrm>
            <a:off x="8001000" y="2949575"/>
            <a:ext cx="127" cy="488950"/>
          </a:xfrm>
          <a:custGeom>
            <a:rect b="b" l="l" r="r" t="t"/>
            <a:pathLst>
              <a:path extrusionOk="0" h="488950" w="127">
                <a:moveTo>
                  <a:pt x="0" y="48895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
          <p:cNvSpPr/>
          <p:nvPr/>
        </p:nvSpPr>
        <p:spPr>
          <a:xfrm>
            <a:off x="8001000" y="1847850"/>
            <a:ext cx="127" cy="739775"/>
          </a:xfrm>
          <a:custGeom>
            <a:rect b="b" l="l" r="r" t="t"/>
            <a:pathLst>
              <a:path extrusionOk="0" h="739775" w="127">
                <a:moveTo>
                  <a:pt x="0" y="739775"/>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2"/>
          <p:cNvSpPr/>
          <p:nvPr/>
        </p:nvSpPr>
        <p:spPr>
          <a:xfrm>
            <a:off x="7188200" y="1562100"/>
            <a:ext cx="336550" cy="1025525"/>
          </a:xfrm>
          <a:custGeom>
            <a:rect b="b" l="l" r="r" t="t"/>
            <a:pathLst>
              <a:path extrusionOk="0" h="1025525" w="336550">
                <a:moveTo>
                  <a:pt x="336550" y="0"/>
                </a:moveTo>
                <a:lnTo>
                  <a:pt x="0" y="0"/>
                </a:lnTo>
                <a:lnTo>
                  <a:pt x="0" y="1025525"/>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3" name="Google Shape;283;p2"/>
          <p:cNvSpPr/>
          <p:nvPr/>
        </p:nvSpPr>
        <p:spPr>
          <a:xfrm>
            <a:off x="8477250" y="1562100"/>
            <a:ext cx="171450" cy="2057400"/>
          </a:xfrm>
          <a:custGeom>
            <a:rect b="b" l="l" r="r" t="t"/>
            <a:pathLst>
              <a:path extrusionOk="0" h="2057400" w="171450">
                <a:moveTo>
                  <a:pt x="0" y="0"/>
                </a:moveTo>
                <a:lnTo>
                  <a:pt x="171450" y="0"/>
                </a:lnTo>
                <a:lnTo>
                  <a:pt x="171450" y="2057400"/>
                </a:lnTo>
                <a:lnTo>
                  <a:pt x="19050" y="205740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p2"/>
          <p:cNvSpPr/>
          <p:nvPr/>
        </p:nvSpPr>
        <p:spPr>
          <a:xfrm>
            <a:off x="8001000" y="3800475"/>
            <a:ext cx="127" cy="1543050"/>
          </a:xfrm>
          <a:custGeom>
            <a:rect b="b" l="l" r="r" t="t"/>
            <a:pathLst>
              <a:path extrusionOk="0" h="1543050" w="127">
                <a:moveTo>
                  <a:pt x="0" y="0"/>
                </a:moveTo>
                <a:lnTo>
                  <a:pt x="0" y="15430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5" name="Google Shape;285;p2"/>
          <p:cNvSpPr/>
          <p:nvPr/>
        </p:nvSpPr>
        <p:spPr>
          <a:xfrm>
            <a:off x="8458200" y="3800475"/>
            <a:ext cx="1130300" cy="1724025"/>
          </a:xfrm>
          <a:custGeom>
            <a:rect b="b" l="l" r="r" t="t"/>
            <a:pathLst>
              <a:path extrusionOk="0" h="1724025" w="1130300">
                <a:moveTo>
                  <a:pt x="0" y="1724025"/>
                </a:moveTo>
                <a:lnTo>
                  <a:pt x="1130300" y="1724025"/>
                </a:lnTo>
                <a:lnTo>
                  <a:pt x="11303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2"/>
          <p:cNvSpPr/>
          <p:nvPr/>
        </p:nvSpPr>
        <p:spPr>
          <a:xfrm>
            <a:off x="10045700" y="3619500"/>
            <a:ext cx="330200" cy="127"/>
          </a:xfrm>
          <a:custGeom>
            <a:rect b="b" l="l" r="r" t="t"/>
            <a:pathLst>
              <a:path extrusionOk="0" h="127" w="330200">
                <a:moveTo>
                  <a:pt x="0" y="0"/>
                </a:moveTo>
                <a:lnTo>
                  <a:pt x="3302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2"/>
          <p:cNvSpPr/>
          <p:nvPr/>
        </p:nvSpPr>
        <p:spPr>
          <a:xfrm>
            <a:off x="10795000" y="3886200"/>
            <a:ext cx="127" cy="336550"/>
          </a:xfrm>
          <a:custGeom>
            <a:rect b="b" l="l" r="r" t="t"/>
            <a:pathLst>
              <a:path extrusionOk="0" h="336550" w="127">
                <a:moveTo>
                  <a:pt x="0" y="0"/>
                </a:moveTo>
                <a:lnTo>
                  <a:pt x="0" y="3365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8" name="Google Shape;288;p2"/>
          <p:cNvSpPr/>
          <p:nvPr/>
        </p:nvSpPr>
        <p:spPr>
          <a:xfrm>
            <a:off x="10795000" y="1847850"/>
            <a:ext cx="127" cy="1504950"/>
          </a:xfrm>
          <a:custGeom>
            <a:rect b="b" l="l" r="r" t="t"/>
            <a:pathLst>
              <a:path extrusionOk="0" h="1504950" w="127">
                <a:moveTo>
                  <a:pt x="0" y="150495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9" name="Google Shape;289;p2"/>
          <p:cNvSpPr/>
          <p:nvPr/>
        </p:nvSpPr>
        <p:spPr>
          <a:xfrm>
            <a:off x="11233150" y="1562100"/>
            <a:ext cx="276225" cy="2908300"/>
          </a:xfrm>
          <a:custGeom>
            <a:rect b="b" l="l" r="r" t="t"/>
            <a:pathLst>
              <a:path extrusionOk="0" h="2908300" w="276225">
                <a:moveTo>
                  <a:pt x="123825" y="2908300"/>
                </a:moveTo>
                <a:lnTo>
                  <a:pt x="276225" y="2908300"/>
                </a:lnTo>
                <a:lnTo>
                  <a:pt x="276225" y="0"/>
                </a:ln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2"/>
          <p:cNvSpPr/>
          <p:nvPr/>
        </p:nvSpPr>
        <p:spPr>
          <a:xfrm>
            <a:off x="1816100" y="4535450"/>
            <a:ext cx="45846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refresh</a:t>
            </a:r>
            <a:endParaRPr b="0" i="0" sz="1400" u="none" cap="none" strike="noStrike">
              <a:solidFill>
                <a:srgbClr val="000000"/>
              </a:solidFill>
              <a:latin typeface="Arial"/>
              <a:ea typeface="Arial"/>
              <a:cs typeface="Arial"/>
              <a:sym typeface="Arial"/>
            </a:endParaRPr>
          </a:p>
        </p:txBody>
      </p:sp>
      <p:sp>
        <p:nvSpPr>
          <p:cNvPr id="291" name="Google Shape;291;p2"/>
          <p:cNvSpPr/>
          <p:nvPr/>
        </p:nvSpPr>
        <p:spPr>
          <a:xfrm>
            <a:off x="4102100" y="3994150"/>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292" name="Google Shape;292;p2"/>
          <p:cNvSpPr/>
          <p:nvPr/>
        </p:nvSpPr>
        <p:spPr>
          <a:xfrm>
            <a:off x="4796790" y="3467100"/>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293" name="Google Shape;293;p2"/>
          <p:cNvSpPr/>
          <p:nvPr/>
        </p:nvSpPr>
        <p:spPr>
          <a:xfrm>
            <a:off x="5753100" y="3105150"/>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294" name="Google Shape;294;p2"/>
          <p:cNvSpPr/>
          <p:nvPr/>
        </p:nvSpPr>
        <p:spPr>
          <a:xfrm>
            <a:off x="6718934" y="3467100"/>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295" name="Google Shape;295;p2"/>
          <p:cNvSpPr/>
          <p:nvPr/>
        </p:nvSpPr>
        <p:spPr>
          <a:xfrm>
            <a:off x="8039100" y="3124200"/>
            <a:ext cx="3492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fails</a:t>
            </a:r>
            <a:endParaRPr b="0" i="0" sz="1400" u="none" cap="none" strike="noStrike">
              <a:solidFill>
                <a:srgbClr val="000000"/>
              </a:solidFill>
              <a:latin typeface="Arial"/>
              <a:ea typeface="Arial"/>
              <a:cs typeface="Arial"/>
              <a:sym typeface="Arial"/>
            </a:endParaRPr>
          </a:p>
        </p:txBody>
      </p:sp>
      <p:sp>
        <p:nvSpPr>
          <p:cNvPr id="296" name="Google Shape;296;p2"/>
          <p:cNvSpPr/>
          <p:nvPr/>
        </p:nvSpPr>
        <p:spPr>
          <a:xfrm>
            <a:off x="7226300" y="2005012"/>
            <a:ext cx="45846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297" name="Google Shape;297;p2"/>
          <p:cNvSpPr/>
          <p:nvPr/>
        </p:nvSpPr>
        <p:spPr>
          <a:xfrm>
            <a:off x="8686800" y="2520950"/>
            <a:ext cx="3492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retry</a:t>
            </a:r>
            <a:endParaRPr b="0" i="0" sz="1400" u="none" cap="none" strike="noStrike">
              <a:solidFill>
                <a:srgbClr val="000000"/>
              </a:solidFill>
              <a:latin typeface="Arial"/>
              <a:ea typeface="Arial"/>
              <a:cs typeface="Arial"/>
              <a:sym typeface="Arial"/>
            </a:endParaRPr>
          </a:p>
        </p:txBody>
      </p:sp>
      <p:sp>
        <p:nvSpPr>
          <p:cNvPr id="298" name="Google Shape;298;p2"/>
          <p:cNvSpPr/>
          <p:nvPr/>
        </p:nvSpPr>
        <p:spPr>
          <a:xfrm>
            <a:off x="8655050" y="4592637"/>
            <a:ext cx="8953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policy + refund</a:t>
            </a:r>
            <a:endParaRPr b="0" i="0" sz="1400" u="none" cap="none" strike="noStrike">
              <a:solidFill>
                <a:srgbClr val="000000"/>
              </a:solidFill>
              <a:latin typeface="Arial"/>
              <a:ea typeface="Arial"/>
              <a:cs typeface="Arial"/>
              <a:sym typeface="Arial"/>
            </a:endParaRPr>
          </a:p>
        </p:txBody>
      </p:sp>
      <p:sp>
        <p:nvSpPr>
          <p:cNvPr id="299" name="Google Shape;299;p2"/>
          <p:cNvSpPr/>
          <p:nvPr/>
        </p:nvSpPr>
        <p:spPr>
          <a:xfrm>
            <a:off x="10833100" y="3984625"/>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300" name="Google Shape;300;p2"/>
          <p:cNvSpPr/>
          <p:nvPr/>
        </p:nvSpPr>
        <p:spPr>
          <a:xfrm>
            <a:off x="10833100" y="2530475"/>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301" name="Google Shape;301;p2"/>
          <p:cNvSpPr/>
          <p:nvPr/>
        </p:nvSpPr>
        <p:spPr>
          <a:xfrm>
            <a:off x="10096500" y="4762500"/>
            <a:ext cx="133223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'Cancel without refund'</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305" name="Shape 305"/>
        <p:cNvGrpSpPr/>
        <p:nvPr/>
      </p:nvGrpSpPr>
      <p:grpSpPr>
        <a:xfrm>
          <a:off x="0" y="0"/>
          <a:ext cx="0" cy="0"/>
          <a:chOff x="0" y="0"/>
          <a:chExt cx="0" cy="0"/>
        </a:xfrm>
      </p:grpSpPr>
      <p:grpSp>
        <p:nvGrpSpPr>
          <p:cNvPr id="306" name="Google Shape;306;p3"/>
          <p:cNvGrpSpPr/>
          <p:nvPr/>
        </p:nvGrpSpPr>
        <p:grpSpPr>
          <a:xfrm>
            <a:off x="596646" y="171450"/>
            <a:ext cx="9688068" cy="642557"/>
            <a:chOff x="596646" y="171450"/>
            <a:chExt cx="9688068" cy="642557"/>
          </a:xfrm>
        </p:grpSpPr>
        <p:sp>
          <p:nvSpPr>
            <p:cNvPr id="307" name="Google Shape;307;p3"/>
            <p:cNvSpPr txBox="1"/>
            <p:nvPr/>
          </p:nvSpPr>
          <p:spPr>
            <a:xfrm>
              <a:off x="604838" y="171450"/>
              <a:ext cx="358011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CUSTOMER JOURNEY · FLOW DIAGRAM</a:t>
              </a:r>
              <a:endParaRPr b="0" i="0" sz="1400" u="none" cap="none" strike="noStrike">
                <a:solidFill>
                  <a:srgbClr val="000000"/>
                </a:solidFill>
                <a:latin typeface="Arial"/>
                <a:ea typeface="Arial"/>
                <a:cs typeface="Arial"/>
                <a:sym typeface="Arial"/>
              </a:endParaRPr>
            </a:p>
          </p:txBody>
        </p:sp>
        <p:sp>
          <p:nvSpPr>
            <p:cNvPr id="308" name="Google Shape;308;p3"/>
            <p:cNvSpPr/>
            <p:nvPr/>
          </p:nvSpPr>
          <p:spPr>
            <a:xfrm>
              <a:off x="596646" y="260318"/>
              <a:ext cx="9688068" cy="498729"/>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2550"/>
                <a:buFont typeface="Arial"/>
                <a:buNone/>
              </a:pPr>
              <a:r>
                <a:rPr b="0" i="0" lang="en" sz="2550" u="none" cap="none" strike="noStrike">
                  <a:solidFill>
                    <a:srgbClr val="0B3D36"/>
                  </a:solidFill>
                  <a:latin typeface="Garamond"/>
                  <a:ea typeface="Garamond"/>
                  <a:cs typeface="Garamond"/>
                  <a:sym typeface="Garamond"/>
                </a:rPr>
                <a:t>The cancellation journey, part 2: decision to outcome</a:t>
              </a:r>
              <a:endParaRPr b="0" i="0" sz="1400" u="none" cap="none" strike="noStrike">
                <a:solidFill>
                  <a:srgbClr val="000000"/>
                </a:solidFill>
                <a:latin typeface="Arial"/>
                <a:ea typeface="Arial"/>
                <a:cs typeface="Arial"/>
                <a:sym typeface="Arial"/>
              </a:endParaRPr>
            </a:p>
          </p:txBody>
        </p:sp>
        <p:sp>
          <p:nvSpPr>
            <p:cNvPr id="309" name="Google Shape;309;p3"/>
            <p:cNvSpPr/>
            <p:nvPr/>
          </p:nvSpPr>
          <p:spPr>
            <a:xfrm>
              <a:off x="604456" y="615982"/>
              <a:ext cx="7907750" cy="198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0"/>
                <a:buFont typeface="Arial"/>
                <a:buNone/>
              </a:pPr>
              <a:r>
                <a:rPr b="0" i="0" lang="en" sz="1010" u="none" cap="none" strike="noStrike">
                  <a:solidFill>
                    <a:srgbClr val="6B6F66"/>
                  </a:solidFill>
                  <a:latin typeface="Quattrocento Sans"/>
                  <a:ea typeface="Quattrocento Sans"/>
                  <a:cs typeface="Quattrocento Sans"/>
                  <a:sym typeface="Quattrocento Sans"/>
                </a:rPr>
                <a:t>Continues from Slide 4: the confirm, the timeout reconciliation, and the changed-refund path that asks again.</a:t>
              </a:r>
              <a:endParaRPr b="0" i="0" sz="1400" u="none" cap="none" strike="noStrike">
                <a:solidFill>
                  <a:srgbClr val="000000"/>
                </a:solidFill>
                <a:latin typeface="Arial"/>
                <a:ea typeface="Arial"/>
                <a:cs typeface="Arial"/>
                <a:sym typeface="Arial"/>
              </a:endParaRPr>
            </a:p>
          </p:txBody>
        </p:sp>
      </p:grpSp>
      <p:sp>
        <p:nvSpPr>
          <p:cNvPr id="310" name="Google Shape;310;p3"/>
          <p:cNvSpPr/>
          <p:nvPr/>
        </p:nvSpPr>
        <p:spPr>
          <a:xfrm>
            <a:off x="9587008" y="946118"/>
            <a:ext cx="2000155" cy="161925"/>
          </a:xfrm>
          <a:prstGeom prst="rect">
            <a:avLst/>
          </a:prstGeom>
          <a:noFill/>
          <a:ln>
            <a:noFill/>
          </a:ln>
        </p:spPr>
        <p:txBody>
          <a:bodyPr anchorCtr="0" anchor="t" bIns="0" lIns="0" spcFirstLastPara="1" rIns="0" wrap="square" tIns="25">
            <a:noAutofit/>
          </a:bodyPr>
          <a:lstStyle/>
          <a:p>
            <a:pPr indent="0" lvl="0" marL="0" marR="0" rtl="0" algn="r">
              <a:lnSpc>
                <a:spcPct val="100000"/>
              </a:lnSpc>
              <a:spcBef>
                <a:spcPts val="0"/>
              </a:spcBef>
              <a:spcAft>
                <a:spcPts val="0"/>
              </a:spcAft>
              <a:buClr>
                <a:srgbClr val="000000"/>
              </a:buClr>
              <a:buSzPts val="820"/>
              <a:buFont typeface="Arial"/>
              <a:buNone/>
            </a:pPr>
            <a:r>
              <a:rPr b="1" i="0" lang="en" sz="820" u="none" cap="none" strike="noStrike">
                <a:solidFill>
                  <a:srgbClr val="4A7C6F"/>
                </a:solidFill>
                <a:latin typeface="Quattrocento Sans"/>
                <a:ea typeface="Quattrocento Sans"/>
                <a:cs typeface="Quattrocento Sans"/>
                <a:sym typeface="Quattrocento Sans"/>
              </a:rPr>
              <a:t>PART 2 OF 2 · DECISION TO OUTCOME</a:t>
            </a:r>
            <a:endParaRPr b="0" i="0" sz="1400" u="none" cap="none" strike="noStrike">
              <a:solidFill>
                <a:srgbClr val="000000"/>
              </a:solidFill>
              <a:latin typeface="Arial"/>
              <a:ea typeface="Arial"/>
              <a:cs typeface="Arial"/>
              <a:sym typeface="Arial"/>
            </a:endParaRPr>
          </a:p>
        </p:txBody>
      </p:sp>
      <p:sp>
        <p:nvSpPr>
          <p:cNvPr id="311" name="Google Shape;311;p3"/>
          <p:cNvSpPr/>
          <p:nvPr/>
        </p:nvSpPr>
        <p:spPr>
          <a:xfrm>
            <a:off x="609600" y="9906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
          <p:cNvSpPr/>
          <p:nvPr/>
        </p:nvSpPr>
        <p:spPr>
          <a:xfrm>
            <a:off x="609600" y="10668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3"/>
          <p:cNvSpPr/>
          <p:nvPr/>
        </p:nvSpPr>
        <p:spPr>
          <a:xfrm>
            <a:off x="604838" y="1104900"/>
            <a:ext cx="77466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CUSTOMER</a:t>
            </a:r>
            <a:endParaRPr b="0" i="0" sz="1400" u="none" cap="none" strike="noStrike">
              <a:solidFill>
                <a:srgbClr val="000000"/>
              </a:solidFill>
              <a:latin typeface="Arial"/>
              <a:ea typeface="Arial"/>
              <a:cs typeface="Arial"/>
              <a:sym typeface="Arial"/>
            </a:endParaRPr>
          </a:p>
        </p:txBody>
      </p:sp>
      <p:sp>
        <p:nvSpPr>
          <p:cNvPr id="314" name="Google Shape;314;p3"/>
          <p:cNvSpPr/>
          <p:nvPr/>
        </p:nvSpPr>
        <p:spPr>
          <a:xfrm>
            <a:off x="609600" y="27305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3"/>
          <p:cNvSpPr/>
          <p:nvPr/>
        </p:nvSpPr>
        <p:spPr>
          <a:xfrm>
            <a:off x="609600" y="28067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3"/>
          <p:cNvSpPr/>
          <p:nvPr/>
        </p:nvSpPr>
        <p:spPr>
          <a:xfrm>
            <a:off x="604838" y="2844800"/>
            <a:ext cx="629317"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OUR APP</a:t>
            </a:r>
            <a:endParaRPr b="0" i="0" sz="1400" u="none" cap="none" strike="noStrike">
              <a:solidFill>
                <a:srgbClr val="000000"/>
              </a:solidFill>
              <a:latin typeface="Arial"/>
              <a:ea typeface="Arial"/>
              <a:cs typeface="Arial"/>
              <a:sym typeface="Arial"/>
            </a:endParaRPr>
          </a:p>
        </p:txBody>
      </p:sp>
      <p:sp>
        <p:nvSpPr>
          <p:cNvPr id="317" name="Google Shape;317;p3"/>
          <p:cNvSpPr/>
          <p:nvPr/>
        </p:nvSpPr>
        <p:spPr>
          <a:xfrm>
            <a:off x="609600" y="50165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3"/>
          <p:cNvSpPr/>
          <p:nvPr/>
        </p:nvSpPr>
        <p:spPr>
          <a:xfrm>
            <a:off x="609600" y="50927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3"/>
          <p:cNvSpPr/>
          <p:nvPr/>
        </p:nvSpPr>
        <p:spPr>
          <a:xfrm>
            <a:off x="604838" y="5130800"/>
            <a:ext cx="51463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AGODA</a:t>
            </a:r>
            <a:endParaRPr b="0" i="0" sz="1400" u="none" cap="none" strike="noStrike">
              <a:solidFill>
                <a:srgbClr val="000000"/>
              </a:solidFill>
              <a:latin typeface="Arial"/>
              <a:ea typeface="Arial"/>
              <a:cs typeface="Arial"/>
              <a:sym typeface="Arial"/>
            </a:endParaRPr>
          </a:p>
        </p:txBody>
      </p:sp>
      <p:sp>
        <p:nvSpPr>
          <p:cNvPr id="320" name="Google Shape;320;p3"/>
          <p:cNvSpPr/>
          <p:nvPr/>
        </p:nvSpPr>
        <p:spPr>
          <a:xfrm>
            <a:off x="609600" y="6096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1" name="Google Shape;321;p3"/>
          <p:cNvSpPr/>
          <p:nvPr/>
        </p:nvSpPr>
        <p:spPr>
          <a:xfrm>
            <a:off x="1339850" y="1276350"/>
            <a:ext cx="876300" cy="571500"/>
          </a:xfrm>
          <a:custGeom>
            <a:rect b="b" l="l" r="r" t="t"/>
            <a:pathLst>
              <a:path extrusionOk="0" h="571500" w="876300">
                <a:moveTo>
                  <a:pt x="438150" y="0"/>
                </a:moveTo>
                <a:lnTo>
                  <a:pt x="876300" y="285750"/>
                </a:lnTo>
                <a:lnTo>
                  <a:pt x="43815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p3"/>
          <p:cNvSpPr/>
          <p:nvPr/>
        </p:nvSpPr>
        <p:spPr>
          <a:xfrm>
            <a:off x="1582642" y="1432846"/>
            <a:ext cx="679704" cy="161925"/>
          </a:xfrm>
          <a:prstGeom prst="rect">
            <a:avLst/>
          </a:prstGeom>
          <a:noFill/>
          <a:ln>
            <a:noFill/>
          </a:ln>
        </p:spPr>
        <p:txBody>
          <a:bodyPr anchorCtr="0" anchor="t" bIns="0" lIns="0" spcFirstLastPara="1" rIns="288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Keep or</a:t>
            </a:r>
            <a:endParaRPr b="0" i="0" sz="1400" u="none" cap="none" strike="noStrike">
              <a:solidFill>
                <a:srgbClr val="000000"/>
              </a:solidFill>
              <a:latin typeface="Arial"/>
              <a:ea typeface="Arial"/>
              <a:cs typeface="Arial"/>
              <a:sym typeface="Arial"/>
            </a:endParaRPr>
          </a:p>
        </p:txBody>
      </p:sp>
      <p:sp>
        <p:nvSpPr>
          <p:cNvPr id="323" name="Google Shape;323;p3"/>
          <p:cNvSpPr/>
          <p:nvPr/>
        </p:nvSpPr>
        <p:spPr>
          <a:xfrm>
            <a:off x="1562068" y="1561433"/>
            <a:ext cx="758571" cy="161925"/>
          </a:xfrm>
          <a:prstGeom prst="rect">
            <a:avLst/>
          </a:prstGeom>
          <a:noFill/>
          <a:ln>
            <a:noFill/>
          </a:ln>
        </p:spPr>
        <p:txBody>
          <a:bodyPr anchorCtr="0" anchor="t" bIns="0" lIns="0" spcFirstLastPara="1" rIns="32670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confirm?</a:t>
            </a:r>
            <a:endParaRPr b="0" i="0" sz="1400" u="none" cap="none" strike="noStrike">
              <a:solidFill>
                <a:srgbClr val="000000"/>
              </a:solidFill>
              <a:latin typeface="Arial"/>
              <a:ea typeface="Arial"/>
              <a:cs typeface="Arial"/>
              <a:sym typeface="Arial"/>
            </a:endParaRPr>
          </a:p>
        </p:txBody>
      </p:sp>
      <p:sp>
        <p:nvSpPr>
          <p:cNvPr id="324" name="Google Shape;324;p3"/>
          <p:cNvSpPr/>
          <p:nvPr/>
        </p:nvSpPr>
        <p:spPr>
          <a:xfrm>
            <a:off x="1996027" y="17113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325" name="Google Shape;325;p3"/>
          <p:cNvSpPr/>
          <p:nvPr/>
        </p:nvSpPr>
        <p:spPr>
          <a:xfrm>
            <a:off x="2717800" y="1381125"/>
            <a:ext cx="914400" cy="361950"/>
          </a:xfrm>
          <a:prstGeom prst="roundRect">
            <a:avLst>
              <a:gd fmla="val 13158"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
          <p:cNvSpPr/>
          <p:nvPr/>
        </p:nvSpPr>
        <p:spPr>
          <a:xfrm>
            <a:off x="2781522" y="1440370"/>
            <a:ext cx="1306258" cy="191643"/>
          </a:xfrm>
          <a:prstGeom prst="rect">
            <a:avLst/>
          </a:prstGeom>
          <a:noFill/>
          <a:ln>
            <a:noFill/>
          </a:ln>
        </p:spPr>
        <p:txBody>
          <a:bodyPr anchorCtr="0" anchor="t" bIns="0" lIns="0" spcFirstLastPara="1" rIns="519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kept</a:t>
            </a:r>
            <a:endParaRPr b="0" i="0" sz="1400" u="none" cap="none" strike="noStrike">
              <a:solidFill>
                <a:srgbClr val="000000"/>
              </a:solidFill>
              <a:latin typeface="Arial"/>
              <a:ea typeface="Arial"/>
              <a:cs typeface="Arial"/>
              <a:sym typeface="Arial"/>
            </a:endParaRPr>
          </a:p>
        </p:txBody>
      </p:sp>
      <p:sp>
        <p:nvSpPr>
          <p:cNvPr id="327" name="Google Shape;327;p3"/>
          <p:cNvSpPr/>
          <p:nvPr/>
        </p:nvSpPr>
        <p:spPr>
          <a:xfrm>
            <a:off x="3412077" y="16065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328" name="Google Shape;328;p3"/>
          <p:cNvSpPr/>
          <p:nvPr/>
        </p:nvSpPr>
        <p:spPr>
          <a:xfrm>
            <a:off x="7594600" y="4197350"/>
            <a:ext cx="106680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
          <p:cNvSpPr/>
          <p:nvPr/>
        </p:nvSpPr>
        <p:spPr>
          <a:xfrm>
            <a:off x="7790339" y="4249452"/>
            <a:ext cx="1250442" cy="191643"/>
          </a:xfrm>
          <a:prstGeom prst="rect">
            <a:avLst/>
          </a:prstGeom>
          <a:noFill/>
          <a:ln>
            <a:noFill/>
          </a:ln>
        </p:spPr>
        <p:txBody>
          <a:bodyPr anchorCtr="0" anchor="t" bIns="0" lIns="0" spcFirstLastPara="1" rIns="5751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Escalate via</a:t>
            </a:r>
            <a:endParaRPr b="0" i="0" sz="1400" u="none" cap="none" strike="noStrike">
              <a:solidFill>
                <a:srgbClr val="000000"/>
              </a:solidFill>
              <a:latin typeface="Arial"/>
              <a:ea typeface="Arial"/>
              <a:cs typeface="Arial"/>
              <a:sym typeface="Arial"/>
            </a:endParaRPr>
          </a:p>
        </p:txBody>
      </p:sp>
      <p:sp>
        <p:nvSpPr>
          <p:cNvPr id="330" name="Google Shape;330;p3"/>
          <p:cNvSpPr/>
          <p:nvPr/>
        </p:nvSpPr>
        <p:spPr>
          <a:xfrm>
            <a:off x="7896257" y="4397089"/>
            <a:ext cx="795909" cy="191643"/>
          </a:xfrm>
          <a:prstGeom prst="rect">
            <a:avLst/>
          </a:prstGeom>
          <a:noFill/>
          <a:ln>
            <a:noFill/>
          </a:ln>
        </p:spPr>
        <p:txBody>
          <a:bodyPr anchorCtr="0" anchor="t" bIns="0" lIns="0" spcFirstLastPara="1" rIns="3324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331" name="Google Shape;331;p3"/>
          <p:cNvSpPr/>
          <p:nvPr/>
        </p:nvSpPr>
        <p:spPr>
          <a:xfrm>
            <a:off x="8441277" y="4556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332" name="Google Shape;332;p3"/>
          <p:cNvSpPr/>
          <p:nvPr/>
        </p:nvSpPr>
        <p:spPr>
          <a:xfrm>
            <a:off x="6134100" y="1314450"/>
            <a:ext cx="10668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
          <p:cNvSpPr/>
          <p:nvPr/>
        </p:nvSpPr>
        <p:spPr>
          <a:xfrm>
            <a:off x="6323838" y="1366552"/>
            <a:ext cx="1186720" cy="191643"/>
          </a:xfrm>
          <a:prstGeom prst="rect">
            <a:avLst/>
          </a:prstGeom>
          <a:noFill/>
          <a:ln>
            <a:noFill/>
          </a:ln>
        </p:spPr>
        <p:txBody>
          <a:bodyPr anchorCtr="0" anchor="t" bIns="0" lIns="0" spcFirstLastPara="1" rIns="4993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Sees 'We're</a:t>
            </a:r>
            <a:endParaRPr b="0" i="0" sz="1400" u="none" cap="none" strike="noStrike">
              <a:solidFill>
                <a:srgbClr val="000000"/>
              </a:solidFill>
              <a:latin typeface="Arial"/>
              <a:ea typeface="Arial"/>
              <a:cs typeface="Arial"/>
              <a:sym typeface="Arial"/>
            </a:endParaRPr>
          </a:p>
        </p:txBody>
      </p:sp>
      <p:sp>
        <p:nvSpPr>
          <p:cNvPr id="334" name="Google Shape;334;p3"/>
          <p:cNvSpPr/>
          <p:nvPr/>
        </p:nvSpPr>
        <p:spPr>
          <a:xfrm>
            <a:off x="6389656" y="1514189"/>
            <a:ext cx="981456" cy="191643"/>
          </a:xfrm>
          <a:prstGeom prst="rect">
            <a:avLst/>
          </a:prstGeom>
          <a:noFill/>
          <a:ln>
            <a:noFill/>
          </a:ln>
        </p:spPr>
        <p:txBody>
          <a:bodyPr anchorCtr="0" anchor="t" bIns="0" lIns="0" spcFirstLastPara="1" rIns="425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checking'</a:t>
            </a:r>
            <a:endParaRPr b="0" i="0" sz="1400" u="none" cap="none" strike="noStrike">
              <a:solidFill>
                <a:srgbClr val="000000"/>
              </a:solidFill>
              <a:latin typeface="Arial"/>
              <a:ea typeface="Arial"/>
              <a:cs typeface="Arial"/>
              <a:sym typeface="Arial"/>
            </a:endParaRPr>
          </a:p>
        </p:txBody>
      </p:sp>
      <p:sp>
        <p:nvSpPr>
          <p:cNvPr id="335" name="Google Shape;335;p3"/>
          <p:cNvSpPr/>
          <p:nvPr/>
        </p:nvSpPr>
        <p:spPr>
          <a:xfrm>
            <a:off x="69807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336" name="Google Shape;336;p3"/>
          <p:cNvSpPr/>
          <p:nvPr/>
        </p:nvSpPr>
        <p:spPr>
          <a:xfrm>
            <a:off x="3581400" y="3311525"/>
            <a:ext cx="12192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
          <p:cNvSpPr/>
          <p:nvPr/>
        </p:nvSpPr>
        <p:spPr>
          <a:xfrm>
            <a:off x="3797427" y="3370771"/>
            <a:ext cx="1306354" cy="191643"/>
          </a:xfrm>
          <a:prstGeom prst="rect">
            <a:avLst/>
          </a:prstGeom>
          <a:noFill/>
          <a:ln>
            <a:noFill/>
          </a:ln>
        </p:spPr>
        <p:txBody>
          <a:bodyPr anchorCtr="0" anchor="t" bIns="0" lIns="0" spcFirstLastPara="1" rIns="5192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Send confirm</a:t>
            </a:r>
            <a:endParaRPr b="0" i="0" sz="1400" u="none" cap="none" strike="noStrike">
              <a:solidFill>
                <a:srgbClr val="000000"/>
              </a:solidFill>
              <a:latin typeface="Arial"/>
              <a:ea typeface="Arial"/>
              <a:cs typeface="Arial"/>
              <a:sym typeface="Arial"/>
            </a:endParaRPr>
          </a:p>
        </p:txBody>
      </p:sp>
      <p:sp>
        <p:nvSpPr>
          <p:cNvPr id="338" name="Google Shape;338;p3"/>
          <p:cNvSpPr/>
          <p:nvPr/>
        </p:nvSpPr>
        <p:spPr>
          <a:xfrm>
            <a:off x="4580477" y="3536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S6</a:t>
            </a:r>
            <a:endParaRPr b="0" i="0" sz="1400" u="none" cap="none" strike="noStrike">
              <a:solidFill>
                <a:srgbClr val="000000"/>
              </a:solidFill>
              <a:latin typeface="Arial"/>
              <a:ea typeface="Arial"/>
              <a:cs typeface="Arial"/>
              <a:sym typeface="Arial"/>
            </a:endParaRPr>
          </a:p>
        </p:txBody>
      </p:sp>
      <p:sp>
        <p:nvSpPr>
          <p:cNvPr id="339" name="Google Shape;339;p3"/>
          <p:cNvSpPr/>
          <p:nvPr/>
        </p:nvSpPr>
        <p:spPr>
          <a:xfrm>
            <a:off x="6057900" y="3244850"/>
            <a:ext cx="1219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
          <p:cNvSpPr/>
          <p:nvPr/>
        </p:nvSpPr>
        <p:spPr>
          <a:xfrm>
            <a:off x="6375654" y="3296952"/>
            <a:ext cx="995458" cy="191643"/>
          </a:xfrm>
          <a:prstGeom prst="rect">
            <a:avLst/>
          </a:prstGeom>
          <a:noFill/>
          <a:ln>
            <a:noFill/>
          </a:ln>
        </p:spPr>
        <p:txBody>
          <a:bodyPr anchorCtr="0" anchor="t" bIns="0" lIns="0" spcFirstLastPara="1" rIns="411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Timeout -</a:t>
            </a:r>
            <a:endParaRPr b="0" i="0" sz="1400" u="none" cap="none" strike="noStrike">
              <a:solidFill>
                <a:srgbClr val="000000"/>
              </a:solidFill>
              <a:latin typeface="Arial"/>
              <a:ea typeface="Arial"/>
              <a:cs typeface="Arial"/>
              <a:sym typeface="Arial"/>
            </a:endParaRPr>
          </a:p>
        </p:txBody>
      </p:sp>
      <p:sp>
        <p:nvSpPr>
          <p:cNvPr id="341" name="Google Shape;341;p3"/>
          <p:cNvSpPr/>
          <p:nvPr/>
        </p:nvSpPr>
        <p:spPr>
          <a:xfrm>
            <a:off x="6268879" y="3444589"/>
            <a:ext cx="1450848" cy="191643"/>
          </a:xfrm>
          <a:prstGeom prst="rect">
            <a:avLst/>
          </a:prstGeom>
          <a:noFill/>
          <a:ln>
            <a:noFill/>
          </a:ln>
        </p:spPr>
        <p:txBody>
          <a:bodyPr anchorCtr="0" anchor="t" bIns="0" lIns="0" spcFirstLastPara="1" rIns="6536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blind retry</a:t>
            </a:r>
            <a:endParaRPr b="0" i="0" sz="1400" u="none" cap="none" strike="noStrike">
              <a:solidFill>
                <a:srgbClr val="000000"/>
              </a:solidFill>
              <a:latin typeface="Arial"/>
              <a:ea typeface="Arial"/>
              <a:cs typeface="Arial"/>
              <a:sym typeface="Arial"/>
            </a:endParaRPr>
          </a:p>
        </p:txBody>
      </p:sp>
      <p:sp>
        <p:nvSpPr>
          <p:cNvPr id="342" name="Google Shape;342;p3"/>
          <p:cNvSpPr/>
          <p:nvPr/>
        </p:nvSpPr>
        <p:spPr>
          <a:xfrm>
            <a:off x="7056977" y="3603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343" name="Google Shape;343;p3"/>
          <p:cNvSpPr/>
          <p:nvPr/>
        </p:nvSpPr>
        <p:spPr>
          <a:xfrm>
            <a:off x="3238500" y="5343525"/>
            <a:ext cx="1143000" cy="361950"/>
          </a:xfrm>
          <a:prstGeom prst="roundRect">
            <a:avLst>
              <a:gd fmla="val 13158"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3"/>
          <p:cNvSpPr/>
          <p:nvPr/>
        </p:nvSpPr>
        <p:spPr>
          <a:xfrm>
            <a:off x="3305270" y="5402771"/>
            <a:ext cx="1835848" cy="191643"/>
          </a:xfrm>
          <a:prstGeom prst="rect">
            <a:avLst/>
          </a:prstGeom>
          <a:noFill/>
          <a:ln>
            <a:noFill/>
          </a:ln>
        </p:spPr>
        <p:txBody>
          <a:bodyPr anchorCtr="0" anchor="t" bIns="0" lIns="0" spcFirstLastPara="1" rIns="8263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Cancellation final</a:t>
            </a:r>
            <a:endParaRPr b="0" i="0" sz="1400" u="none" cap="none" strike="noStrike">
              <a:solidFill>
                <a:srgbClr val="000000"/>
              </a:solidFill>
              <a:latin typeface="Arial"/>
              <a:ea typeface="Arial"/>
              <a:cs typeface="Arial"/>
              <a:sym typeface="Arial"/>
            </a:endParaRPr>
          </a:p>
        </p:txBody>
      </p:sp>
      <p:sp>
        <p:nvSpPr>
          <p:cNvPr id="345" name="Google Shape;345;p3"/>
          <p:cNvSpPr/>
          <p:nvPr/>
        </p:nvSpPr>
        <p:spPr>
          <a:xfrm>
            <a:off x="4161377" y="5568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S6</a:t>
            </a:r>
            <a:endParaRPr b="0" i="0" sz="1400" u="none" cap="none" strike="noStrike">
              <a:solidFill>
                <a:srgbClr val="000000"/>
              </a:solidFill>
              <a:latin typeface="Arial"/>
              <a:ea typeface="Arial"/>
              <a:cs typeface="Arial"/>
              <a:sym typeface="Arial"/>
            </a:endParaRPr>
          </a:p>
        </p:txBody>
      </p:sp>
      <p:sp>
        <p:nvSpPr>
          <p:cNvPr id="346" name="Google Shape;346;p3"/>
          <p:cNvSpPr/>
          <p:nvPr/>
        </p:nvSpPr>
        <p:spPr>
          <a:xfrm>
            <a:off x="4521200" y="5276850"/>
            <a:ext cx="99060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3"/>
          <p:cNvSpPr/>
          <p:nvPr/>
        </p:nvSpPr>
        <p:spPr>
          <a:xfrm>
            <a:off x="4801521" y="5328952"/>
            <a:ext cx="709517" cy="191643"/>
          </a:xfrm>
          <a:prstGeom prst="rect">
            <a:avLst/>
          </a:prstGeom>
          <a:noFill/>
          <a:ln>
            <a:noFill/>
          </a:ln>
        </p:spPr>
        <p:txBody>
          <a:bodyPr anchorCtr="0" anchor="t" bIns="0" lIns="0" spcFirstLastPara="1" rIns="2795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Refund</a:t>
            </a:r>
            <a:endParaRPr b="0" i="0" sz="1400" u="none" cap="none" strike="noStrike">
              <a:solidFill>
                <a:srgbClr val="000000"/>
              </a:solidFill>
              <a:latin typeface="Arial"/>
              <a:ea typeface="Arial"/>
              <a:cs typeface="Arial"/>
              <a:sym typeface="Arial"/>
            </a:endParaRPr>
          </a:p>
        </p:txBody>
      </p:sp>
      <p:sp>
        <p:nvSpPr>
          <p:cNvPr id="348" name="Google Shape;348;p3"/>
          <p:cNvSpPr/>
          <p:nvPr/>
        </p:nvSpPr>
        <p:spPr>
          <a:xfrm>
            <a:off x="4730274" y="5476589"/>
            <a:ext cx="920115" cy="191643"/>
          </a:xfrm>
          <a:prstGeom prst="rect">
            <a:avLst/>
          </a:prstGeom>
          <a:noFill/>
          <a:ln>
            <a:noFill/>
          </a:ln>
        </p:spPr>
        <p:txBody>
          <a:bodyPr anchorCtr="0" anchor="t" bIns="0" lIns="0" spcFirstLastPara="1" rIns="3476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mismatch</a:t>
            </a:r>
            <a:endParaRPr b="0" i="0" sz="1400" u="none" cap="none" strike="noStrike">
              <a:solidFill>
                <a:srgbClr val="000000"/>
              </a:solidFill>
              <a:latin typeface="Arial"/>
              <a:ea typeface="Arial"/>
              <a:cs typeface="Arial"/>
              <a:sym typeface="Arial"/>
            </a:endParaRPr>
          </a:p>
        </p:txBody>
      </p:sp>
      <p:sp>
        <p:nvSpPr>
          <p:cNvPr id="349" name="Google Shape;349;p3"/>
          <p:cNvSpPr/>
          <p:nvPr/>
        </p:nvSpPr>
        <p:spPr>
          <a:xfrm>
            <a:off x="5291677" y="5635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350" name="Google Shape;350;p3"/>
          <p:cNvSpPr/>
          <p:nvPr/>
        </p:nvSpPr>
        <p:spPr>
          <a:xfrm>
            <a:off x="7772400" y="32448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
          <p:cNvSpPr/>
          <p:nvPr/>
        </p:nvSpPr>
        <p:spPr>
          <a:xfrm>
            <a:off x="7945088" y="3296952"/>
            <a:ext cx="810578" cy="191643"/>
          </a:xfrm>
          <a:prstGeom prst="rect">
            <a:avLst/>
          </a:prstGeom>
          <a:noFill/>
          <a:ln>
            <a:noFill/>
          </a:ln>
        </p:spPr>
        <p:txBody>
          <a:bodyPr anchorCtr="0" anchor="t" bIns="0" lIns="0" spcFirstLastPara="1" rIns="317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Recheck</a:t>
            </a:r>
            <a:endParaRPr b="0" i="0" sz="1400" u="none" cap="none" strike="noStrike">
              <a:solidFill>
                <a:srgbClr val="000000"/>
              </a:solidFill>
              <a:latin typeface="Arial"/>
              <a:ea typeface="Arial"/>
              <a:cs typeface="Arial"/>
              <a:sym typeface="Arial"/>
            </a:endParaRPr>
          </a:p>
        </p:txBody>
      </p:sp>
      <p:sp>
        <p:nvSpPr>
          <p:cNvPr id="352" name="Google Shape;352;p3"/>
          <p:cNvSpPr/>
          <p:nvPr/>
        </p:nvSpPr>
        <p:spPr>
          <a:xfrm>
            <a:off x="8015002" y="3444589"/>
            <a:ext cx="671036" cy="191643"/>
          </a:xfrm>
          <a:prstGeom prst="rect">
            <a:avLst/>
          </a:prstGeom>
          <a:noFill/>
          <a:ln>
            <a:noFill/>
          </a:ln>
        </p:spPr>
        <p:txBody>
          <a:bodyPr anchorCtr="0" anchor="t" bIns="0" lIns="0" spcFirstLastPara="1" rIns="318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status</a:t>
            </a:r>
            <a:endParaRPr b="0" i="0" sz="1400" u="none" cap="none" strike="noStrike">
              <a:solidFill>
                <a:srgbClr val="000000"/>
              </a:solidFill>
              <a:latin typeface="Arial"/>
              <a:ea typeface="Arial"/>
              <a:cs typeface="Arial"/>
              <a:sym typeface="Arial"/>
            </a:endParaRPr>
          </a:p>
        </p:txBody>
      </p:sp>
      <p:sp>
        <p:nvSpPr>
          <p:cNvPr id="353" name="Google Shape;353;p3"/>
          <p:cNvSpPr/>
          <p:nvPr/>
        </p:nvSpPr>
        <p:spPr>
          <a:xfrm>
            <a:off x="8390477" y="3603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354" name="Google Shape;354;p3"/>
          <p:cNvSpPr/>
          <p:nvPr/>
        </p:nvSpPr>
        <p:spPr>
          <a:xfrm>
            <a:off x="5549900" y="4264025"/>
            <a:ext cx="8382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5" name="Google Shape;355;p3"/>
          <p:cNvSpPr/>
          <p:nvPr/>
        </p:nvSpPr>
        <p:spPr>
          <a:xfrm>
            <a:off x="5635720" y="4323271"/>
            <a:ext cx="1106614" cy="191643"/>
          </a:xfrm>
          <a:prstGeom prst="rect">
            <a:avLst/>
          </a:prstGeom>
          <a:noFill/>
          <a:ln>
            <a:noFill/>
          </a:ln>
        </p:spPr>
        <p:txBody>
          <a:bodyPr anchorCtr="0" anchor="t" bIns="0" lIns="0" spcFirstLastPara="1" rIns="4400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Re-preview</a:t>
            </a:r>
            <a:endParaRPr b="0" i="0" sz="1400" u="none" cap="none" strike="noStrike">
              <a:solidFill>
                <a:srgbClr val="000000"/>
              </a:solidFill>
              <a:latin typeface="Arial"/>
              <a:ea typeface="Arial"/>
              <a:cs typeface="Arial"/>
              <a:sym typeface="Arial"/>
            </a:endParaRPr>
          </a:p>
        </p:txBody>
      </p:sp>
      <p:sp>
        <p:nvSpPr>
          <p:cNvPr id="356" name="Google Shape;356;p3"/>
          <p:cNvSpPr/>
          <p:nvPr/>
        </p:nvSpPr>
        <p:spPr>
          <a:xfrm>
            <a:off x="6167977" y="44894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357" name="Google Shape;357;p3"/>
          <p:cNvSpPr/>
          <p:nvPr/>
        </p:nvSpPr>
        <p:spPr>
          <a:xfrm>
            <a:off x="7124700" y="5343525"/>
            <a:ext cx="9906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p3"/>
          <p:cNvSpPr/>
          <p:nvPr/>
        </p:nvSpPr>
        <p:spPr>
          <a:xfrm>
            <a:off x="7151179" y="5402771"/>
            <a:ext cx="1521047" cy="191643"/>
          </a:xfrm>
          <a:prstGeom prst="rect">
            <a:avLst/>
          </a:prstGeom>
          <a:noFill/>
          <a:ln>
            <a:noFill/>
          </a:ln>
        </p:spPr>
        <p:txBody>
          <a:bodyPr anchorCtr="0" anchor="t" bIns="0" lIns="0" spcFirstLastPara="1" rIns="5834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Updated refund</a:t>
            </a:r>
            <a:endParaRPr b="0" i="0" sz="1400" u="none" cap="none" strike="noStrike">
              <a:solidFill>
                <a:srgbClr val="000000"/>
              </a:solidFill>
              <a:latin typeface="Arial"/>
              <a:ea typeface="Arial"/>
              <a:cs typeface="Arial"/>
              <a:sym typeface="Arial"/>
            </a:endParaRPr>
          </a:p>
        </p:txBody>
      </p:sp>
      <p:sp>
        <p:nvSpPr>
          <p:cNvPr id="359" name="Google Shape;359;p3"/>
          <p:cNvSpPr/>
          <p:nvPr/>
        </p:nvSpPr>
        <p:spPr>
          <a:xfrm>
            <a:off x="7895177" y="5568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360" name="Google Shape;360;p3"/>
          <p:cNvSpPr/>
          <p:nvPr/>
        </p:nvSpPr>
        <p:spPr>
          <a:xfrm>
            <a:off x="10947400" y="41973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
          <p:cNvSpPr/>
          <p:nvPr/>
        </p:nvSpPr>
        <p:spPr>
          <a:xfrm>
            <a:off x="10938446" y="4249452"/>
            <a:ext cx="1340834" cy="191643"/>
          </a:xfrm>
          <a:prstGeom prst="rect">
            <a:avLst/>
          </a:prstGeom>
          <a:noFill/>
          <a:ln>
            <a:noFill/>
          </a:ln>
        </p:spPr>
        <p:txBody>
          <a:bodyPr anchorCtr="0" anchor="t" bIns="0" lIns="0" spcFirstLastPara="1" rIns="4847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Show updated</a:t>
            </a:r>
            <a:endParaRPr b="0" i="0" sz="1400" u="none" cap="none" strike="noStrike">
              <a:solidFill>
                <a:srgbClr val="000000"/>
              </a:solidFill>
              <a:latin typeface="Arial"/>
              <a:ea typeface="Arial"/>
              <a:cs typeface="Arial"/>
              <a:sym typeface="Arial"/>
            </a:endParaRPr>
          </a:p>
        </p:txBody>
      </p:sp>
      <p:sp>
        <p:nvSpPr>
          <p:cNvPr id="362" name="Google Shape;362;p3"/>
          <p:cNvSpPr/>
          <p:nvPr/>
        </p:nvSpPr>
        <p:spPr>
          <a:xfrm>
            <a:off x="11169999" y="4397089"/>
            <a:ext cx="691039" cy="191643"/>
          </a:xfrm>
          <a:prstGeom prst="rect">
            <a:avLst/>
          </a:prstGeom>
          <a:noFill/>
          <a:ln>
            <a:noFill/>
          </a:ln>
        </p:spPr>
        <p:txBody>
          <a:bodyPr anchorCtr="0" anchor="t" bIns="0" lIns="0" spcFirstLastPara="1" rIns="298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refund</a:t>
            </a:r>
            <a:endParaRPr b="0" i="0" sz="1400" u="none" cap="none" strike="noStrike">
              <a:solidFill>
                <a:srgbClr val="000000"/>
              </a:solidFill>
              <a:latin typeface="Arial"/>
              <a:ea typeface="Arial"/>
              <a:cs typeface="Arial"/>
              <a:sym typeface="Arial"/>
            </a:endParaRPr>
          </a:p>
        </p:txBody>
      </p:sp>
      <p:sp>
        <p:nvSpPr>
          <p:cNvPr id="363" name="Google Shape;363;p3"/>
          <p:cNvSpPr/>
          <p:nvPr/>
        </p:nvSpPr>
        <p:spPr>
          <a:xfrm>
            <a:off x="11565477" y="4556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364" name="Google Shape;364;p3"/>
          <p:cNvSpPr/>
          <p:nvPr/>
        </p:nvSpPr>
        <p:spPr>
          <a:xfrm>
            <a:off x="9169400" y="4197350"/>
            <a:ext cx="1219200" cy="495300"/>
          </a:xfrm>
          <a:prstGeom prst="roundRect">
            <a:avLst>
              <a:gd fmla="val 9615"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p3"/>
          <p:cNvSpPr/>
          <p:nvPr/>
        </p:nvSpPr>
        <p:spPr>
          <a:xfrm>
            <a:off x="9211977" y="4249452"/>
            <a:ext cx="1967770" cy="191643"/>
          </a:xfrm>
          <a:prstGeom prst="rect">
            <a:avLst/>
          </a:prstGeom>
          <a:noFill/>
          <a:ln>
            <a:noFill/>
          </a:ln>
        </p:spPr>
        <p:txBody>
          <a:bodyPr anchorCtr="0" anchor="t" bIns="0" lIns="0" spcFirstLastPara="1" rIns="8337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cancelled'</a:t>
            </a:r>
            <a:endParaRPr b="0" i="0" sz="1400" u="none" cap="none" strike="noStrike">
              <a:solidFill>
                <a:srgbClr val="000000"/>
              </a:solidFill>
              <a:latin typeface="Arial"/>
              <a:ea typeface="Arial"/>
              <a:cs typeface="Arial"/>
              <a:sym typeface="Arial"/>
            </a:endParaRPr>
          </a:p>
        </p:txBody>
      </p:sp>
      <p:sp>
        <p:nvSpPr>
          <p:cNvPr id="366" name="Google Shape;366;p3"/>
          <p:cNvSpPr/>
          <p:nvPr/>
        </p:nvSpPr>
        <p:spPr>
          <a:xfrm>
            <a:off x="9519253" y="4397089"/>
            <a:ext cx="893635" cy="191643"/>
          </a:xfrm>
          <a:prstGeom prst="rect">
            <a:avLst/>
          </a:prstGeom>
          <a:noFill/>
          <a:ln>
            <a:noFill/>
          </a:ln>
        </p:spPr>
        <p:txBody>
          <a:bodyPr anchorCtr="0" anchor="t" bIns="0" lIns="0" spcFirstLastPara="1" rIns="374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refund</a:t>
            </a:r>
            <a:endParaRPr b="0" i="0" sz="1400" u="none" cap="none" strike="noStrike">
              <a:solidFill>
                <a:srgbClr val="000000"/>
              </a:solidFill>
              <a:latin typeface="Arial"/>
              <a:ea typeface="Arial"/>
              <a:cs typeface="Arial"/>
              <a:sym typeface="Arial"/>
            </a:endParaRPr>
          </a:p>
        </p:txBody>
      </p:sp>
      <p:sp>
        <p:nvSpPr>
          <p:cNvPr id="367" name="Google Shape;367;p3"/>
          <p:cNvSpPr/>
          <p:nvPr/>
        </p:nvSpPr>
        <p:spPr>
          <a:xfrm>
            <a:off x="10168477" y="4556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S7</a:t>
            </a:r>
            <a:endParaRPr b="0" i="0" sz="1400" u="none" cap="none" strike="noStrike">
              <a:solidFill>
                <a:srgbClr val="000000"/>
              </a:solidFill>
              <a:latin typeface="Arial"/>
              <a:ea typeface="Arial"/>
              <a:cs typeface="Arial"/>
              <a:sym typeface="Arial"/>
            </a:endParaRPr>
          </a:p>
        </p:txBody>
      </p:sp>
      <p:sp>
        <p:nvSpPr>
          <p:cNvPr id="368" name="Google Shape;368;p3"/>
          <p:cNvSpPr/>
          <p:nvPr/>
        </p:nvSpPr>
        <p:spPr>
          <a:xfrm>
            <a:off x="10833100" y="1381125"/>
            <a:ext cx="10668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3"/>
          <p:cNvSpPr/>
          <p:nvPr/>
        </p:nvSpPr>
        <p:spPr>
          <a:xfrm>
            <a:off x="10851579" y="1440371"/>
            <a:ext cx="1706594" cy="191643"/>
          </a:xfrm>
          <a:prstGeom prst="rect">
            <a:avLst/>
          </a:prstGeom>
          <a:noFill/>
          <a:ln>
            <a:noFill/>
          </a:ln>
        </p:spPr>
        <p:txBody>
          <a:bodyPr anchorCtr="0" anchor="t" bIns="0" lIns="0" spcFirstLastPara="1" rIns="676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Review + confirm</a:t>
            </a:r>
            <a:endParaRPr b="0" i="0" sz="1400" u="none" cap="none" strike="noStrike">
              <a:solidFill>
                <a:srgbClr val="000000"/>
              </a:solidFill>
              <a:latin typeface="Arial"/>
              <a:ea typeface="Arial"/>
              <a:cs typeface="Arial"/>
              <a:sym typeface="Arial"/>
            </a:endParaRPr>
          </a:p>
        </p:txBody>
      </p:sp>
      <p:sp>
        <p:nvSpPr>
          <p:cNvPr id="370" name="Google Shape;370;p3"/>
          <p:cNvSpPr/>
          <p:nvPr/>
        </p:nvSpPr>
        <p:spPr>
          <a:xfrm>
            <a:off x="11679777" y="16065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grpSp>
        <p:nvGrpSpPr>
          <p:cNvPr id="371" name="Google Shape;371;p3"/>
          <p:cNvGrpSpPr/>
          <p:nvPr/>
        </p:nvGrpSpPr>
        <p:grpSpPr>
          <a:xfrm>
            <a:off x="604838" y="6242018"/>
            <a:ext cx="5498116" cy="333375"/>
            <a:chOff x="604838" y="6242018"/>
            <a:chExt cx="5498116" cy="333375"/>
          </a:xfrm>
        </p:grpSpPr>
        <p:sp>
          <p:nvSpPr>
            <p:cNvPr id="372" name="Google Shape;372;p3"/>
            <p:cNvSpPr/>
            <p:nvPr/>
          </p:nvSpPr>
          <p:spPr>
            <a:xfrm>
              <a:off x="604838" y="6242018"/>
              <a:ext cx="5498116" cy="161925"/>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6B6F66"/>
                  </a:solidFill>
                  <a:latin typeface="Quattrocento Sans"/>
                  <a:ea typeface="Quattrocento Sans"/>
                  <a:cs typeface="Quattrocento Sans"/>
                  <a:sym typeface="Quattrocento Sans"/>
                </a:rPr>
                <a:t>Diamond = decision · red = stop state · green = final state · dashed = return or recheck path</a:t>
              </a:r>
              <a:endParaRPr b="0" i="0" sz="1400" u="none" cap="none" strike="noStrike">
                <a:solidFill>
                  <a:srgbClr val="000000"/>
                </a:solidFill>
                <a:latin typeface="Arial"/>
                <a:ea typeface="Arial"/>
                <a:cs typeface="Arial"/>
                <a:sym typeface="Arial"/>
              </a:endParaRPr>
            </a:p>
          </p:txBody>
        </p:sp>
        <p:sp>
          <p:nvSpPr>
            <p:cNvPr id="373" name="Google Shape;373;p3"/>
            <p:cNvSpPr/>
            <p:nvPr/>
          </p:nvSpPr>
          <p:spPr>
            <a:xfrm>
              <a:off x="604838" y="6413468"/>
              <a:ext cx="5498116" cy="161925"/>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6B6F66"/>
                  </a:solidFill>
                  <a:latin typeface="Quattrocento Sans"/>
                  <a:ea typeface="Quattrocento Sans"/>
                  <a:cs typeface="Quattrocento Sans"/>
                  <a:sym typeface="Quattrocento Sans"/>
                </a:rPr>
                <a:t>S1-S9 = journey step ids · A-D = exception branches · W1-W7 = wireframe screens (Slides 8-12)</a:t>
              </a:r>
              <a:endParaRPr b="0" i="0" sz="1400" u="none" cap="none" strike="noStrike">
                <a:solidFill>
                  <a:srgbClr val="000000"/>
                </a:solidFill>
                <a:latin typeface="Arial"/>
                <a:ea typeface="Arial"/>
                <a:cs typeface="Arial"/>
                <a:sym typeface="Arial"/>
              </a:endParaRPr>
            </a:p>
          </p:txBody>
        </p:sp>
      </p:grpSp>
      <p:sp>
        <p:nvSpPr>
          <p:cNvPr id="374" name="Google Shape;374;p3"/>
          <p:cNvSpPr/>
          <p:nvPr/>
        </p:nvSpPr>
        <p:spPr>
          <a:xfrm>
            <a:off x="11436858" y="65976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5</a:t>
            </a:r>
            <a:endParaRPr b="0" i="0" sz="1400" u="none" cap="none" strike="noStrike">
              <a:solidFill>
                <a:srgbClr val="000000"/>
              </a:solidFill>
              <a:latin typeface="Arial"/>
              <a:ea typeface="Arial"/>
              <a:cs typeface="Arial"/>
              <a:sym typeface="Arial"/>
            </a:endParaRPr>
          </a:p>
        </p:txBody>
      </p:sp>
      <p:sp>
        <p:nvSpPr>
          <p:cNvPr id="375" name="Google Shape;375;p3"/>
          <p:cNvSpPr/>
          <p:nvPr/>
        </p:nvSpPr>
        <p:spPr>
          <a:xfrm>
            <a:off x="2024729" y="845820"/>
            <a:ext cx="775811" cy="155258"/>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4A7C6F"/>
                </a:solidFill>
                <a:latin typeface="Quattrocento Sans"/>
                <a:ea typeface="Quattrocento Sans"/>
                <a:cs typeface="Quattrocento Sans"/>
                <a:sym typeface="Quattrocento Sans"/>
              </a:rPr>
              <a:t>from Slide 4</a:t>
            </a:r>
            <a:endParaRPr b="0" i="0" sz="1400" u="none" cap="none" strike="noStrike">
              <a:solidFill>
                <a:srgbClr val="000000"/>
              </a:solidFill>
              <a:latin typeface="Arial"/>
              <a:ea typeface="Arial"/>
              <a:cs typeface="Arial"/>
              <a:sym typeface="Arial"/>
            </a:endParaRPr>
          </a:p>
        </p:txBody>
      </p:sp>
      <p:sp>
        <p:nvSpPr>
          <p:cNvPr id="376" name="Google Shape;376;p3"/>
          <p:cNvSpPr/>
          <p:nvPr/>
        </p:nvSpPr>
        <p:spPr>
          <a:xfrm>
            <a:off x="2216150" y="1562100"/>
            <a:ext cx="501650" cy="127"/>
          </a:xfrm>
          <a:custGeom>
            <a:rect b="b" l="l" r="r" t="t"/>
            <a:pathLst>
              <a:path extrusionOk="0" h="127" w="501650">
                <a:moveTo>
                  <a:pt x="0" y="0"/>
                </a:moveTo>
                <a:lnTo>
                  <a:pt x="50165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p3"/>
          <p:cNvSpPr/>
          <p:nvPr/>
        </p:nvSpPr>
        <p:spPr>
          <a:xfrm>
            <a:off x="1778000" y="1847850"/>
            <a:ext cx="1803400" cy="1644650"/>
          </a:xfrm>
          <a:custGeom>
            <a:rect b="b" l="l" r="r" t="t"/>
            <a:pathLst>
              <a:path extrusionOk="0" h="1644650" w="1803400">
                <a:moveTo>
                  <a:pt x="0" y="0"/>
                </a:moveTo>
                <a:lnTo>
                  <a:pt x="0" y="1644650"/>
                </a:lnTo>
                <a:lnTo>
                  <a:pt x="1803400" y="16446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p3"/>
          <p:cNvSpPr/>
          <p:nvPr/>
        </p:nvSpPr>
        <p:spPr>
          <a:xfrm>
            <a:off x="4800600" y="3492500"/>
            <a:ext cx="1257300" cy="127"/>
          </a:xfrm>
          <a:custGeom>
            <a:rect b="b" l="l" r="r" t="t"/>
            <a:pathLst>
              <a:path extrusionOk="0" h="127" w="1257300">
                <a:moveTo>
                  <a:pt x="0" y="0"/>
                </a:moveTo>
                <a:lnTo>
                  <a:pt x="12573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3"/>
          <p:cNvSpPr/>
          <p:nvPr/>
        </p:nvSpPr>
        <p:spPr>
          <a:xfrm>
            <a:off x="6667500" y="1809750"/>
            <a:ext cx="127" cy="1435100"/>
          </a:xfrm>
          <a:custGeom>
            <a:rect b="b" l="l" r="r" t="t"/>
            <a:pathLst>
              <a:path extrusionOk="0" h="1435100" w="127">
                <a:moveTo>
                  <a:pt x="0" y="1435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p3"/>
          <p:cNvSpPr/>
          <p:nvPr/>
        </p:nvSpPr>
        <p:spPr>
          <a:xfrm>
            <a:off x="7277100" y="3492500"/>
            <a:ext cx="495300" cy="127"/>
          </a:xfrm>
          <a:custGeom>
            <a:rect b="b" l="l" r="r" t="t"/>
            <a:pathLst>
              <a:path extrusionOk="0" h="127" w="495300">
                <a:moveTo>
                  <a:pt x="0" y="0"/>
                </a:moveTo>
                <a:lnTo>
                  <a:pt x="4953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p3"/>
          <p:cNvSpPr/>
          <p:nvPr/>
        </p:nvSpPr>
        <p:spPr>
          <a:xfrm>
            <a:off x="1778000" y="1123950"/>
            <a:ext cx="6413500" cy="2120900"/>
          </a:xfrm>
          <a:custGeom>
            <a:rect b="b" l="l" r="r" t="t"/>
            <a:pathLst>
              <a:path extrusionOk="0" h="2120900" w="6413500">
                <a:moveTo>
                  <a:pt x="6413500" y="2120900"/>
                </a:moveTo>
                <a:lnTo>
                  <a:pt x="6413500" y="0"/>
                </a:lnTo>
                <a:lnTo>
                  <a:pt x="0" y="0"/>
                </a:lnTo>
                <a:lnTo>
                  <a:pt x="0" y="15240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p3"/>
          <p:cNvSpPr/>
          <p:nvPr/>
        </p:nvSpPr>
        <p:spPr>
          <a:xfrm>
            <a:off x="8128000" y="3740150"/>
            <a:ext cx="63500" cy="457200"/>
          </a:xfrm>
          <a:custGeom>
            <a:rect b="b" l="l" r="r" t="t"/>
            <a:pathLst>
              <a:path extrusionOk="0" h="457200" w="63500">
                <a:moveTo>
                  <a:pt x="63500" y="0"/>
                </a:moveTo>
                <a:lnTo>
                  <a:pt x="63500" y="304800"/>
                </a:lnTo>
                <a:lnTo>
                  <a:pt x="0" y="304800"/>
                </a:lnTo>
                <a:lnTo>
                  <a:pt x="0" y="4572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p3"/>
          <p:cNvSpPr/>
          <p:nvPr/>
        </p:nvSpPr>
        <p:spPr>
          <a:xfrm>
            <a:off x="8610600" y="3492500"/>
            <a:ext cx="1168400" cy="704850"/>
          </a:xfrm>
          <a:custGeom>
            <a:rect b="b" l="l" r="r" t="t"/>
            <a:pathLst>
              <a:path extrusionOk="0" h="704850" w="1168400">
                <a:moveTo>
                  <a:pt x="0" y="0"/>
                </a:moveTo>
                <a:lnTo>
                  <a:pt x="1168400" y="0"/>
                </a:lnTo>
                <a:lnTo>
                  <a:pt x="1168400" y="70485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
          <p:cNvSpPr/>
          <p:nvPr/>
        </p:nvSpPr>
        <p:spPr>
          <a:xfrm>
            <a:off x="3810000" y="3673475"/>
            <a:ext cx="127" cy="1670050"/>
          </a:xfrm>
          <a:custGeom>
            <a:rect b="b" l="l" r="r" t="t"/>
            <a:pathLst>
              <a:path extrusionOk="0" h="1670050" w="127">
                <a:moveTo>
                  <a:pt x="0" y="0"/>
                </a:moveTo>
                <a:lnTo>
                  <a:pt x="0" y="16700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5" name="Google Shape;385;p3"/>
          <p:cNvSpPr/>
          <p:nvPr/>
        </p:nvSpPr>
        <p:spPr>
          <a:xfrm>
            <a:off x="4572000" y="3673475"/>
            <a:ext cx="127" cy="1603375"/>
          </a:xfrm>
          <a:custGeom>
            <a:rect b="b" l="l" r="r" t="t"/>
            <a:pathLst>
              <a:path extrusionOk="0" h="1603375" w="127">
                <a:moveTo>
                  <a:pt x="0" y="0"/>
                </a:moveTo>
                <a:lnTo>
                  <a:pt x="0" y="16033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6" name="Google Shape;386;p3"/>
          <p:cNvSpPr/>
          <p:nvPr/>
        </p:nvSpPr>
        <p:spPr>
          <a:xfrm>
            <a:off x="3810000" y="4692650"/>
            <a:ext cx="5969000" cy="1174750"/>
          </a:xfrm>
          <a:custGeom>
            <a:rect b="b" l="l" r="r" t="t"/>
            <a:pathLst>
              <a:path extrusionOk="0" h="1174750" w="5969000">
                <a:moveTo>
                  <a:pt x="0" y="1012825"/>
                </a:moveTo>
                <a:lnTo>
                  <a:pt x="0" y="1174750"/>
                </a:lnTo>
                <a:lnTo>
                  <a:pt x="5969000" y="1174750"/>
                </a:lnTo>
                <a:lnTo>
                  <a:pt x="59690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7" name="Google Shape;387;p3"/>
          <p:cNvSpPr/>
          <p:nvPr/>
        </p:nvSpPr>
        <p:spPr>
          <a:xfrm>
            <a:off x="5511800" y="4625975"/>
            <a:ext cx="457200" cy="898525"/>
          </a:xfrm>
          <a:custGeom>
            <a:rect b="b" l="l" r="r" t="t"/>
            <a:pathLst>
              <a:path extrusionOk="0" h="898525" w="457200">
                <a:moveTo>
                  <a:pt x="0" y="898525"/>
                </a:moveTo>
                <a:lnTo>
                  <a:pt x="457200" y="898525"/>
                </a:lnTo>
                <a:lnTo>
                  <a:pt x="4572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p3"/>
          <p:cNvSpPr/>
          <p:nvPr/>
        </p:nvSpPr>
        <p:spPr>
          <a:xfrm>
            <a:off x="6388100" y="4445000"/>
            <a:ext cx="1231900" cy="898525"/>
          </a:xfrm>
          <a:custGeom>
            <a:rect b="b" l="l" r="r" t="t"/>
            <a:pathLst>
              <a:path extrusionOk="0" h="898525" w="1231900">
                <a:moveTo>
                  <a:pt x="0" y="0"/>
                </a:moveTo>
                <a:lnTo>
                  <a:pt x="1092200" y="0"/>
                </a:lnTo>
                <a:lnTo>
                  <a:pt x="1092200" y="746125"/>
                </a:lnTo>
                <a:lnTo>
                  <a:pt x="1231900" y="746125"/>
                </a:lnTo>
                <a:lnTo>
                  <a:pt x="1231900" y="89852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
          <p:cNvSpPr/>
          <p:nvPr/>
        </p:nvSpPr>
        <p:spPr>
          <a:xfrm>
            <a:off x="8115300" y="4692650"/>
            <a:ext cx="3251200" cy="831850"/>
          </a:xfrm>
          <a:custGeom>
            <a:rect b="b" l="l" r="r" t="t"/>
            <a:pathLst>
              <a:path extrusionOk="0" h="831850" w="3251200">
                <a:moveTo>
                  <a:pt x="0" y="831850"/>
                </a:moveTo>
                <a:lnTo>
                  <a:pt x="3251200" y="831850"/>
                </a:lnTo>
                <a:lnTo>
                  <a:pt x="32512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p3"/>
          <p:cNvSpPr/>
          <p:nvPr/>
        </p:nvSpPr>
        <p:spPr>
          <a:xfrm>
            <a:off x="11366500" y="1743075"/>
            <a:ext cx="127" cy="2454275"/>
          </a:xfrm>
          <a:custGeom>
            <a:rect b="b" l="l" r="r" t="t"/>
            <a:pathLst>
              <a:path extrusionOk="0" h="2454275" w="127">
                <a:moveTo>
                  <a:pt x="0" y="2454275"/>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p3"/>
          <p:cNvSpPr/>
          <p:nvPr/>
        </p:nvSpPr>
        <p:spPr>
          <a:xfrm>
            <a:off x="4191000" y="1228725"/>
            <a:ext cx="7175500" cy="2082800"/>
          </a:xfrm>
          <a:custGeom>
            <a:rect b="b" l="l" r="r" t="t"/>
            <a:pathLst>
              <a:path extrusionOk="0" h="2082800" w="7175500">
                <a:moveTo>
                  <a:pt x="7175500" y="152400"/>
                </a:moveTo>
                <a:lnTo>
                  <a:pt x="7175500" y="0"/>
                </a:lnTo>
                <a:lnTo>
                  <a:pt x="0" y="0"/>
                </a:lnTo>
                <a:lnTo>
                  <a:pt x="0" y="208280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2" name="Google Shape;392;p3"/>
          <p:cNvSpPr/>
          <p:nvPr/>
        </p:nvSpPr>
        <p:spPr>
          <a:xfrm>
            <a:off x="2319655" y="1409700"/>
            <a:ext cx="29464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Keep</a:t>
            </a:r>
            <a:endParaRPr b="0" i="0" sz="1400" u="none" cap="none" strike="noStrike">
              <a:solidFill>
                <a:srgbClr val="000000"/>
              </a:solidFill>
              <a:latin typeface="Arial"/>
              <a:ea typeface="Arial"/>
              <a:cs typeface="Arial"/>
              <a:sym typeface="Arial"/>
            </a:endParaRPr>
          </a:p>
        </p:txBody>
      </p:sp>
      <p:sp>
        <p:nvSpPr>
          <p:cNvPr id="393" name="Google Shape;393;p3"/>
          <p:cNvSpPr/>
          <p:nvPr/>
        </p:nvSpPr>
        <p:spPr>
          <a:xfrm>
            <a:off x="2204720" y="3340100"/>
            <a:ext cx="94996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Confirm + reason</a:t>
            </a:r>
            <a:endParaRPr b="0" i="0" sz="1400" u="none" cap="none" strike="noStrike">
              <a:solidFill>
                <a:srgbClr val="000000"/>
              </a:solidFill>
              <a:latin typeface="Arial"/>
              <a:ea typeface="Arial"/>
              <a:cs typeface="Arial"/>
              <a:sym typeface="Arial"/>
            </a:endParaRPr>
          </a:p>
        </p:txBody>
      </p:sp>
      <p:sp>
        <p:nvSpPr>
          <p:cNvPr id="394" name="Google Shape;394;p3"/>
          <p:cNvSpPr/>
          <p:nvPr/>
        </p:nvSpPr>
        <p:spPr>
          <a:xfrm>
            <a:off x="4926965" y="3340100"/>
            <a:ext cx="100456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timeout / unclear</a:t>
            </a:r>
            <a:endParaRPr b="0" i="0" sz="1400" u="none" cap="none" strike="noStrike">
              <a:solidFill>
                <a:srgbClr val="000000"/>
              </a:solidFill>
              <a:latin typeface="Arial"/>
              <a:ea typeface="Arial"/>
              <a:cs typeface="Arial"/>
              <a:sym typeface="Arial"/>
            </a:endParaRPr>
          </a:p>
        </p:txBody>
      </p:sp>
      <p:sp>
        <p:nvSpPr>
          <p:cNvPr id="395" name="Google Shape;395;p3"/>
          <p:cNvSpPr/>
          <p:nvPr/>
        </p:nvSpPr>
        <p:spPr>
          <a:xfrm>
            <a:off x="3990975" y="971550"/>
            <a:ext cx="19875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reliably not cancelled: offer retry</a:t>
            </a:r>
            <a:endParaRPr b="0" i="0" sz="1400" u="none" cap="none" strike="noStrike">
              <a:solidFill>
                <a:srgbClr val="000000"/>
              </a:solidFill>
              <a:latin typeface="Arial"/>
              <a:ea typeface="Arial"/>
              <a:cs typeface="Arial"/>
              <a:sym typeface="Arial"/>
            </a:endParaRPr>
          </a:p>
        </p:txBody>
      </p:sp>
      <p:sp>
        <p:nvSpPr>
          <p:cNvPr id="396" name="Google Shape;396;p3"/>
          <p:cNvSpPr/>
          <p:nvPr/>
        </p:nvSpPr>
        <p:spPr>
          <a:xfrm>
            <a:off x="8229600" y="3822700"/>
            <a:ext cx="116840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unresolved: escalate</a:t>
            </a:r>
            <a:endParaRPr b="0" i="0" sz="1400" u="none" cap="none" strike="noStrike">
              <a:solidFill>
                <a:srgbClr val="000000"/>
              </a:solidFill>
              <a:latin typeface="Arial"/>
              <a:ea typeface="Arial"/>
              <a:cs typeface="Arial"/>
              <a:sym typeface="Arial"/>
            </a:endParaRPr>
          </a:p>
        </p:txBody>
      </p:sp>
      <p:sp>
        <p:nvSpPr>
          <p:cNvPr id="397" name="Google Shape;397;p3"/>
          <p:cNvSpPr/>
          <p:nvPr/>
        </p:nvSpPr>
        <p:spPr>
          <a:xfrm>
            <a:off x="8875395" y="3340100"/>
            <a:ext cx="122301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if cancelled: show S7</a:t>
            </a:r>
            <a:endParaRPr b="0" i="0" sz="1400" u="none" cap="none" strike="noStrike">
              <a:solidFill>
                <a:srgbClr val="000000"/>
              </a:solidFill>
              <a:latin typeface="Arial"/>
              <a:ea typeface="Arial"/>
              <a:cs typeface="Arial"/>
              <a:sym typeface="Arial"/>
            </a:endParaRPr>
          </a:p>
        </p:txBody>
      </p:sp>
      <p:sp>
        <p:nvSpPr>
          <p:cNvPr id="398" name="Google Shape;398;p3"/>
          <p:cNvSpPr/>
          <p:nvPr/>
        </p:nvSpPr>
        <p:spPr>
          <a:xfrm>
            <a:off x="2712720" y="4438650"/>
            <a:ext cx="105918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cancellation final</a:t>
            </a:r>
            <a:endParaRPr b="0" i="0" sz="1400" u="none" cap="none" strike="noStrike">
              <a:solidFill>
                <a:srgbClr val="000000"/>
              </a:solidFill>
              <a:latin typeface="Arial"/>
              <a:ea typeface="Arial"/>
              <a:cs typeface="Arial"/>
              <a:sym typeface="Arial"/>
            </a:endParaRPr>
          </a:p>
        </p:txBody>
      </p:sp>
      <p:sp>
        <p:nvSpPr>
          <p:cNvPr id="399" name="Google Shape;399;p3"/>
          <p:cNvSpPr/>
          <p:nvPr/>
        </p:nvSpPr>
        <p:spPr>
          <a:xfrm>
            <a:off x="4610100" y="4405312"/>
            <a:ext cx="84073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refund changed</a:t>
            </a:r>
            <a:endParaRPr b="0" i="0" sz="1400" u="none" cap="none" strike="noStrike">
              <a:solidFill>
                <a:srgbClr val="000000"/>
              </a:solidFill>
              <a:latin typeface="Arial"/>
              <a:ea typeface="Arial"/>
              <a:cs typeface="Arial"/>
              <a:sym typeface="Arial"/>
            </a:endParaRPr>
          </a:p>
        </p:txBody>
      </p:sp>
      <p:sp>
        <p:nvSpPr>
          <p:cNvPr id="400" name="Google Shape;400;p3"/>
          <p:cNvSpPr/>
          <p:nvPr/>
        </p:nvSpPr>
        <p:spPr>
          <a:xfrm>
            <a:off x="6510655" y="5715000"/>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confirmed</a:t>
            </a:r>
            <a:endParaRPr b="0" i="0" sz="1400" u="none" cap="none" strike="noStrike">
              <a:solidFill>
                <a:srgbClr val="000000"/>
              </a:solidFill>
              <a:latin typeface="Arial"/>
              <a:ea typeface="Arial"/>
              <a:cs typeface="Arial"/>
              <a:sym typeface="Arial"/>
            </a:endParaRPr>
          </a:p>
        </p:txBody>
      </p:sp>
      <p:sp>
        <p:nvSpPr>
          <p:cNvPr id="401" name="Google Shape;401;p3"/>
          <p:cNvSpPr/>
          <p:nvPr/>
        </p:nvSpPr>
        <p:spPr>
          <a:xfrm>
            <a:off x="6007100" y="5005387"/>
            <a:ext cx="62230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re-preview</a:t>
            </a:r>
            <a:endParaRPr b="0" i="0" sz="1400" u="none" cap="none" strike="noStrike">
              <a:solidFill>
                <a:srgbClr val="000000"/>
              </a:solidFill>
              <a:latin typeface="Arial"/>
              <a:ea typeface="Arial"/>
              <a:cs typeface="Arial"/>
              <a:sym typeface="Arial"/>
            </a:endParaRPr>
          </a:p>
        </p:txBody>
      </p:sp>
      <p:sp>
        <p:nvSpPr>
          <p:cNvPr id="402" name="Google Shape;402;p3"/>
          <p:cNvSpPr/>
          <p:nvPr/>
        </p:nvSpPr>
        <p:spPr>
          <a:xfrm>
            <a:off x="8507730" y="5372100"/>
            <a:ext cx="84073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updated refund</a:t>
            </a:r>
            <a:endParaRPr b="0" i="0" sz="1400" u="none" cap="none" strike="noStrike">
              <a:solidFill>
                <a:srgbClr val="000000"/>
              </a:solidFill>
              <a:latin typeface="Arial"/>
              <a:ea typeface="Arial"/>
              <a:cs typeface="Arial"/>
              <a:sym typeface="Arial"/>
            </a:endParaRPr>
          </a:p>
        </p:txBody>
      </p:sp>
      <p:sp>
        <p:nvSpPr>
          <p:cNvPr id="403" name="Google Shape;403;p3"/>
          <p:cNvSpPr/>
          <p:nvPr/>
        </p:nvSpPr>
        <p:spPr>
          <a:xfrm>
            <a:off x="7385684" y="1254125"/>
            <a:ext cx="78613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confirm again</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407" name="Shape 407"/>
        <p:cNvGrpSpPr/>
        <p:nvPr/>
      </p:nvGrpSpPr>
      <p:grpSpPr>
        <a:xfrm>
          <a:off x="0" y="0"/>
          <a:ext cx="0" cy="0"/>
          <a:chOff x="0" y="0"/>
          <a:chExt cx="0" cy="0"/>
        </a:xfrm>
      </p:grpSpPr>
      <p:grpSp>
        <p:nvGrpSpPr>
          <p:cNvPr id="408" name="Google Shape;408;p4"/>
          <p:cNvGrpSpPr/>
          <p:nvPr/>
        </p:nvGrpSpPr>
        <p:grpSpPr>
          <a:xfrm>
            <a:off x="597408" y="171450"/>
            <a:ext cx="11938349" cy="642557"/>
            <a:chOff x="597408" y="171450"/>
            <a:chExt cx="11938349" cy="642557"/>
          </a:xfrm>
        </p:grpSpPr>
        <p:sp>
          <p:nvSpPr>
            <p:cNvPr id="409" name="Google Shape;409;p4"/>
            <p:cNvSpPr txBox="1"/>
            <p:nvPr/>
          </p:nvSpPr>
          <p:spPr>
            <a:xfrm>
              <a:off x="604838" y="171450"/>
              <a:ext cx="345215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SYSTEM FLOW · TECHNICAL SHADOW</a:t>
              </a:r>
              <a:endParaRPr b="0" i="0" sz="1400" u="none" cap="none" strike="noStrike">
                <a:solidFill>
                  <a:srgbClr val="000000"/>
                </a:solidFill>
                <a:latin typeface="Arial"/>
                <a:ea typeface="Arial"/>
                <a:cs typeface="Arial"/>
                <a:sym typeface="Arial"/>
              </a:endParaRPr>
            </a:p>
          </p:txBody>
        </p:sp>
        <p:sp>
          <p:nvSpPr>
            <p:cNvPr id="410" name="Google Shape;410;p4"/>
            <p:cNvSpPr/>
            <p:nvPr/>
          </p:nvSpPr>
          <p:spPr>
            <a:xfrm>
              <a:off x="597408" y="273082"/>
              <a:ext cx="9805416" cy="469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B3D36"/>
                  </a:solidFill>
                  <a:latin typeface="Garamond"/>
                  <a:ea typeface="Garamond"/>
                  <a:cs typeface="Garamond"/>
                  <a:sym typeface="Garamond"/>
                </a:rPr>
                <a:t>How the system keeps the promise, part 1: entry</a:t>
              </a:r>
              <a:endParaRPr b="0" i="0" sz="1400" u="none" cap="none" strike="noStrike">
                <a:solidFill>
                  <a:srgbClr val="000000"/>
                </a:solidFill>
                <a:latin typeface="Arial"/>
                <a:ea typeface="Arial"/>
                <a:cs typeface="Arial"/>
                <a:sym typeface="Arial"/>
              </a:endParaRPr>
            </a:p>
          </p:txBody>
        </p:sp>
        <p:sp>
          <p:nvSpPr>
            <p:cNvPr id="411" name="Google Shape;411;p4"/>
            <p:cNvSpPr/>
            <p:nvPr/>
          </p:nvSpPr>
          <p:spPr>
            <a:xfrm>
              <a:off x="604456" y="615982"/>
              <a:ext cx="11931301" cy="198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0"/>
                <a:buFont typeface="Arial"/>
                <a:buNone/>
              </a:pPr>
              <a:r>
                <a:rPr b="0" i="0" lang="en" sz="1010" u="none" cap="none" strike="noStrike">
                  <a:solidFill>
                    <a:srgbClr val="6B6F66"/>
                  </a:solidFill>
                  <a:latin typeface="Quattrocento Sans"/>
                  <a:ea typeface="Quattrocento Sans"/>
                  <a:cs typeface="Quattrocento Sans"/>
                  <a:sym typeface="Quattrocento Sans"/>
                </a:rPr>
                <a:t>The same journey as Slide 4, drawn as calls between the customer, the Android UI, our backend and the Agoda API. Part 2 (confirm, reconcile, outcomes) is on Slide 7.</a:t>
              </a:r>
              <a:endParaRPr b="0" i="0" sz="1400" u="none" cap="none" strike="noStrike">
                <a:solidFill>
                  <a:srgbClr val="000000"/>
                </a:solidFill>
                <a:latin typeface="Arial"/>
                <a:ea typeface="Arial"/>
                <a:cs typeface="Arial"/>
                <a:sym typeface="Arial"/>
              </a:endParaRPr>
            </a:p>
          </p:txBody>
        </p:sp>
      </p:grpSp>
      <p:sp>
        <p:nvSpPr>
          <p:cNvPr id="412" name="Google Shape;412;p4"/>
          <p:cNvSpPr txBox="1"/>
          <p:nvPr/>
        </p:nvSpPr>
        <p:spPr>
          <a:xfrm>
            <a:off x="9145087" y="850900"/>
            <a:ext cx="2442076" cy="161925"/>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0"/>
              <a:buFont typeface="Arial"/>
              <a:buNone/>
            </a:pPr>
            <a:r>
              <a:rPr b="1" i="0" lang="en" sz="820" u="none" cap="none" strike="noStrike">
                <a:solidFill>
                  <a:srgbClr val="4A7C6F"/>
                </a:solidFill>
                <a:latin typeface="Quattrocento Sans"/>
                <a:ea typeface="Quattrocento Sans"/>
                <a:cs typeface="Quattrocento Sans"/>
                <a:sym typeface="Quattrocento Sans"/>
              </a:rPr>
              <a:t>TECHNICAL SHADOW · PART 1 OF 2</a:t>
            </a:r>
            <a:endParaRPr b="0" i="0" sz="1400" u="none" cap="none" strike="noStrike">
              <a:solidFill>
                <a:srgbClr val="000000"/>
              </a:solidFill>
              <a:latin typeface="Arial"/>
              <a:ea typeface="Arial"/>
              <a:cs typeface="Arial"/>
              <a:sym typeface="Arial"/>
            </a:endParaRPr>
          </a:p>
        </p:txBody>
      </p:sp>
      <p:sp>
        <p:nvSpPr>
          <p:cNvPr id="413" name="Google Shape;413;p4"/>
          <p:cNvSpPr/>
          <p:nvPr/>
        </p:nvSpPr>
        <p:spPr>
          <a:xfrm>
            <a:off x="609600" y="9906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4" name="Google Shape;414;p4"/>
          <p:cNvSpPr/>
          <p:nvPr/>
        </p:nvSpPr>
        <p:spPr>
          <a:xfrm>
            <a:off x="609600" y="10668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
          <p:cNvSpPr/>
          <p:nvPr/>
        </p:nvSpPr>
        <p:spPr>
          <a:xfrm>
            <a:off x="604838" y="866775"/>
            <a:ext cx="77466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CUSTOMER</a:t>
            </a:r>
            <a:endParaRPr b="0" i="0" sz="1400" u="none" cap="none" strike="noStrike">
              <a:solidFill>
                <a:srgbClr val="000000"/>
              </a:solidFill>
              <a:latin typeface="Arial"/>
              <a:ea typeface="Arial"/>
              <a:cs typeface="Arial"/>
              <a:sym typeface="Arial"/>
            </a:endParaRPr>
          </a:p>
        </p:txBody>
      </p:sp>
      <p:sp>
        <p:nvSpPr>
          <p:cNvPr id="416" name="Google Shape;416;p4"/>
          <p:cNvSpPr/>
          <p:nvPr/>
        </p:nvSpPr>
        <p:spPr>
          <a:xfrm>
            <a:off x="609600" y="19304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4"/>
          <p:cNvSpPr/>
          <p:nvPr/>
        </p:nvSpPr>
        <p:spPr>
          <a:xfrm>
            <a:off x="609600" y="20066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8" name="Google Shape;418;p4"/>
          <p:cNvSpPr txBox="1"/>
          <p:nvPr/>
        </p:nvSpPr>
        <p:spPr>
          <a:xfrm>
            <a:off x="604838" y="2044700"/>
            <a:ext cx="87511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ANDROID UI</a:t>
            </a:r>
            <a:endParaRPr b="0" i="0" sz="1400" u="none" cap="none" strike="noStrike">
              <a:solidFill>
                <a:srgbClr val="000000"/>
              </a:solidFill>
              <a:latin typeface="Arial"/>
              <a:ea typeface="Arial"/>
              <a:cs typeface="Arial"/>
              <a:sym typeface="Arial"/>
            </a:endParaRPr>
          </a:p>
        </p:txBody>
      </p:sp>
      <p:sp>
        <p:nvSpPr>
          <p:cNvPr id="419" name="Google Shape;419;p4"/>
          <p:cNvSpPr/>
          <p:nvPr/>
        </p:nvSpPr>
        <p:spPr>
          <a:xfrm>
            <a:off x="609600" y="41275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4"/>
          <p:cNvSpPr/>
          <p:nvPr/>
        </p:nvSpPr>
        <p:spPr>
          <a:xfrm>
            <a:off x="609600" y="42037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1" name="Google Shape;421;p4"/>
          <p:cNvSpPr txBox="1"/>
          <p:nvPr/>
        </p:nvSpPr>
        <p:spPr>
          <a:xfrm>
            <a:off x="604838" y="4241800"/>
            <a:ext cx="102341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OUR BACKEND</a:t>
            </a:r>
            <a:endParaRPr b="0" i="0" sz="1400" u="none" cap="none" strike="noStrike">
              <a:solidFill>
                <a:srgbClr val="000000"/>
              </a:solidFill>
              <a:latin typeface="Arial"/>
              <a:ea typeface="Arial"/>
              <a:cs typeface="Arial"/>
              <a:sym typeface="Arial"/>
            </a:endParaRPr>
          </a:p>
        </p:txBody>
      </p:sp>
      <p:sp>
        <p:nvSpPr>
          <p:cNvPr id="422" name="Google Shape;422;p4"/>
          <p:cNvSpPr/>
          <p:nvPr/>
        </p:nvSpPr>
        <p:spPr>
          <a:xfrm>
            <a:off x="609600" y="5461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4"/>
          <p:cNvSpPr/>
          <p:nvPr/>
        </p:nvSpPr>
        <p:spPr>
          <a:xfrm>
            <a:off x="609600" y="55372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4" name="Google Shape;424;p4"/>
          <p:cNvSpPr txBox="1"/>
          <p:nvPr/>
        </p:nvSpPr>
        <p:spPr>
          <a:xfrm>
            <a:off x="604838" y="5575300"/>
            <a:ext cx="801889"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AGODA API</a:t>
            </a:r>
            <a:endParaRPr b="0" i="0" sz="1400" u="none" cap="none" strike="noStrike">
              <a:solidFill>
                <a:srgbClr val="000000"/>
              </a:solidFill>
              <a:latin typeface="Arial"/>
              <a:ea typeface="Arial"/>
              <a:cs typeface="Arial"/>
              <a:sym typeface="Arial"/>
            </a:endParaRPr>
          </a:p>
        </p:txBody>
      </p:sp>
      <p:sp>
        <p:nvSpPr>
          <p:cNvPr id="425" name="Google Shape;425;p4"/>
          <p:cNvSpPr/>
          <p:nvPr/>
        </p:nvSpPr>
        <p:spPr>
          <a:xfrm>
            <a:off x="609600" y="60579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4"/>
          <p:cNvSpPr/>
          <p:nvPr/>
        </p:nvSpPr>
        <p:spPr>
          <a:xfrm>
            <a:off x="4286250" y="845820"/>
            <a:ext cx="1905000" cy="155258"/>
          </a:xfrm>
          <a:prstGeom prst="rect">
            <a:avLst/>
          </a:prstGeom>
          <a:noFill/>
          <a:ln>
            <a:noFill/>
          </a:ln>
        </p:spPr>
        <p:txBody>
          <a:bodyPr anchorCtr="0" anchor="t" bIns="0" lIns="0" spcFirstLastPara="1" rIns="0" wrap="square" tIns="27300">
            <a:noAutofit/>
          </a:bodyPr>
          <a:lstStyle/>
          <a:p>
            <a:pPr indent="0" lvl="0" marL="0" marR="0" rtl="0" algn="l">
              <a:lnSpc>
                <a:spcPct val="100000"/>
              </a:lnSpc>
              <a:spcBef>
                <a:spcPts val="0"/>
              </a:spcBef>
              <a:spcAft>
                <a:spcPts val="0"/>
              </a:spcAft>
              <a:buClr>
                <a:srgbClr val="000000"/>
              </a:buClr>
              <a:buSzPts val="750"/>
              <a:buFont typeface="Arial"/>
              <a:buNone/>
            </a:pPr>
            <a:r>
              <a:rPr b="0" i="1" lang="en" sz="750" u="none" cap="none" strike="noStrike">
                <a:solidFill>
                  <a:srgbClr val="4A7C6F"/>
                </a:solidFill>
                <a:latin typeface="Quattrocento Sans"/>
                <a:ea typeface="Quattrocento Sans"/>
                <a:cs typeface="Quattrocento Sans"/>
                <a:sym typeface="Quattrocento Sans"/>
              </a:rPr>
              <a:t>decision continues on Slide 7</a:t>
            </a:r>
            <a:endParaRPr b="0" i="0" sz="1400" u="none" cap="none" strike="noStrike">
              <a:solidFill>
                <a:srgbClr val="000000"/>
              </a:solidFill>
              <a:latin typeface="Arial"/>
              <a:ea typeface="Arial"/>
              <a:cs typeface="Arial"/>
              <a:sym typeface="Arial"/>
            </a:endParaRPr>
          </a:p>
        </p:txBody>
      </p:sp>
      <p:sp>
        <p:nvSpPr>
          <p:cNvPr id="427" name="Google Shape;427;p4"/>
          <p:cNvSpPr/>
          <p:nvPr/>
        </p:nvSpPr>
        <p:spPr>
          <a:xfrm>
            <a:off x="11684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4"/>
          <p:cNvSpPr/>
          <p:nvPr/>
        </p:nvSpPr>
        <p:spPr>
          <a:xfrm>
            <a:off x="1307941" y="1366552"/>
            <a:ext cx="843724" cy="191643"/>
          </a:xfrm>
          <a:prstGeom prst="rect">
            <a:avLst/>
          </a:prstGeom>
          <a:noFill/>
          <a:ln>
            <a:noFill/>
          </a:ln>
        </p:spPr>
        <p:txBody>
          <a:bodyPr anchorCtr="0" anchor="t" bIns="0" lIns="0" spcFirstLastPara="1" rIns="2846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Open My</a:t>
            </a:r>
            <a:endParaRPr b="0" i="0" sz="1400" u="none" cap="none" strike="noStrike">
              <a:solidFill>
                <a:srgbClr val="000000"/>
              </a:solidFill>
              <a:latin typeface="Arial"/>
              <a:ea typeface="Arial"/>
              <a:cs typeface="Arial"/>
              <a:sym typeface="Arial"/>
            </a:endParaRPr>
          </a:p>
        </p:txBody>
      </p:sp>
      <p:sp>
        <p:nvSpPr>
          <p:cNvPr id="429" name="Google Shape;429;p4"/>
          <p:cNvSpPr/>
          <p:nvPr/>
        </p:nvSpPr>
        <p:spPr>
          <a:xfrm>
            <a:off x="1313561" y="1514189"/>
            <a:ext cx="907828" cy="191643"/>
          </a:xfrm>
          <a:prstGeom prst="rect">
            <a:avLst/>
          </a:prstGeom>
          <a:noFill/>
          <a:ln>
            <a:noFill/>
          </a:ln>
        </p:spPr>
        <p:txBody>
          <a:bodyPr anchorCtr="0" anchor="t" bIns="0" lIns="0" spcFirstLastPara="1" rIns="359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bookings</a:t>
            </a:r>
            <a:endParaRPr b="0" i="0" sz="1400" u="none" cap="none" strike="noStrike">
              <a:solidFill>
                <a:srgbClr val="000000"/>
              </a:solidFill>
              <a:latin typeface="Arial"/>
              <a:ea typeface="Arial"/>
              <a:cs typeface="Arial"/>
              <a:sym typeface="Arial"/>
            </a:endParaRPr>
          </a:p>
        </p:txBody>
      </p:sp>
      <p:sp>
        <p:nvSpPr>
          <p:cNvPr id="430" name="Google Shape;430;p4"/>
          <p:cNvSpPr/>
          <p:nvPr/>
        </p:nvSpPr>
        <p:spPr>
          <a:xfrm>
            <a:off x="17864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431" name="Google Shape;431;p4"/>
          <p:cNvSpPr/>
          <p:nvPr/>
        </p:nvSpPr>
        <p:spPr>
          <a:xfrm>
            <a:off x="1168400" y="2549525"/>
            <a:ext cx="8382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p4"/>
          <p:cNvSpPr/>
          <p:nvPr/>
        </p:nvSpPr>
        <p:spPr>
          <a:xfrm>
            <a:off x="1160970" y="2608771"/>
            <a:ext cx="1339310" cy="191643"/>
          </a:xfrm>
          <a:prstGeom prst="rect">
            <a:avLst/>
          </a:prstGeom>
          <a:noFill/>
          <a:ln>
            <a:noFill/>
          </a:ln>
        </p:spPr>
        <p:txBody>
          <a:bodyPr anchorCtr="0" anchor="t" bIns="0" lIns="0" spcFirstLastPara="1" rIns="4862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Open booking</a:t>
            </a:r>
            <a:endParaRPr b="0" i="0" sz="1400" u="none" cap="none" strike="noStrike">
              <a:solidFill>
                <a:srgbClr val="000000"/>
              </a:solidFill>
              <a:latin typeface="Arial"/>
              <a:ea typeface="Arial"/>
              <a:cs typeface="Arial"/>
              <a:sym typeface="Arial"/>
            </a:endParaRPr>
          </a:p>
        </p:txBody>
      </p:sp>
      <p:sp>
        <p:nvSpPr>
          <p:cNvPr id="433" name="Google Shape;433;p4"/>
          <p:cNvSpPr/>
          <p:nvPr/>
        </p:nvSpPr>
        <p:spPr>
          <a:xfrm>
            <a:off x="1786477" y="2774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434" name="Google Shape;434;p4"/>
          <p:cNvSpPr/>
          <p:nvPr/>
        </p:nvSpPr>
        <p:spPr>
          <a:xfrm>
            <a:off x="1168400" y="46545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4"/>
          <p:cNvSpPr/>
          <p:nvPr/>
        </p:nvSpPr>
        <p:spPr>
          <a:xfrm>
            <a:off x="1340517" y="4706652"/>
            <a:ext cx="811149" cy="191643"/>
          </a:xfrm>
          <a:prstGeom prst="rect">
            <a:avLst/>
          </a:prstGeom>
          <a:noFill/>
          <a:ln>
            <a:noFill/>
          </a:ln>
        </p:spPr>
        <p:txBody>
          <a:bodyPr anchorCtr="0" anchor="t" bIns="0" lIns="0" spcFirstLastPara="1" rIns="3171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a:t>
            </a:r>
            <a:endParaRPr b="0" i="0" sz="1400" u="none" cap="none" strike="noStrike">
              <a:solidFill>
                <a:srgbClr val="000000"/>
              </a:solidFill>
              <a:latin typeface="Arial"/>
              <a:ea typeface="Arial"/>
              <a:cs typeface="Arial"/>
              <a:sym typeface="Arial"/>
            </a:endParaRPr>
          </a:p>
        </p:txBody>
      </p:sp>
      <p:sp>
        <p:nvSpPr>
          <p:cNvPr id="436" name="Google Shape;436;p4"/>
          <p:cNvSpPr/>
          <p:nvPr/>
        </p:nvSpPr>
        <p:spPr>
          <a:xfrm>
            <a:off x="1270318" y="4854289"/>
            <a:ext cx="1229963" cy="191643"/>
          </a:xfrm>
          <a:prstGeom prst="rect">
            <a:avLst/>
          </a:prstGeom>
          <a:noFill/>
          <a:ln>
            <a:noFill/>
          </a:ln>
        </p:spPr>
        <p:txBody>
          <a:bodyPr anchorCtr="0" anchor="t" bIns="0" lIns="0" spcFirstLastPara="1" rIns="5955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Details call</a:t>
            </a:r>
            <a:endParaRPr b="0" i="0" sz="1400" u="none" cap="none" strike="noStrike">
              <a:solidFill>
                <a:srgbClr val="000000"/>
              </a:solidFill>
              <a:latin typeface="Arial"/>
              <a:ea typeface="Arial"/>
              <a:cs typeface="Arial"/>
              <a:sym typeface="Arial"/>
            </a:endParaRPr>
          </a:p>
        </p:txBody>
      </p:sp>
      <p:sp>
        <p:nvSpPr>
          <p:cNvPr id="437" name="Google Shape;437;p4"/>
          <p:cNvSpPr/>
          <p:nvPr/>
        </p:nvSpPr>
        <p:spPr>
          <a:xfrm>
            <a:off x="1786477" y="50133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438" name="Google Shape;438;p4"/>
          <p:cNvSpPr/>
          <p:nvPr/>
        </p:nvSpPr>
        <p:spPr>
          <a:xfrm>
            <a:off x="1282700" y="5597525"/>
            <a:ext cx="9906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
          <p:cNvSpPr/>
          <p:nvPr/>
        </p:nvSpPr>
        <p:spPr>
          <a:xfrm>
            <a:off x="1339374" y="5656771"/>
            <a:ext cx="1560576" cy="191643"/>
          </a:xfrm>
          <a:prstGeom prst="rect">
            <a:avLst/>
          </a:prstGeom>
          <a:noFill/>
          <a:ln>
            <a:noFill/>
          </a:ln>
        </p:spPr>
        <p:txBody>
          <a:bodyPr anchorCtr="0" anchor="t" bIns="0" lIns="0" spcFirstLastPara="1" rIns="683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Status + policy</a:t>
            </a:r>
            <a:endParaRPr b="0" i="0" sz="1400" u="none" cap="none" strike="noStrike">
              <a:solidFill>
                <a:srgbClr val="000000"/>
              </a:solidFill>
              <a:latin typeface="Arial"/>
              <a:ea typeface="Arial"/>
              <a:cs typeface="Arial"/>
              <a:sym typeface="Arial"/>
            </a:endParaRPr>
          </a:p>
        </p:txBody>
      </p:sp>
      <p:sp>
        <p:nvSpPr>
          <p:cNvPr id="440" name="Google Shape;440;p4"/>
          <p:cNvSpPr/>
          <p:nvPr/>
        </p:nvSpPr>
        <p:spPr>
          <a:xfrm>
            <a:off x="2053177" y="5822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441" name="Google Shape;441;p4"/>
          <p:cNvSpPr/>
          <p:nvPr/>
        </p:nvSpPr>
        <p:spPr>
          <a:xfrm>
            <a:off x="2298700" y="2482850"/>
            <a:ext cx="9906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p4"/>
          <p:cNvSpPr/>
          <p:nvPr/>
        </p:nvSpPr>
        <p:spPr>
          <a:xfrm>
            <a:off x="2357660" y="2534952"/>
            <a:ext cx="1488567" cy="191643"/>
          </a:xfrm>
          <a:prstGeom prst="rect">
            <a:avLst/>
          </a:prstGeom>
          <a:noFill/>
          <a:ln>
            <a:noFill/>
          </a:ln>
        </p:spPr>
        <p:txBody>
          <a:bodyPr anchorCtr="0" anchor="t" bIns="0" lIns="0" spcFirstLastPara="1" rIns="6158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Show details +</a:t>
            </a:r>
            <a:endParaRPr b="0" i="0" sz="1400" u="none" cap="none" strike="noStrike">
              <a:solidFill>
                <a:srgbClr val="000000"/>
              </a:solidFill>
              <a:latin typeface="Arial"/>
              <a:ea typeface="Arial"/>
              <a:cs typeface="Arial"/>
              <a:sym typeface="Arial"/>
            </a:endParaRPr>
          </a:p>
        </p:txBody>
      </p:sp>
      <p:sp>
        <p:nvSpPr>
          <p:cNvPr id="443" name="Google Shape;443;p4"/>
          <p:cNvSpPr/>
          <p:nvPr/>
        </p:nvSpPr>
        <p:spPr>
          <a:xfrm>
            <a:off x="2434717" y="2682589"/>
            <a:ext cx="1272064" cy="191643"/>
          </a:xfrm>
          <a:prstGeom prst="rect">
            <a:avLst/>
          </a:prstGeom>
          <a:noFill/>
          <a:ln>
            <a:noFill/>
          </a:ln>
        </p:spPr>
        <p:txBody>
          <a:bodyPr anchorCtr="0" anchor="t" bIns="0" lIns="0" spcFirstLastPara="1" rIns="5534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review entry</a:t>
            </a:r>
            <a:endParaRPr b="0" i="0" sz="1400" u="none" cap="none" strike="noStrike">
              <a:solidFill>
                <a:srgbClr val="000000"/>
              </a:solidFill>
              <a:latin typeface="Arial"/>
              <a:ea typeface="Arial"/>
              <a:cs typeface="Arial"/>
              <a:sym typeface="Arial"/>
            </a:endParaRPr>
          </a:p>
        </p:txBody>
      </p:sp>
      <p:sp>
        <p:nvSpPr>
          <p:cNvPr id="444" name="Google Shape;444;p4"/>
          <p:cNvSpPr/>
          <p:nvPr/>
        </p:nvSpPr>
        <p:spPr>
          <a:xfrm>
            <a:off x="3069177" y="2841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S2</a:t>
            </a:r>
            <a:endParaRPr b="0" i="0" sz="1400" u="none" cap="none" strike="noStrike">
              <a:solidFill>
                <a:srgbClr val="000000"/>
              </a:solidFill>
              <a:latin typeface="Arial"/>
              <a:ea typeface="Arial"/>
              <a:cs typeface="Arial"/>
              <a:sym typeface="Arial"/>
            </a:endParaRPr>
          </a:p>
        </p:txBody>
      </p:sp>
      <p:sp>
        <p:nvSpPr>
          <p:cNvPr id="445" name="Google Shape;445;p4"/>
          <p:cNvSpPr/>
          <p:nvPr/>
        </p:nvSpPr>
        <p:spPr>
          <a:xfrm>
            <a:off x="2393950" y="4203700"/>
            <a:ext cx="1181100" cy="609600"/>
          </a:xfrm>
          <a:prstGeom prst="roundRect">
            <a:avLst>
              <a:gd fmla="val 7812" name="adj"/>
            </a:avLst>
          </a:prstGeom>
          <a:solidFill>
            <a:srgbClr val="FBF9F2"/>
          </a:solidFill>
          <a:ln cap="flat" cmpd="sng" w="9525">
            <a:solidFill>
              <a:srgbClr val="D8CFBC"/>
            </a:solidFill>
            <a:prstDash val="dash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4"/>
          <p:cNvSpPr/>
          <p:nvPr/>
        </p:nvSpPr>
        <p:spPr>
          <a:xfrm>
            <a:off x="2543302" y="4256183"/>
            <a:ext cx="1528382" cy="155258"/>
          </a:xfrm>
          <a:prstGeom prst="rect">
            <a:avLst/>
          </a:prstGeom>
          <a:noFill/>
          <a:ln>
            <a:noFill/>
          </a:ln>
        </p:spPr>
        <p:txBody>
          <a:bodyPr anchorCtr="0" anchor="t" bIns="0" lIns="0" spcFirstLastPara="1" rIns="645975" wrap="square" tIns="25">
            <a:noAutofit/>
          </a:bodyPr>
          <a:lstStyle/>
          <a:p>
            <a:pPr indent="0" lvl="0" marL="0" marR="0" rtl="0" algn="ctr">
              <a:lnSpc>
                <a:spcPct val="100000"/>
              </a:lnSpc>
              <a:spcBef>
                <a:spcPts val="0"/>
              </a:spcBef>
              <a:spcAft>
                <a:spcPts val="0"/>
              </a:spcAft>
              <a:buClr>
                <a:srgbClr val="000000"/>
              </a:buClr>
              <a:buSzPts val="790"/>
              <a:buFont typeface="Arial"/>
              <a:buNone/>
            </a:pPr>
            <a:r>
              <a:rPr b="0" i="0" lang="en" sz="790" u="none" cap="none" strike="noStrike">
                <a:solidFill>
                  <a:srgbClr val="1F2A26"/>
                </a:solidFill>
                <a:latin typeface="Quattrocento Sans"/>
                <a:ea typeface="Quattrocento Sans"/>
                <a:cs typeface="Quattrocento Sans"/>
                <a:sym typeface="Quattrocento Sans"/>
              </a:rPr>
              <a:t>Snapshot (Search):</a:t>
            </a:r>
            <a:endParaRPr b="0" i="0" sz="1400" u="none" cap="none" strike="noStrike">
              <a:solidFill>
                <a:srgbClr val="000000"/>
              </a:solidFill>
              <a:latin typeface="Arial"/>
              <a:ea typeface="Arial"/>
              <a:cs typeface="Arial"/>
              <a:sym typeface="Arial"/>
            </a:endParaRPr>
          </a:p>
        </p:txBody>
      </p:sp>
      <p:sp>
        <p:nvSpPr>
          <p:cNvPr id="447" name="Google Shape;447;p4"/>
          <p:cNvSpPr/>
          <p:nvPr/>
        </p:nvSpPr>
        <p:spPr>
          <a:xfrm>
            <a:off x="2566448" y="4380008"/>
            <a:ext cx="1505236" cy="155258"/>
          </a:xfrm>
          <a:prstGeom prst="rect">
            <a:avLst/>
          </a:prstGeom>
          <a:noFill/>
          <a:ln>
            <a:noFill/>
          </a:ln>
        </p:spPr>
        <p:txBody>
          <a:bodyPr anchorCtr="0" anchor="t" bIns="0" lIns="0" spcFirstLastPara="1" rIns="669125" wrap="square" tIns="25">
            <a:noAutofit/>
          </a:bodyPr>
          <a:lstStyle/>
          <a:p>
            <a:pPr indent="0" lvl="0" marL="0" marR="0" rtl="0" algn="ctr">
              <a:lnSpc>
                <a:spcPct val="100000"/>
              </a:lnSpc>
              <a:spcBef>
                <a:spcPts val="0"/>
              </a:spcBef>
              <a:spcAft>
                <a:spcPts val="0"/>
              </a:spcAft>
              <a:buClr>
                <a:srgbClr val="000000"/>
              </a:buClr>
              <a:buSzPts val="790"/>
              <a:buFont typeface="Arial"/>
              <a:buNone/>
            </a:pPr>
            <a:r>
              <a:rPr b="0" i="0" lang="en" sz="790" u="none" cap="none" strike="noStrike">
                <a:solidFill>
                  <a:srgbClr val="1F2A26"/>
                </a:solidFill>
                <a:latin typeface="Quattrocento Sans"/>
                <a:ea typeface="Quattrocento Sans"/>
                <a:cs typeface="Quattrocento Sans"/>
                <a:sym typeface="Quattrocento Sans"/>
              </a:rPr>
              <a:t>freeCancellation*,</a:t>
            </a:r>
            <a:endParaRPr b="0" i="0" sz="1400" u="none" cap="none" strike="noStrike">
              <a:solidFill>
                <a:srgbClr val="000000"/>
              </a:solidFill>
              <a:latin typeface="Arial"/>
              <a:ea typeface="Arial"/>
              <a:cs typeface="Arial"/>
              <a:sym typeface="Arial"/>
            </a:endParaRPr>
          </a:p>
        </p:txBody>
      </p:sp>
      <p:sp>
        <p:nvSpPr>
          <p:cNvPr id="448" name="Google Shape;448;p4"/>
          <p:cNvSpPr/>
          <p:nvPr/>
        </p:nvSpPr>
        <p:spPr>
          <a:xfrm>
            <a:off x="2540159" y="4503833"/>
            <a:ext cx="1587722" cy="155258"/>
          </a:xfrm>
          <a:prstGeom prst="rect">
            <a:avLst/>
          </a:prstGeom>
          <a:noFill/>
          <a:ln>
            <a:noFill/>
          </a:ln>
        </p:spPr>
        <p:txBody>
          <a:bodyPr anchorCtr="0" anchor="t" bIns="0" lIns="0" spcFirstLastPara="1" rIns="699025" wrap="square" tIns="25">
            <a:noAutofit/>
          </a:bodyPr>
          <a:lstStyle/>
          <a:p>
            <a:pPr indent="0" lvl="0" marL="0" marR="0" rtl="0" algn="ctr">
              <a:lnSpc>
                <a:spcPct val="100000"/>
              </a:lnSpc>
              <a:spcBef>
                <a:spcPts val="0"/>
              </a:spcBef>
              <a:spcAft>
                <a:spcPts val="0"/>
              </a:spcAft>
              <a:buClr>
                <a:srgbClr val="000000"/>
              </a:buClr>
              <a:buSzPts val="790"/>
              <a:buFont typeface="Arial"/>
              <a:buNone/>
            </a:pPr>
            <a:r>
              <a:rPr b="0" i="0" lang="en" sz="790" u="none" cap="none" strike="noStrike">
                <a:solidFill>
                  <a:srgbClr val="1F2A26"/>
                </a:solidFill>
                <a:latin typeface="Quattrocento Sans"/>
                <a:ea typeface="Quattrocento Sans"/>
                <a:cs typeface="Quattrocento Sans"/>
                <a:sym typeface="Quattrocento Sans"/>
              </a:rPr>
              <a:t>cancellationPolicy*</a:t>
            </a:r>
            <a:endParaRPr b="0" i="0" sz="1400" u="none" cap="none" strike="noStrike">
              <a:solidFill>
                <a:srgbClr val="000000"/>
              </a:solidFill>
              <a:latin typeface="Arial"/>
              <a:ea typeface="Arial"/>
              <a:cs typeface="Arial"/>
              <a:sym typeface="Arial"/>
            </a:endParaRPr>
          </a:p>
        </p:txBody>
      </p:sp>
      <p:sp>
        <p:nvSpPr>
          <p:cNvPr id="449" name="Google Shape;449;p4"/>
          <p:cNvSpPr/>
          <p:nvPr/>
        </p:nvSpPr>
        <p:spPr>
          <a:xfrm>
            <a:off x="2665794" y="4627658"/>
            <a:ext cx="1181290" cy="155258"/>
          </a:xfrm>
          <a:prstGeom prst="rect">
            <a:avLst/>
          </a:prstGeom>
          <a:noFill/>
          <a:ln>
            <a:noFill/>
          </a:ln>
        </p:spPr>
        <p:txBody>
          <a:bodyPr anchorCtr="0" anchor="t" bIns="0" lIns="0" spcFirstLastPara="1" rIns="543875" wrap="square" tIns="25">
            <a:noAutofit/>
          </a:bodyPr>
          <a:lstStyle/>
          <a:p>
            <a:pPr indent="0" lvl="0" marL="0" marR="0" rtl="0" algn="ctr">
              <a:lnSpc>
                <a:spcPct val="100000"/>
              </a:lnSpc>
              <a:spcBef>
                <a:spcPts val="0"/>
              </a:spcBef>
              <a:spcAft>
                <a:spcPts val="0"/>
              </a:spcAft>
              <a:buClr>
                <a:srgbClr val="000000"/>
              </a:buClr>
              <a:buSzPts val="790"/>
              <a:buFont typeface="Arial"/>
              <a:buNone/>
            </a:pPr>
            <a:r>
              <a:rPr b="0" i="0" lang="en" sz="790" u="none" cap="none" strike="noStrike">
                <a:solidFill>
                  <a:srgbClr val="1F2A26"/>
                </a:solidFill>
                <a:latin typeface="Quattrocento Sans"/>
                <a:ea typeface="Quattrocento Sans"/>
                <a:cs typeface="Quattrocento Sans"/>
                <a:sym typeface="Quattrocento Sans"/>
              </a:rPr>
              <a:t>- display only</a:t>
            </a:r>
            <a:endParaRPr b="0" i="0" sz="1400" u="none" cap="none" strike="noStrike">
              <a:solidFill>
                <a:srgbClr val="000000"/>
              </a:solidFill>
              <a:latin typeface="Arial"/>
              <a:ea typeface="Arial"/>
              <a:cs typeface="Arial"/>
              <a:sym typeface="Arial"/>
            </a:endParaRPr>
          </a:p>
        </p:txBody>
      </p:sp>
      <p:sp>
        <p:nvSpPr>
          <p:cNvPr id="450" name="Google Shape;450;p4"/>
          <p:cNvSpPr/>
          <p:nvPr/>
        </p:nvSpPr>
        <p:spPr>
          <a:xfrm>
            <a:off x="2692400" y="4987925"/>
            <a:ext cx="8382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
          <p:cNvSpPr/>
          <p:nvPr/>
        </p:nvSpPr>
        <p:spPr>
          <a:xfrm>
            <a:off x="2694114" y="5047171"/>
            <a:ext cx="1469612" cy="191643"/>
          </a:xfrm>
          <a:prstGeom prst="rect">
            <a:avLst/>
          </a:prstGeom>
          <a:noFill/>
          <a:ln>
            <a:noFill/>
          </a:ln>
        </p:spPr>
        <p:txBody>
          <a:bodyPr anchorCtr="0" anchor="t" bIns="0" lIns="0" spcFirstLastPara="1" rIns="6348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Receive status</a:t>
            </a:r>
            <a:endParaRPr b="0" i="0" sz="1400" u="none" cap="none" strike="noStrike">
              <a:solidFill>
                <a:srgbClr val="000000"/>
              </a:solidFill>
              <a:latin typeface="Arial"/>
              <a:ea typeface="Arial"/>
              <a:cs typeface="Arial"/>
              <a:sym typeface="Arial"/>
            </a:endParaRPr>
          </a:p>
        </p:txBody>
      </p:sp>
      <p:sp>
        <p:nvSpPr>
          <p:cNvPr id="452" name="Google Shape;452;p4"/>
          <p:cNvSpPr/>
          <p:nvPr/>
        </p:nvSpPr>
        <p:spPr>
          <a:xfrm>
            <a:off x="3310477" y="52133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S1</a:t>
            </a:r>
            <a:endParaRPr b="0" i="0" sz="1400" u="none" cap="none" strike="noStrike">
              <a:solidFill>
                <a:srgbClr val="000000"/>
              </a:solidFill>
              <a:latin typeface="Arial"/>
              <a:ea typeface="Arial"/>
              <a:cs typeface="Arial"/>
              <a:sym typeface="Arial"/>
            </a:endParaRPr>
          </a:p>
        </p:txBody>
      </p:sp>
      <p:sp>
        <p:nvSpPr>
          <p:cNvPr id="453" name="Google Shape;453;p4"/>
          <p:cNvSpPr/>
          <p:nvPr/>
        </p:nvSpPr>
        <p:spPr>
          <a:xfrm>
            <a:off x="23749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4"/>
          <p:cNvSpPr/>
          <p:nvPr/>
        </p:nvSpPr>
        <p:spPr>
          <a:xfrm>
            <a:off x="2440908" y="1366552"/>
            <a:ext cx="1196150" cy="191643"/>
          </a:xfrm>
          <a:prstGeom prst="rect">
            <a:avLst/>
          </a:prstGeom>
          <a:noFill/>
          <a:ln>
            <a:noFill/>
          </a:ln>
        </p:spPr>
        <p:txBody>
          <a:bodyPr anchorCtr="0" anchor="t" bIns="0" lIns="0" spcFirstLastPara="1" rIns="489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Tap 'Review</a:t>
            </a:r>
            <a:endParaRPr b="0" i="0" sz="1400" u="none" cap="none" strike="noStrike">
              <a:solidFill>
                <a:srgbClr val="000000"/>
              </a:solidFill>
              <a:latin typeface="Arial"/>
              <a:ea typeface="Arial"/>
              <a:cs typeface="Arial"/>
              <a:sym typeface="Arial"/>
            </a:endParaRPr>
          </a:p>
        </p:txBody>
      </p:sp>
      <p:sp>
        <p:nvSpPr>
          <p:cNvPr id="455" name="Google Shape;455;p4"/>
          <p:cNvSpPr/>
          <p:nvPr/>
        </p:nvSpPr>
        <p:spPr>
          <a:xfrm>
            <a:off x="2427764" y="1514189"/>
            <a:ext cx="1348740" cy="191643"/>
          </a:xfrm>
          <a:prstGeom prst="rect">
            <a:avLst/>
          </a:prstGeom>
          <a:noFill/>
          <a:ln>
            <a:noFill/>
          </a:ln>
        </p:spPr>
        <p:txBody>
          <a:bodyPr anchorCtr="0" anchor="t" bIns="0" lIns="0" spcFirstLastPara="1" rIns="6162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cancellation'</a:t>
            </a:r>
            <a:endParaRPr b="0" i="0" sz="1400" u="none" cap="none" strike="noStrike">
              <a:solidFill>
                <a:srgbClr val="000000"/>
              </a:solidFill>
              <a:latin typeface="Arial"/>
              <a:ea typeface="Arial"/>
              <a:cs typeface="Arial"/>
              <a:sym typeface="Arial"/>
            </a:endParaRPr>
          </a:p>
        </p:txBody>
      </p:sp>
      <p:sp>
        <p:nvSpPr>
          <p:cNvPr id="456" name="Google Shape;456;p4"/>
          <p:cNvSpPr/>
          <p:nvPr/>
        </p:nvSpPr>
        <p:spPr>
          <a:xfrm>
            <a:off x="29929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S2</a:t>
            </a:r>
            <a:endParaRPr b="0" i="0" sz="1400" u="none" cap="none" strike="noStrike">
              <a:solidFill>
                <a:srgbClr val="000000"/>
              </a:solidFill>
              <a:latin typeface="Arial"/>
              <a:ea typeface="Arial"/>
              <a:cs typeface="Arial"/>
              <a:sym typeface="Arial"/>
            </a:endParaRPr>
          </a:p>
        </p:txBody>
      </p:sp>
      <p:sp>
        <p:nvSpPr>
          <p:cNvPr id="457" name="Google Shape;457;p4"/>
          <p:cNvSpPr/>
          <p:nvPr/>
        </p:nvSpPr>
        <p:spPr>
          <a:xfrm>
            <a:off x="3860800" y="4794250"/>
            <a:ext cx="914400" cy="571500"/>
          </a:xfrm>
          <a:custGeom>
            <a:rect b="b" l="l" r="r" t="t"/>
            <a:pathLst>
              <a:path extrusionOk="0" h="571500" w="914400">
                <a:moveTo>
                  <a:pt x="457200" y="0"/>
                </a:moveTo>
                <a:lnTo>
                  <a:pt x="914400" y="285750"/>
                </a:lnTo>
                <a:lnTo>
                  <a:pt x="45720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8" name="Google Shape;458;p4"/>
          <p:cNvSpPr/>
          <p:nvPr/>
        </p:nvSpPr>
        <p:spPr>
          <a:xfrm>
            <a:off x="4127405" y="4886452"/>
            <a:ext cx="674942" cy="161925"/>
          </a:xfrm>
          <a:prstGeom prst="rect">
            <a:avLst/>
          </a:prstGeom>
          <a:noFill/>
          <a:ln>
            <a:noFill/>
          </a:ln>
        </p:spPr>
        <p:txBody>
          <a:bodyPr anchorCtr="0" anchor="t" bIns="0" lIns="0" spcFirstLastPara="1" rIns="2937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Already</a:t>
            </a:r>
            <a:endParaRPr b="0" i="0" sz="1400" u="none" cap="none" strike="noStrike">
              <a:solidFill>
                <a:srgbClr val="000000"/>
              </a:solidFill>
              <a:latin typeface="Arial"/>
              <a:ea typeface="Arial"/>
              <a:cs typeface="Arial"/>
              <a:sym typeface="Arial"/>
            </a:endParaRPr>
          </a:p>
        </p:txBody>
      </p:sp>
      <p:sp>
        <p:nvSpPr>
          <p:cNvPr id="459" name="Google Shape;459;p4"/>
          <p:cNvSpPr/>
          <p:nvPr/>
        </p:nvSpPr>
        <p:spPr>
          <a:xfrm>
            <a:off x="4061206" y="5015039"/>
            <a:ext cx="916019" cy="161925"/>
          </a:xfrm>
          <a:prstGeom prst="rect">
            <a:avLst/>
          </a:prstGeom>
          <a:noFill/>
          <a:ln>
            <a:noFill/>
          </a:ln>
        </p:spPr>
        <p:txBody>
          <a:bodyPr anchorCtr="0" anchor="t" bIns="0" lIns="0" spcFirstLastPara="1" rIns="40242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cancelled?</a:t>
            </a:r>
            <a:endParaRPr b="0" i="0" sz="1400" u="none" cap="none" strike="noStrike">
              <a:solidFill>
                <a:srgbClr val="000000"/>
              </a:solidFill>
              <a:latin typeface="Arial"/>
              <a:ea typeface="Arial"/>
              <a:cs typeface="Arial"/>
              <a:sym typeface="Arial"/>
            </a:endParaRPr>
          </a:p>
        </p:txBody>
      </p:sp>
      <p:sp>
        <p:nvSpPr>
          <p:cNvPr id="460" name="Google Shape;460;p4"/>
          <p:cNvSpPr/>
          <p:nvPr/>
        </p:nvSpPr>
        <p:spPr>
          <a:xfrm>
            <a:off x="4215606" y="5143627"/>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(S3)</a:t>
            </a:r>
            <a:endParaRPr b="0" i="0" sz="1400" u="none" cap="none" strike="noStrike">
              <a:solidFill>
                <a:srgbClr val="000000"/>
              </a:solidFill>
              <a:latin typeface="Arial"/>
              <a:ea typeface="Arial"/>
              <a:cs typeface="Arial"/>
              <a:sym typeface="Arial"/>
            </a:endParaRPr>
          </a:p>
        </p:txBody>
      </p:sp>
      <p:sp>
        <p:nvSpPr>
          <p:cNvPr id="461" name="Google Shape;461;p4"/>
          <p:cNvSpPr/>
          <p:nvPr/>
        </p:nvSpPr>
        <p:spPr>
          <a:xfrm>
            <a:off x="3860800" y="2482850"/>
            <a:ext cx="91440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4"/>
          <p:cNvSpPr/>
          <p:nvPr/>
        </p:nvSpPr>
        <p:spPr>
          <a:xfrm>
            <a:off x="3984530" y="2534952"/>
            <a:ext cx="1176528" cy="191643"/>
          </a:xfrm>
          <a:prstGeom prst="rect">
            <a:avLst/>
          </a:prstGeom>
          <a:noFill/>
          <a:ln>
            <a:noFill/>
          </a:ln>
        </p:spPr>
        <p:txBody>
          <a:bodyPr anchorCtr="0" anchor="t" bIns="0" lIns="0" spcFirstLastPara="1" rIns="5095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Cancelled -</a:t>
            </a:r>
            <a:endParaRPr b="0" i="0" sz="1400" u="none" cap="none" strike="noStrike">
              <a:solidFill>
                <a:srgbClr val="000000"/>
              </a:solidFill>
              <a:latin typeface="Arial"/>
              <a:ea typeface="Arial"/>
              <a:cs typeface="Arial"/>
              <a:sym typeface="Arial"/>
            </a:endParaRPr>
          </a:p>
        </p:txBody>
      </p:sp>
      <p:sp>
        <p:nvSpPr>
          <p:cNvPr id="463" name="Google Shape;463;p4"/>
          <p:cNvSpPr/>
          <p:nvPr/>
        </p:nvSpPr>
        <p:spPr>
          <a:xfrm>
            <a:off x="4027297" y="2682589"/>
            <a:ext cx="994315" cy="191643"/>
          </a:xfrm>
          <a:prstGeom prst="rect">
            <a:avLst/>
          </a:prstGeom>
          <a:noFill/>
          <a:ln>
            <a:noFill/>
          </a:ln>
        </p:spPr>
        <p:txBody>
          <a:bodyPr anchorCtr="0" anchor="t" bIns="0" lIns="0" spcFirstLastPara="1" rIns="4129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option</a:t>
            </a:r>
            <a:endParaRPr b="0" i="0" sz="1400" u="none" cap="none" strike="noStrike">
              <a:solidFill>
                <a:srgbClr val="000000"/>
              </a:solidFill>
              <a:latin typeface="Arial"/>
              <a:ea typeface="Arial"/>
              <a:cs typeface="Arial"/>
              <a:sym typeface="Arial"/>
            </a:endParaRPr>
          </a:p>
        </p:txBody>
      </p:sp>
      <p:sp>
        <p:nvSpPr>
          <p:cNvPr id="464" name="Google Shape;464;p4"/>
          <p:cNvSpPr/>
          <p:nvPr/>
        </p:nvSpPr>
        <p:spPr>
          <a:xfrm>
            <a:off x="4605655" y="28416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B</a:t>
            </a:r>
            <a:endParaRPr b="0" i="0" sz="1400" u="none" cap="none" strike="noStrike">
              <a:solidFill>
                <a:srgbClr val="000000"/>
              </a:solidFill>
              <a:latin typeface="Arial"/>
              <a:ea typeface="Arial"/>
              <a:cs typeface="Arial"/>
              <a:sym typeface="Arial"/>
            </a:endParaRPr>
          </a:p>
        </p:txBody>
      </p:sp>
      <p:sp>
        <p:nvSpPr>
          <p:cNvPr id="465" name="Google Shape;465;p4"/>
          <p:cNvSpPr/>
          <p:nvPr/>
        </p:nvSpPr>
        <p:spPr>
          <a:xfrm>
            <a:off x="5257800" y="4794250"/>
            <a:ext cx="914400" cy="571500"/>
          </a:xfrm>
          <a:custGeom>
            <a:rect b="b" l="l" r="r" t="t"/>
            <a:pathLst>
              <a:path extrusionOk="0" h="571500" w="914400">
                <a:moveTo>
                  <a:pt x="457200" y="0"/>
                </a:moveTo>
                <a:lnTo>
                  <a:pt x="914400" y="285750"/>
                </a:lnTo>
                <a:lnTo>
                  <a:pt x="45720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p4"/>
          <p:cNvSpPr/>
          <p:nvPr/>
        </p:nvSpPr>
        <p:spPr>
          <a:xfrm>
            <a:off x="5550598" y="4886452"/>
            <a:ext cx="590360" cy="161925"/>
          </a:xfrm>
          <a:prstGeom prst="rect">
            <a:avLst/>
          </a:prstGeom>
          <a:noFill/>
          <a:ln>
            <a:noFill/>
          </a:ln>
        </p:spPr>
        <p:txBody>
          <a:bodyPr anchorCtr="0" anchor="t" bIns="0" lIns="0" spcFirstLastPara="1" rIns="2615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Before</a:t>
            </a:r>
            <a:endParaRPr b="0" i="0" sz="1400" u="none" cap="none" strike="noStrike">
              <a:solidFill>
                <a:srgbClr val="000000"/>
              </a:solidFill>
              <a:latin typeface="Arial"/>
              <a:ea typeface="Arial"/>
              <a:cs typeface="Arial"/>
              <a:sym typeface="Arial"/>
            </a:endParaRPr>
          </a:p>
        </p:txBody>
      </p:sp>
      <p:sp>
        <p:nvSpPr>
          <p:cNvPr id="467" name="Google Shape;467;p4"/>
          <p:cNvSpPr/>
          <p:nvPr/>
        </p:nvSpPr>
        <p:spPr>
          <a:xfrm>
            <a:off x="5480304" y="5015039"/>
            <a:ext cx="835628" cy="161925"/>
          </a:xfrm>
          <a:prstGeom prst="rect">
            <a:avLst/>
          </a:prstGeom>
          <a:noFill/>
          <a:ln>
            <a:noFill/>
          </a:ln>
        </p:spPr>
        <p:txBody>
          <a:bodyPr anchorCtr="0" anchor="t" bIns="0" lIns="0" spcFirstLastPara="1" rIns="36622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check-in?</a:t>
            </a:r>
            <a:endParaRPr b="0" i="0" sz="1400" u="none" cap="none" strike="noStrike">
              <a:solidFill>
                <a:srgbClr val="000000"/>
              </a:solidFill>
              <a:latin typeface="Arial"/>
              <a:ea typeface="Arial"/>
              <a:cs typeface="Arial"/>
              <a:sym typeface="Arial"/>
            </a:endParaRPr>
          </a:p>
        </p:txBody>
      </p:sp>
      <p:sp>
        <p:nvSpPr>
          <p:cNvPr id="468" name="Google Shape;468;p4"/>
          <p:cNvSpPr/>
          <p:nvPr/>
        </p:nvSpPr>
        <p:spPr>
          <a:xfrm>
            <a:off x="5612606" y="5143627"/>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(S3)</a:t>
            </a:r>
            <a:endParaRPr b="0" i="0" sz="1400" u="none" cap="none" strike="noStrike">
              <a:solidFill>
                <a:srgbClr val="000000"/>
              </a:solidFill>
              <a:latin typeface="Arial"/>
              <a:ea typeface="Arial"/>
              <a:cs typeface="Arial"/>
              <a:sym typeface="Arial"/>
            </a:endParaRPr>
          </a:p>
        </p:txBody>
      </p:sp>
      <p:sp>
        <p:nvSpPr>
          <p:cNvPr id="469" name="Google Shape;469;p4"/>
          <p:cNvSpPr/>
          <p:nvPr/>
        </p:nvSpPr>
        <p:spPr>
          <a:xfrm>
            <a:off x="5257800" y="2482850"/>
            <a:ext cx="9144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4"/>
          <p:cNvSpPr/>
          <p:nvPr/>
        </p:nvSpPr>
        <p:spPr>
          <a:xfrm>
            <a:off x="5327523" y="2534952"/>
            <a:ext cx="1369981" cy="191643"/>
          </a:xfrm>
          <a:prstGeom prst="rect">
            <a:avLst/>
          </a:prstGeom>
          <a:noFill/>
          <a:ln>
            <a:noFill/>
          </a:ln>
        </p:spPr>
        <p:txBody>
          <a:bodyPr anchorCtr="0" anchor="t" bIns="0" lIns="0" spcFirstLastPara="1" rIns="595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Unavailable -</a:t>
            </a:r>
            <a:endParaRPr b="0" i="0" sz="1400" u="none" cap="none" strike="noStrike">
              <a:solidFill>
                <a:srgbClr val="000000"/>
              </a:solidFill>
              <a:latin typeface="Arial"/>
              <a:ea typeface="Arial"/>
              <a:cs typeface="Arial"/>
              <a:sym typeface="Arial"/>
            </a:endParaRPr>
          </a:p>
        </p:txBody>
      </p:sp>
      <p:sp>
        <p:nvSpPr>
          <p:cNvPr id="471" name="Google Shape;471;p4"/>
          <p:cNvSpPr/>
          <p:nvPr/>
        </p:nvSpPr>
        <p:spPr>
          <a:xfrm>
            <a:off x="5327809" y="2682589"/>
            <a:ext cx="1369695" cy="191643"/>
          </a:xfrm>
          <a:prstGeom prst="rect">
            <a:avLst/>
          </a:prstGeom>
          <a:noFill/>
          <a:ln>
            <a:noFill/>
          </a:ln>
        </p:spPr>
        <p:txBody>
          <a:bodyPr anchorCtr="0" anchor="t" bIns="0" lIns="0" spcFirstLastPara="1" rIns="595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offer support</a:t>
            </a:r>
            <a:endParaRPr b="0" i="0" sz="1400" u="none" cap="none" strike="noStrike">
              <a:solidFill>
                <a:srgbClr val="000000"/>
              </a:solidFill>
              <a:latin typeface="Arial"/>
              <a:ea typeface="Arial"/>
              <a:cs typeface="Arial"/>
              <a:sym typeface="Arial"/>
            </a:endParaRPr>
          </a:p>
        </p:txBody>
      </p:sp>
      <p:sp>
        <p:nvSpPr>
          <p:cNvPr id="472" name="Google Shape;472;p4"/>
          <p:cNvSpPr/>
          <p:nvPr/>
        </p:nvSpPr>
        <p:spPr>
          <a:xfrm>
            <a:off x="6002655" y="28416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473" name="Google Shape;473;p4"/>
          <p:cNvSpPr/>
          <p:nvPr/>
        </p:nvSpPr>
        <p:spPr>
          <a:xfrm>
            <a:off x="5295900" y="1314450"/>
            <a:ext cx="8382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4"/>
          <p:cNvSpPr/>
          <p:nvPr/>
        </p:nvSpPr>
        <p:spPr>
          <a:xfrm>
            <a:off x="5340191" y="1366552"/>
            <a:ext cx="1287590" cy="191643"/>
          </a:xfrm>
          <a:prstGeom prst="rect">
            <a:avLst/>
          </a:prstGeom>
          <a:noFill/>
          <a:ln>
            <a:noFill/>
          </a:ln>
        </p:spPr>
        <p:txBody>
          <a:bodyPr anchorCtr="0" anchor="t" bIns="0" lIns="0" spcFirstLastPara="1" rIns="537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Tap 'Contact</a:t>
            </a:r>
            <a:endParaRPr b="0" i="0" sz="1400" u="none" cap="none" strike="noStrike">
              <a:solidFill>
                <a:srgbClr val="000000"/>
              </a:solidFill>
              <a:latin typeface="Arial"/>
              <a:ea typeface="Arial"/>
              <a:cs typeface="Arial"/>
              <a:sym typeface="Arial"/>
            </a:endParaRPr>
          </a:p>
        </p:txBody>
      </p:sp>
      <p:sp>
        <p:nvSpPr>
          <p:cNvPr id="475" name="Google Shape;475;p4"/>
          <p:cNvSpPr/>
          <p:nvPr/>
        </p:nvSpPr>
        <p:spPr>
          <a:xfrm>
            <a:off x="5468017" y="1514189"/>
            <a:ext cx="880872" cy="191643"/>
          </a:xfrm>
          <a:prstGeom prst="rect">
            <a:avLst/>
          </a:prstGeom>
          <a:noFill/>
          <a:ln>
            <a:noFill/>
          </a:ln>
        </p:spPr>
        <p:txBody>
          <a:bodyPr anchorCtr="0" anchor="t" bIns="0" lIns="0" spcFirstLastPara="1" rIns="3869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476" name="Google Shape;476;p4"/>
          <p:cNvSpPr/>
          <p:nvPr/>
        </p:nvSpPr>
        <p:spPr>
          <a:xfrm>
            <a:off x="5964555" y="16732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477" name="Google Shape;477;p4"/>
          <p:cNvSpPr/>
          <p:nvPr/>
        </p:nvSpPr>
        <p:spPr>
          <a:xfrm>
            <a:off x="6896100" y="3502025"/>
            <a:ext cx="9144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8" name="Google Shape;478;p4"/>
          <p:cNvSpPr/>
          <p:nvPr/>
        </p:nvSpPr>
        <p:spPr>
          <a:xfrm>
            <a:off x="6953440" y="3561271"/>
            <a:ext cx="1382363" cy="191643"/>
          </a:xfrm>
          <a:prstGeom prst="rect">
            <a:avLst/>
          </a:prstGeom>
          <a:noFill/>
          <a:ln>
            <a:noFill/>
          </a:ln>
        </p:spPr>
        <p:txBody>
          <a:bodyPr anchorCtr="0" anchor="t" bIns="0" lIns="0" spcFirstLastPara="1" rIns="5826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Loading state</a:t>
            </a:r>
            <a:endParaRPr b="0" i="0" sz="1400" u="none" cap="none" strike="noStrike">
              <a:solidFill>
                <a:srgbClr val="000000"/>
              </a:solidFill>
              <a:latin typeface="Arial"/>
              <a:ea typeface="Arial"/>
              <a:cs typeface="Arial"/>
              <a:sym typeface="Arial"/>
            </a:endParaRPr>
          </a:p>
        </p:txBody>
      </p:sp>
      <p:sp>
        <p:nvSpPr>
          <p:cNvPr id="479" name="Google Shape;479;p4"/>
          <p:cNvSpPr/>
          <p:nvPr/>
        </p:nvSpPr>
        <p:spPr>
          <a:xfrm>
            <a:off x="7590377" y="37274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480" name="Google Shape;480;p4"/>
          <p:cNvSpPr/>
          <p:nvPr/>
        </p:nvSpPr>
        <p:spPr>
          <a:xfrm>
            <a:off x="7254875" y="4197350"/>
            <a:ext cx="123825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p4"/>
          <p:cNvSpPr/>
          <p:nvPr/>
        </p:nvSpPr>
        <p:spPr>
          <a:xfrm>
            <a:off x="7456900" y="4249452"/>
            <a:ext cx="1469326" cy="191643"/>
          </a:xfrm>
          <a:prstGeom prst="rect">
            <a:avLst/>
          </a:prstGeom>
          <a:noFill/>
          <a:ln>
            <a:noFill/>
          </a:ln>
        </p:spPr>
        <p:txBody>
          <a:bodyPr anchorCtr="0" anchor="t" bIns="0" lIns="0" spcFirstLastPara="1" rIns="635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 ticket</a:t>
            </a:r>
            <a:endParaRPr b="0" i="0" sz="1400" u="none" cap="none" strike="noStrike">
              <a:solidFill>
                <a:srgbClr val="000000"/>
              </a:solidFill>
              <a:latin typeface="Arial"/>
              <a:ea typeface="Arial"/>
              <a:cs typeface="Arial"/>
              <a:sym typeface="Arial"/>
            </a:endParaRPr>
          </a:p>
        </p:txBody>
      </p:sp>
      <p:sp>
        <p:nvSpPr>
          <p:cNvPr id="482" name="Google Shape;482;p4"/>
          <p:cNvSpPr/>
          <p:nvPr/>
        </p:nvSpPr>
        <p:spPr>
          <a:xfrm>
            <a:off x="7604633" y="4397089"/>
            <a:ext cx="1042702" cy="191643"/>
          </a:xfrm>
          <a:prstGeom prst="rect">
            <a:avLst/>
          </a:prstGeom>
          <a:noFill/>
          <a:ln>
            <a:noFill/>
          </a:ln>
        </p:spPr>
        <p:txBody>
          <a:bodyPr anchorCtr="0" anchor="t" bIns="0" lIns="0" spcFirstLastPara="1" rIns="5039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internal</a:t>
            </a:r>
            <a:endParaRPr b="0" i="0" sz="1400" u="none" cap="none" strike="noStrike">
              <a:solidFill>
                <a:srgbClr val="000000"/>
              </a:solidFill>
              <a:latin typeface="Arial"/>
              <a:ea typeface="Arial"/>
              <a:cs typeface="Arial"/>
              <a:sym typeface="Arial"/>
            </a:endParaRPr>
          </a:p>
        </p:txBody>
      </p:sp>
      <p:sp>
        <p:nvSpPr>
          <p:cNvPr id="483" name="Google Shape;483;p4"/>
          <p:cNvSpPr/>
          <p:nvPr/>
        </p:nvSpPr>
        <p:spPr>
          <a:xfrm>
            <a:off x="8323580" y="45561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C</a:t>
            </a:r>
            <a:endParaRPr b="0" i="0" sz="1400" u="none" cap="none" strike="noStrike">
              <a:solidFill>
                <a:srgbClr val="000000"/>
              </a:solidFill>
              <a:latin typeface="Arial"/>
              <a:ea typeface="Arial"/>
              <a:cs typeface="Arial"/>
              <a:sym typeface="Arial"/>
            </a:endParaRPr>
          </a:p>
        </p:txBody>
      </p:sp>
      <p:sp>
        <p:nvSpPr>
          <p:cNvPr id="484" name="Google Shape;484;p4"/>
          <p:cNvSpPr/>
          <p:nvPr/>
        </p:nvSpPr>
        <p:spPr>
          <a:xfrm>
            <a:off x="8394700" y="4962525"/>
            <a:ext cx="9906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5" name="Google Shape;485;p4"/>
          <p:cNvSpPr/>
          <p:nvPr/>
        </p:nvSpPr>
        <p:spPr>
          <a:xfrm>
            <a:off x="8545100" y="5021771"/>
            <a:ext cx="1257681" cy="191643"/>
          </a:xfrm>
          <a:prstGeom prst="rect">
            <a:avLst/>
          </a:prstGeom>
          <a:noFill/>
          <a:ln>
            <a:noFill/>
          </a:ln>
        </p:spPr>
        <p:txBody>
          <a:bodyPr anchorCtr="0" anchor="t" bIns="0" lIns="0" spcFirstLastPara="1" rIns="5678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Preview call</a:t>
            </a:r>
            <a:endParaRPr b="0" i="0" sz="1400" u="none" cap="none" strike="noStrike">
              <a:solidFill>
                <a:srgbClr val="000000"/>
              </a:solidFill>
              <a:latin typeface="Arial"/>
              <a:ea typeface="Arial"/>
              <a:cs typeface="Arial"/>
              <a:sym typeface="Arial"/>
            </a:endParaRPr>
          </a:p>
        </p:txBody>
      </p:sp>
      <p:sp>
        <p:nvSpPr>
          <p:cNvPr id="486" name="Google Shape;486;p4"/>
          <p:cNvSpPr/>
          <p:nvPr/>
        </p:nvSpPr>
        <p:spPr>
          <a:xfrm>
            <a:off x="9165177" y="5187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487" name="Google Shape;487;p4"/>
          <p:cNvSpPr/>
          <p:nvPr/>
        </p:nvSpPr>
        <p:spPr>
          <a:xfrm>
            <a:off x="8515350" y="5530850"/>
            <a:ext cx="12573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8" name="Google Shape;488;p4"/>
          <p:cNvSpPr/>
          <p:nvPr/>
        </p:nvSpPr>
        <p:spPr>
          <a:xfrm>
            <a:off x="8597170" y="5582952"/>
            <a:ext cx="1947577" cy="191643"/>
          </a:xfrm>
          <a:prstGeom prst="rect">
            <a:avLst/>
          </a:prstGeom>
          <a:noFill/>
          <a:ln>
            <a:noFill/>
          </a:ln>
        </p:spPr>
        <p:txBody>
          <a:bodyPr anchorCtr="0" anchor="t" bIns="0" lIns="0" spcFirstLastPara="1" rIns="8539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Policy, refundRate,</a:t>
            </a:r>
            <a:endParaRPr b="0" i="0" sz="1400" u="none" cap="none" strike="noStrike">
              <a:solidFill>
                <a:srgbClr val="000000"/>
              </a:solidFill>
              <a:latin typeface="Arial"/>
              <a:ea typeface="Arial"/>
              <a:cs typeface="Arial"/>
              <a:sym typeface="Arial"/>
            </a:endParaRPr>
          </a:p>
        </p:txBody>
      </p:sp>
      <p:sp>
        <p:nvSpPr>
          <p:cNvPr id="489" name="Google Shape;489;p4"/>
          <p:cNvSpPr/>
          <p:nvPr/>
        </p:nvSpPr>
        <p:spPr>
          <a:xfrm>
            <a:off x="8866727" y="5730589"/>
            <a:ext cx="980884" cy="191643"/>
          </a:xfrm>
          <a:prstGeom prst="rect">
            <a:avLst/>
          </a:prstGeom>
          <a:noFill/>
          <a:ln>
            <a:noFill/>
          </a:ln>
        </p:spPr>
        <p:txBody>
          <a:bodyPr anchorCtr="0" anchor="t" bIns="0" lIns="0" spcFirstLastPara="1" rIns="4263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reference</a:t>
            </a:r>
            <a:endParaRPr b="0" i="0" sz="1400" u="none" cap="none" strike="noStrike">
              <a:solidFill>
                <a:srgbClr val="000000"/>
              </a:solidFill>
              <a:latin typeface="Arial"/>
              <a:ea typeface="Arial"/>
              <a:cs typeface="Arial"/>
              <a:sym typeface="Arial"/>
            </a:endParaRPr>
          </a:p>
        </p:txBody>
      </p:sp>
      <p:sp>
        <p:nvSpPr>
          <p:cNvPr id="490" name="Google Shape;490;p4"/>
          <p:cNvSpPr/>
          <p:nvPr/>
        </p:nvSpPr>
        <p:spPr>
          <a:xfrm>
            <a:off x="9552527" y="5889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491" name="Google Shape;491;p4"/>
          <p:cNvSpPr/>
          <p:nvPr/>
        </p:nvSpPr>
        <p:spPr>
          <a:xfrm>
            <a:off x="8172450" y="2232025"/>
            <a:ext cx="914400" cy="361950"/>
          </a:xfrm>
          <a:prstGeom prst="roundRect">
            <a:avLst>
              <a:gd fmla="val 13158"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2" name="Google Shape;492;p4"/>
          <p:cNvSpPr/>
          <p:nvPr/>
        </p:nvSpPr>
        <p:spPr>
          <a:xfrm>
            <a:off x="8221218" y="2291271"/>
            <a:ext cx="1460659" cy="191643"/>
          </a:xfrm>
          <a:prstGeom prst="rect">
            <a:avLst/>
          </a:prstGeom>
          <a:noFill/>
          <a:ln>
            <a:noFill/>
          </a:ln>
        </p:spPr>
        <p:txBody>
          <a:bodyPr anchorCtr="0" anchor="t" bIns="0" lIns="0" spcFirstLastPara="1" rIns="6437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Preview failed</a:t>
            </a:r>
            <a:endParaRPr b="0" i="0" sz="1400" u="none" cap="none" strike="noStrike">
              <a:solidFill>
                <a:srgbClr val="000000"/>
              </a:solidFill>
              <a:latin typeface="Arial"/>
              <a:ea typeface="Arial"/>
              <a:cs typeface="Arial"/>
              <a:sym typeface="Arial"/>
            </a:endParaRPr>
          </a:p>
        </p:txBody>
      </p:sp>
      <p:sp>
        <p:nvSpPr>
          <p:cNvPr id="493" name="Google Shape;493;p4"/>
          <p:cNvSpPr/>
          <p:nvPr/>
        </p:nvSpPr>
        <p:spPr>
          <a:xfrm>
            <a:off x="8917305" y="2457482"/>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D</a:t>
            </a:r>
            <a:endParaRPr b="0" i="0" sz="1400" u="none" cap="none" strike="noStrike">
              <a:solidFill>
                <a:srgbClr val="000000"/>
              </a:solidFill>
              <a:latin typeface="Arial"/>
              <a:ea typeface="Arial"/>
              <a:cs typeface="Arial"/>
              <a:sym typeface="Arial"/>
            </a:endParaRPr>
          </a:p>
        </p:txBody>
      </p:sp>
      <p:sp>
        <p:nvSpPr>
          <p:cNvPr id="494" name="Google Shape;494;p4"/>
          <p:cNvSpPr/>
          <p:nvPr/>
        </p:nvSpPr>
        <p:spPr>
          <a:xfrm>
            <a:off x="7505700" y="1276350"/>
            <a:ext cx="990600" cy="571500"/>
          </a:xfrm>
          <a:custGeom>
            <a:rect b="b" l="l" r="r" t="t"/>
            <a:pathLst>
              <a:path extrusionOk="0" h="571500" w="990600">
                <a:moveTo>
                  <a:pt x="495300" y="0"/>
                </a:moveTo>
                <a:lnTo>
                  <a:pt x="990600" y="285750"/>
                </a:lnTo>
                <a:lnTo>
                  <a:pt x="495300" y="571500"/>
                </a:lnTo>
                <a:lnTo>
                  <a:pt x="0" y="28575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5" name="Google Shape;495;p4"/>
          <p:cNvSpPr/>
          <p:nvPr/>
        </p:nvSpPr>
        <p:spPr>
          <a:xfrm>
            <a:off x="7789450" y="1368552"/>
            <a:ext cx="812482" cy="161925"/>
          </a:xfrm>
          <a:prstGeom prst="rect">
            <a:avLst/>
          </a:prstGeom>
          <a:noFill/>
          <a:ln>
            <a:noFill/>
          </a:ln>
        </p:spPr>
        <p:txBody>
          <a:bodyPr anchorCtr="0" anchor="t" bIns="0" lIns="0" spcFirstLastPara="1" rIns="3893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Retry, or</a:t>
            </a:r>
            <a:endParaRPr b="0" i="0" sz="1400" u="none" cap="none" strike="noStrike">
              <a:solidFill>
                <a:srgbClr val="000000"/>
              </a:solidFill>
              <a:latin typeface="Arial"/>
              <a:ea typeface="Arial"/>
              <a:cs typeface="Arial"/>
              <a:sym typeface="Arial"/>
            </a:endParaRPr>
          </a:p>
        </p:txBody>
      </p:sp>
      <p:sp>
        <p:nvSpPr>
          <p:cNvPr id="496" name="Google Shape;496;p4"/>
          <p:cNvSpPr/>
          <p:nvPr/>
        </p:nvSpPr>
        <p:spPr>
          <a:xfrm>
            <a:off x="7816215" y="1497140"/>
            <a:ext cx="669131" cy="161925"/>
          </a:xfrm>
          <a:prstGeom prst="rect">
            <a:avLst/>
          </a:prstGeom>
          <a:noFill/>
          <a:ln>
            <a:noFill/>
          </a:ln>
        </p:spPr>
        <p:txBody>
          <a:bodyPr anchorCtr="0" anchor="t" bIns="0" lIns="0" spcFirstLastPara="1" rIns="2995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contact</a:t>
            </a:r>
            <a:endParaRPr b="0" i="0" sz="1400" u="none" cap="none" strike="noStrike">
              <a:solidFill>
                <a:srgbClr val="000000"/>
              </a:solidFill>
              <a:latin typeface="Arial"/>
              <a:ea typeface="Arial"/>
              <a:cs typeface="Arial"/>
              <a:sym typeface="Arial"/>
            </a:endParaRPr>
          </a:p>
        </p:txBody>
      </p:sp>
      <p:sp>
        <p:nvSpPr>
          <p:cNvPr id="497" name="Google Shape;497;p4"/>
          <p:cNvSpPr/>
          <p:nvPr/>
        </p:nvSpPr>
        <p:spPr>
          <a:xfrm>
            <a:off x="7781734" y="1625727"/>
            <a:ext cx="761905" cy="161925"/>
          </a:xfrm>
          <a:prstGeom prst="rect">
            <a:avLst/>
          </a:prstGeom>
          <a:noFill/>
          <a:ln>
            <a:noFill/>
          </a:ln>
        </p:spPr>
        <p:txBody>
          <a:bodyPr anchorCtr="0" anchor="t" bIns="0" lIns="0" spcFirstLastPara="1" rIns="32335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498" name="Google Shape;498;p4"/>
          <p:cNvSpPr/>
          <p:nvPr/>
        </p:nvSpPr>
        <p:spPr>
          <a:xfrm>
            <a:off x="8307705" y="17113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D</a:t>
            </a:r>
            <a:endParaRPr b="0" i="0" sz="1400" u="none" cap="none" strike="noStrike">
              <a:solidFill>
                <a:srgbClr val="000000"/>
              </a:solidFill>
              <a:latin typeface="Arial"/>
              <a:ea typeface="Arial"/>
              <a:cs typeface="Arial"/>
              <a:sym typeface="Arial"/>
            </a:endParaRPr>
          </a:p>
        </p:txBody>
      </p:sp>
      <p:sp>
        <p:nvSpPr>
          <p:cNvPr id="499" name="Google Shape;499;p4"/>
          <p:cNvSpPr/>
          <p:nvPr/>
        </p:nvSpPr>
        <p:spPr>
          <a:xfrm>
            <a:off x="9753600" y="4832350"/>
            <a:ext cx="10668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4"/>
          <p:cNvSpPr/>
          <p:nvPr/>
        </p:nvSpPr>
        <p:spPr>
          <a:xfrm>
            <a:off x="9836372" y="4884452"/>
            <a:ext cx="1572578" cy="191643"/>
          </a:xfrm>
          <a:prstGeom prst="rect">
            <a:avLst/>
          </a:prstGeom>
          <a:noFill/>
          <a:ln>
            <a:noFill/>
          </a:ln>
        </p:spPr>
        <p:txBody>
          <a:bodyPr anchorCtr="0" anchor="t" bIns="0" lIns="0" spcFirstLastPara="1" rIns="671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Store reference</a:t>
            </a:r>
            <a:endParaRPr b="0" i="0" sz="1400" u="none" cap="none" strike="noStrike">
              <a:solidFill>
                <a:srgbClr val="000000"/>
              </a:solidFill>
              <a:latin typeface="Arial"/>
              <a:ea typeface="Arial"/>
              <a:cs typeface="Arial"/>
              <a:sym typeface="Arial"/>
            </a:endParaRPr>
          </a:p>
        </p:txBody>
      </p:sp>
      <p:sp>
        <p:nvSpPr>
          <p:cNvPr id="501" name="Google Shape;501;p4"/>
          <p:cNvSpPr/>
          <p:nvPr/>
        </p:nvSpPr>
        <p:spPr>
          <a:xfrm>
            <a:off x="10027253" y="5032089"/>
            <a:ext cx="893635" cy="191643"/>
          </a:xfrm>
          <a:prstGeom prst="rect">
            <a:avLst/>
          </a:prstGeom>
          <a:noFill/>
          <a:ln>
            <a:noFill/>
          </a:ln>
        </p:spPr>
        <p:txBody>
          <a:bodyPr anchorCtr="0" anchor="t" bIns="0" lIns="0" spcFirstLastPara="1" rIns="374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refund</a:t>
            </a:r>
            <a:endParaRPr b="0" i="0" sz="1400" u="none" cap="none" strike="noStrike">
              <a:solidFill>
                <a:srgbClr val="000000"/>
              </a:solidFill>
              <a:latin typeface="Arial"/>
              <a:ea typeface="Arial"/>
              <a:cs typeface="Arial"/>
              <a:sym typeface="Arial"/>
            </a:endParaRPr>
          </a:p>
        </p:txBody>
      </p:sp>
      <p:sp>
        <p:nvSpPr>
          <p:cNvPr id="502" name="Google Shape;502;p4"/>
          <p:cNvSpPr/>
          <p:nvPr/>
        </p:nvSpPr>
        <p:spPr>
          <a:xfrm>
            <a:off x="10600277" y="5191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S4</a:t>
            </a:r>
            <a:endParaRPr b="0" i="0" sz="1400" u="none" cap="none" strike="noStrike">
              <a:solidFill>
                <a:srgbClr val="000000"/>
              </a:solidFill>
              <a:latin typeface="Arial"/>
              <a:ea typeface="Arial"/>
              <a:cs typeface="Arial"/>
              <a:sym typeface="Arial"/>
            </a:endParaRPr>
          </a:p>
        </p:txBody>
      </p:sp>
      <p:sp>
        <p:nvSpPr>
          <p:cNvPr id="503" name="Google Shape;503;p4"/>
          <p:cNvSpPr/>
          <p:nvPr/>
        </p:nvSpPr>
        <p:spPr>
          <a:xfrm>
            <a:off x="8909050" y="2736850"/>
            <a:ext cx="11049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4"/>
          <p:cNvSpPr/>
          <p:nvPr/>
        </p:nvSpPr>
        <p:spPr>
          <a:xfrm>
            <a:off x="9032399" y="2788952"/>
            <a:ext cx="1551051" cy="191643"/>
          </a:xfrm>
          <a:prstGeom prst="rect">
            <a:avLst/>
          </a:prstGeom>
          <a:noFill/>
          <a:ln>
            <a:noFill/>
          </a:ln>
        </p:spPr>
        <p:txBody>
          <a:bodyPr anchorCtr="0" anchor="t" bIns="0" lIns="0" spcFirstLastPara="1" rIns="6928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Review: policy,</a:t>
            </a:r>
            <a:endParaRPr b="0" i="0" sz="1400" u="none" cap="none" strike="noStrike">
              <a:solidFill>
                <a:srgbClr val="000000"/>
              </a:solidFill>
              <a:latin typeface="Arial"/>
              <a:ea typeface="Arial"/>
              <a:cs typeface="Arial"/>
              <a:sym typeface="Arial"/>
            </a:endParaRPr>
          </a:p>
        </p:txBody>
      </p:sp>
      <p:sp>
        <p:nvSpPr>
          <p:cNvPr id="505" name="Google Shape;505;p4"/>
          <p:cNvSpPr/>
          <p:nvPr/>
        </p:nvSpPr>
        <p:spPr>
          <a:xfrm>
            <a:off x="9037638" y="2936589"/>
            <a:ext cx="1476089" cy="191643"/>
          </a:xfrm>
          <a:prstGeom prst="rect">
            <a:avLst/>
          </a:prstGeom>
          <a:noFill/>
          <a:ln>
            <a:noFill/>
          </a:ln>
        </p:spPr>
        <p:txBody>
          <a:bodyPr anchorCtr="0" anchor="t" bIns="0" lIns="0" spcFirstLastPara="1" rIns="6283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refund, reason</a:t>
            </a:r>
            <a:endParaRPr b="0" i="0" sz="1400" u="none" cap="none" strike="noStrike">
              <a:solidFill>
                <a:srgbClr val="000000"/>
              </a:solidFill>
              <a:latin typeface="Arial"/>
              <a:ea typeface="Arial"/>
              <a:cs typeface="Arial"/>
              <a:sym typeface="Arial"/>
            </a:endParaRPr>
          </a:p>
        </p:txBody>
      </p:sp>
      <p:sp>
        <p:nvSpPr>
          <p:cNvPr id="506" name="Google Shape;506;p4"/>
          <p:cNvSpPr/>
          <p:nvPr/>
        </p:nvSpPr>
        <p:spPr>
          <a:xfrm>
            <a:off x="9793827" y="3095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507" name="Google Shape;507;p4"/>
          <p:cNvSpPr/>
          <p:nvPr/>
        </p:nvSpPr>
        <p:spPr>
          <a:xfrm>
            <a:off x="10337800" y="2717800"/>
            <a:ext cx="914400" cy="533400"/>
          </a:xfrm>
          <a:custGeom>
            <a:rect b="b" l="l" r="r" t="t"/>
            <a:pathLst>
              <a:path extrusionOk="0" h="533400" w="914400">
                <a:moveTo>
                  <a:pt x="457200" y="0"/>
                </a:moveTo>
                <a:lnTo>
                  <a:pt x="914400" y="266700"/>
                </a:lnTo>
                <a:lnTo>
                  <a:pt x="457200" y="533400"/>
                </a:lnTo>
                <a:lnTo>
                  <a:pt x="0" y="26670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4"/>
          <p:cNvSpPr/>
          <p:nvPr/>
        </p:nvSpPr>
        <p:spPr>
          <a:xfrm>
            <a:off x="10490867" y="2855246"/>
            <a:ext cx="1021652" cy="161925"/>
          </a:xfrm>
          <a:prstGeom prst="rect">
            <a:avLst/>
          </a:prstGeom>
          <a:noFill/>
          <a:ln>
            <a:noFill/>
          </a:ln>
        </p:spPr>
        <p:txBody>
          <a:bodyPr anchorCtr="0" anchor="t" bIns="0" lIns="0" spcFirstLastPara="1" rIns="4133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Refund = 0?</a:t>
            </a:r>
            <a:endParaRPr b="0" i="0" sz="1400" u="none" cap="none" strike="noStrike">
              <a:solidFill>
                <a:srgbClr val="000000"/>
              </a:solidFill>
              <a:latin typeface="Arial"/>
              <a:ea typeface="Arial"/>
              <a:cs typeface="Arial"/>
              <a:sym typeface="Arial"/>
            </a:endParaRPr>
          </a:p>
        </p:txBody>
      </p:sp>
      <p:sp>
        <p:nvSpPr>
          <p:cNvPr id="509" name="Google Shape;509;p4"/>
          <p:cNvSpPr/>
          <p:nvPr/>
        </p:nvSpPr>
        <p:spPr>
          <a:xfrm>
            <a:off x="10692606" y="2983833"/>
            <a:ext cx="411766" cy="161925"/>
          </a:xfrm>
          <a:prstGeom prst="rect">
            <a:avLst/>
          </a:prstGeom>
          <a:noFill/>
          <a:ln>
            <a:noFill/>
          </a:ln>
        </p:spPr>
        <p:txBody>
          <a:bodyPr anchorCtr="0" anchor="t" bIns="0" lIns="0" spcFirstLastPara="1" rIns="206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510" name="Google Shape;510;p4"/>
          <p:cNvSpPr/>
          <p:nvPr/>
        </p:nvSpPr>
        <p:spPr>
          <a:xfrm>
            <a:off x="10233025" y="3562350"/>
            <a:ext cx="1123950" cy="495300"/>
          </a:xfrm>
          <a:prstGeom prst="roundRect">
            <a:avLst>
              <a:gd fmla="val 9615" name="adj"/>
            </a:avLst>
          </a:prstGeom>
          <a:solidFill>
            <a:srgbClr val="FBF3E6"/>
          </a:solidFill>
          <a:ln cap="flat" cmpd="sng" w="11425">
            <a:solidFill>
              <a:srgbClr val="B4530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4"/>
          <p:cNvSpPr/>
          <p:nvPr/>
        </p:nvSpPr>
        <p:spPr>
          <a:xfrm>
            <a:off x="10247884" y="3614452"/>
            <a:ext cx="1878235" cy="191643"/>
          </a:xfrm>
          <a:prstGeom prst="rect">
            <a:avLst/>
          </a:prstGeom>
          <a:noFill/>
          <a:ln>
            <a:noFill/>
          </a:ln>
        </p:spPr>
        <p:txBody>
          <a:bodyPr anchorCtr="0" anchor="t" bIns="0" lIns="0" spcFirstLastPara="1" rIns="7840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refund. Cancel</a:t>
            </a:r>
            <a:endParaRPr b="0" i="0" sz="1400" u="none" cap="none" strike="noStrike">
              <a:solidFill>
                <a:srgbClr val="000000"/>
              </a:solidFill>
              <a:latin typeface="Arial"/>
              <a:ea typeface="Arial"/>
              <a:cs typeface="Arial"/>
              <a:sym typeface="Arial"/>
            </a:endParaRPr>
          </a:p>
        </p:txBody>
      </p:sp>
      <p:sp>
        <p:nvSpPr>
          <p:cNvPr id="512" name="Google Shape;512;p4"/>
          <p:cNvSpPr/>
          <p:nvPr/>
        </p:nvSpPr>
        <p:spPr>
          <a:xfrm>
            <a:off x="10313988" y="3762089"/>
            <a:ext cx="1672685" cy="191643"/>
          </a:xfrm>
          <a:prstGeom prst="rect">
            <a:avLst/>
          </a:prstGeom>
          <a:noFill/>
          <a:ln>
            <a:noFill/>
          </a:ln>
        </p:spPr>
        <p:txBody>
          <a:bodyPr anchorCtr="0" anchor="t" bIns="0" lIns="0" spcFirstLastPara="1" rIns="7106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without refund?'</a:t>
            </a:r>
            <a:endParaRPr b="0" i="0" sz="1400" u="none" cap="none" strike="noStrike">
              <a:solidFill>
                <a:srgbClr val="000000"/>
              </a:solidFill>
              <a:latin typeface="Arial"/>
              <a:ea typeface="Arial"/>
              <a:cs typeface="Arial"/>
              <a:sym typeface="Arial"/>
            </a:endParaRPr>
          </a:p>
        </p:txBody>
      </p:sp>
      <p:sp>
        <p:nvSpPr>
          <p:cNvPr id="513" name="Google Shape;513;p4"/>
          <p:cNvSpPr/>
          <p:nvPr/>
        </p:nvSpPr>
        <p:spPr>
          <a:xfrm>
            <a:off x="11187430" y="3921157"/>
            <a:ext cx="126682"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A</a:t>
            </a:r>
            <a:endParaRPr b="0" i="0" sz="1400" u="none" cap="none" strike="noStrike">
              <a:solidFill>
                <a:srgbClr val="000000"/>
              </a:solidFill>
              <a:latin typeface="Arial"/>
              <a:ea typeface="Arial"/>
              <a:cs typeface="Arial"/>
              <a:sym typeface="Arial"/>
            </a:endParaRPr>
          </a:p>
        </p:txBody>
      </p:sp>
      <p:sp>
        <p:nvSpPr>
          <p:cNvPr id="514" name="Google Shape;514;p4"/>
          <p:cNvSpPr/>
          <p:nvPr/>
        </p:nvSpPr>
        <p:spPr>
          <a:xfrm>
            <a:off x="10318750" y="1295400"/>
            <a:ext cx="952500" cy="533400"/>
          </a:xfrm>
          <a:custGeom>
            <a:rect b="b" l="l" r="r" t="t"/>
            <a:pathLst>
              <a:path extrusionOk="0" h="533400" w="952500">
                <a:moveTo>
                  <a:pt x="476250" y="0"/>
                </a:moveTo>
                <a:lnTo>
                  <a:pt x="952500" y="266700"/>
                </a:lnTo>
                <a:lnTo>
                  <a:pt x="476250" y="533400"/>
                </a:lnTo>
                <a:lnTo>
                  <a:pt x="0" y="266700"/>
                </a:lnTo>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4"/>
          <p:cNvSpPr/>
          <p:nvPr/>
        </p:nvSpPr>
        <p:spPr>
          <a:xfrm>
            <a:off x="10599642" y="1432846"/>
            <a:ext cx="679704" cy="161925"/>
          </a:xfrm>
          <a:prstGeom prst="rect">
            <a:avLst/>
          </a:prstGeom>
          <a:noFill/>
          <a:ln>
            <a:noFill/>
          </a:ln>
        </p:spPr>
        <p:txBody>
          <a:bodyPr anchorCtr="0" anchor="t" bIns="0" lIns="0" spcFirstLastPara="1" rIns="2889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Keep or</a:t>
            </a:r>
            <a:endParaRPr b="0" i="0" sz="1400" u="none" cap="none" strike="noStrike">
              <a:solidFill>
                <a:srgbClr val="000000"/>
              </a:solidFill>
              <a:latin typeface="Arial"/>
              <a:ea typeface="Arial"/>
              <a:cs typeface="Arial"/>
              <a:sym typeface="Arial"/>
            </a:endParaRPr>
          </a:p>
        </p:txBody>
      </p:sp>
      <p:sp>
        <p:nvSpPr>
          <p:cNvPr id="516" name="Google Shape;516;p4"/>
          <p:cNvSpPr/>
          <p:nvPr/>
        </p:nvSpPr>
        <p:spPr>
          <a:xfrm>
            <a:off x="10579068" y="1561433"/>
            <a:ext cx="758571" cy="161925"/>
          </a:xfrm>
          <a:prstGeom prst="rect">
            <a:avLst/>
          </a:prstGeom>
          <a:noFill/>
          <a:ln>
            <a:noFill/>
          </a:ln>
        </p:spPr>
        <p:txBody>
          <a:bodyPr anchorCtr="0" anchor="t" bIns="0" lIns="0" spcFirstLastPara="1" rIns="32670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confirm?</a:t>
            </a:r>
            <a:endParaRPr b="0" i="0" sz="1400" u="none" cap="none" strike="noStrike">
              <a:solidFill>
                <a:srgbClr val="000000"/>
              </a:solidFill>
              <a:latin typeface="Arial"/>
              <a:ea typeface="Arial"/>
              <a:cs typeface="Arial"/>
              <a:sym typeface="Arial"/>
            </a:endParaRPr>
          </a:p>
        </p:txBody>
      </p:sp>
      <p:sp>
        <p:nvSpPr>
          <p:cNvPr id="517" name="Google Shape;517;p4"/>
          <p:cNvSpPr/>
          <p:nvPr/>
        </p:nvSpPr>
        <p:spPr>
          <a:xfrm>
            <a:off x="11051127" y="169230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518" name="Google Shape;518;p4"/>
          <p:cNvSpPr/>
          <p:nvPr/>
        </p:nvSpPr>
        <p:spPr>
          <a:xfrm>
            <a:off x="11436858" y="65976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6</a:t>
            </a:r>
            <a:endParaRPr b="0" i="0" sz="1400" u="none" cap="none" strike="noStrike">
              <a:solidFill>
                <a:srgbClr val="000000"/>
              </a:solidFill>
              <a:latin typeface="Arial"/>
              <a:ea typeface="Arial"/>
              <a:cs typeface="Arial"/>
              <a:sym typeface="Arial"/>
            </a:endParaRPr>
          </a:p>
        </p:txBody>
      </p:sp>
      <p:sp>
        <p:nvSpPr>
          <p:cNvPr id="519" name="Google Shape;519;p4"/>
          <p:cNvSpPr/>
          <p:nvPr/>
        </p:nvSpPr>
        <p:spPr>
          <a:xfrm>
            <a:off x="1778000" y="1809750"/>
            <a:ext cx="127" cy="739775"/>
          </a:xfrm>
          <a:custGeom>
            <a:rect b="b" l="l" r="r" t="t"/>
            <a:pathLst>
              <a:path extrusionOk="0" h="739775" w="127">
                <a:moveTo>
                  <a:pt x="0" y="0"/>
                </a:moveTo>
                <a:lnTo>
                  <a:pt x="0" y="7397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4"/>
          <p:cNvSpPr/>
          <p:nvPr/>
        </p:nvSpPr>
        <p:spPr>
          <a:xfrm>
            <a:off x="1778000" y="2911475"/>
            <a:ext cx="127" cy="1743075"/>
          </a:xfrm>
          <a:custGeom>
            <a:rect b="b" l="l" r="r" t="t"/>
            <a:pathLst>
              <a:path extrusionOk="0" h="1743075" w="127">
                <a:moveTo>
                  <a:pt x="0" y="0"/>
                </a:moveTo>
                <a:lnTo>
                  <a:pt x="0" y="17430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4"/>
          <p:cNvSpPr/>
          <p:nvPr/>
        </p:nvSpPr>
        <p:spPr>
          <a:xfrm>
            <a:off x="1778000" y="5149850"/>
            <a:ext cx="127" cy="447675"/>
          </a:xfrm>
          <a:custGeom>
            <a:rect b="b" l="l" r="r" t="t"/>
            <a:pathLst>
              <a:path extrusionOk="0" h="447675" w="127">
                <a:moveTo>
                  <a:pt x="0" y="0"/>
                </a:moveTo>
                <a:lnTo>
                  <a:pt x="0" y="4476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2" name="Google Shape;522;p4"/>
          <p:cNvSpPr/>
          <p:nvPr/>
        </p:nvSpPr>
        <p:spPr>
          <a:xfrm>
            <a:off x="2273300" y="5349875"/>
            <a:ext cx="838200" cy="428625"/>
          </a:xfrm>
          <a:custGeom>
            <a:rect b="b" l="l" r="r" t="t"/>
            <a:pathLst>
              <a:path extrusionOk="0" h="428625" w="838200">
                <a:moveTo>
                  <a:pt x="0" y="428625"/>
                </a:moveTo>
                <a:lnTo>
                  <a:pt x="838200" y="428625"/>
                </a:lnTo>
                <a:lnTo>
                  <a:pt x="8382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3" name="Google Shape;523;p4"/>
          <p:cNvSpPr/>
          <p:nvPr/>
        </p:nvSpPr>
        <p:spPr>
          <a:xfrm>
            <a:off x="2006600" y="2730500"/>
            <a:ext cx="685800" cy="2438400"/>
          </a:xfrm>
          <a:custGeom>
            <a:rect b="b" l="l" r="r" t="t"/>
            <a:pathLst>
              <a:path extrusionOk="0" h="2438400" w="685800">
                <a:moveTo>
                  <a:pt x="685800" y="2438400"/>
                </a:moveTo>
                <a:lnTo>
                  <a:pt x="152400" y="2438400"/>
                </a:lnTo>
                <a:lnTo>
                  <a:pt x="152400" y="0"/>
                </a:ln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4"/>
          <p:cNvSpPr/>
          <p:nvPr/>
        </p:nvSpPr>
        <p:spPr>
          <a:xfrm>
            <a:off x="2984500" y="2978150"/>
            <a:ext cx="127" cy="1225550"/>
          </a:xfrm>
          <a:custGeom>
            <a:rect b="b" l="l" r="r" t="t"/>
            <a:pathLst>
              <a:path extrusionOk="0" h="1225550" w="127">
                <a:moveTo>
                  <a:pt x="0" y="1225550"/>
                </a:moveTo>
                <a:lnTo>
                  <a:pt x="0" y="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p4"/>
          <p:cNvSpPr/>
          <p:nvPr/>
        </p:nvSpPr>
        <p:spPr>
          <a:xfrm>
            <a:off x="2794000" y="1809750"/>
            <a:ext cx="127" cy="673100"/>
          </a:xfrm>
          <a:custGeom>
            <a:rect b="b" l="l" r="r" t="t"/>
            <a:pathLst>
              <a:path extrusionOk="0" h="673100" w="127">
                <a:moveTo>
                  <a:pt x="0" y="673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6" name="Google Shape;526;p4"/>
          <p:cNvSpPr/>
          <p:nvPr/>
        </p:nvSpPr>
        <p:spPr>
          <a:xfrm>
            <a:off x="3213100" y="1562100"/>
            <a:ext cx="647700" cy="3517900"/>
          </a:xfrm>
          <a:custGeom>
            <a:rect b="b" l="l" r="r" t="t"/>
            <a:pathLst>
              <a:path extrusionOk="0" h="3517900" w="647700">
                <a:moveTo>
                  <a:pt x="0" y="0"/>
                </a:moveTo>
                <a:lnTo>
                  <a:pt x="495300" y="0"/>
                </a:lnTo>
                <a:lnTo>
                  <a:pt x="495300" y="3517900"/>
                </a:lnTo>
                <a:lnTo>
                  <a:pt x="647700" y="35179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
          <p:cNvSpPr/>
          <p:nvPr/>
        </p:nvSpPr>
        <p:spPr>
          <a:xfrm>
            <a:off x="4318000" y="2978150"/>
            <a:ext cx="127" cy="1816100"/>
          </a:xfrm>
          <a:custGeom>
            <a:rect b="b" l="l" r="r" t="t"/>
            <a:pathLst>
              <a:path extrusionOk="0" h="1816100" w="127">
                <a:moveTo>
                  <a:pt x="0" y="1816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
          <p:cNvSpPr/>
          <p:nvPr/>
        </p:nvSpPr>
        <p:spPr>
          <a:xfrm>
            <a:off x="4775200" y="5080000"/>
            <a:ext cx="482600" cy="127"/>
          </a:xfrm>
          <a:custGeom>
            <a:rect b="b" l="l" r="r" t="t"/>
            <a:pathLst>
              <a:path extrusionOk="0" h="127" w="482600">
                <a:moveTo>
                  <a:pt x="0" y="0"/>
                </a:moveTo>
                <a:lnTo>
                  <a:pt x="4826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9" name="Google Shape;529;p4"/>
          <p:cNvSpPr/>
          <p:nvPr/>
        </p:nvSpPr>
        <p:spPr>
          <a:xfrm>
            <a:off x="5715000" y="2978150"/>
            <a:ext cx="127" cy="1816100"/>
          </a:xfrm>
          <a:custGeom>
            <a:rect b="b" l="l" r="r" t="t"/>
            <a:pathLst>
              <a:path extrusionOk="0" h="1816100" w="127">
                <a:moveTo>
                  <a:pt x="0" y="1816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
          <p:cNvSpPr/>
          <p:nvPr/>
        </p:nvSpPr>
        <p:spPr>
          <a:xfrm>
            <a:off x="6172200" y="3683000"/>
            <a:ext cx="723900" cy="1397000"/>
          </a:xfrm>
          <a:custGeom>
            <a:rect b="b" l="l" r="r" t="t"/>
            <a:pathLst>
              <a:path extrusionOk="0" h="1397000" w="723900">
                <a:moveTo>
                  <a:pt x="0" y="1397000"/>
                </a:moveTo>
                <a:lnTo>
                  <a:pt x="571500" y="1397000"/>
                </a:lnTo>
                <a:lnTo>
                  <a:pt x="571500" y="0"/>
                </a:lnTo>
                <a:lnTo>
                  <a:pt x="72390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p4"/>
          <p:cNvSpPr/>
          <p:nvPr/>
        </p:nvSpPr>
        <p:spPr>
          <a:xfrm>
            <a:off x="5715000" y="1809750"/>
            <a:ext cx="127" cy="673100"/>
          </a:xfrm>
          <a:custGeom>
            <a:rect b="b" l="l" r="r" t="t"/>
            <a:pathLst>
              <a:path extrusionOk="0" h="673100" w="127">
                <a:moveTo>
                  <a:pt x="0" y="673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
          <p:cNvSpPr/>
          <p:nvPr/>
        </p:nvSpPr>
        <p:spPr>
          <a:xfrm>
            <a:off x="6134100" y="1562100"/>
            <a:ext cx="1120775" cy="2882900"/>
          </a:xfrm>
          <a:custGeom>
            <a:rect b="b" l="l" r="r" t="t"/>
            <a:pathLst>
              <a:path extrusionOk="0" h="2882900" w="1120775">
                <a:moveTo>
                  <a:pt x="0" y="0"/>
                </a:moveTo>
                <a:lnTo>
                  <a:pt x="520700" y="0"/>
                </a:lnTo>
                <a:lnTo>
                  <a:pt x="520700" y="2882900"/>
                </a:lnTo>
                <a:lnTo>
                  <a:pt x="1120775" y="28829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3" name="Google Shape;533;p4"/>
          <p:cNvSpPr/>
          <p:nvPr/>
        </p:nvSpPr>
        <p:spPr>
          <a:xfrm>
            <a:off x="7810500" y="3683000"/>
            <a:ext cx="1333500" cy="1279525"/>
          </a:xfrm>
          <a:custGeom>
            <a:rect b="b" l="l" r="r" t="t"/>
            <a:pathLst>
              <a:path extrusionOk="0" h="1279525" w="1333500">
                <a:moveTo>
                  <a:pt x="0" y="0"/>
                </a:moveTo>
                <a:lnTo>
                  <a:pt x="1333500" y="0"/>
                </a:lnTo>
                <a:lnTo>
                  <a:pt x="1333500" y="127952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
          <p:cNvSpPr/>
          <p:nvPr/>
        </p:nvSpPr>
        <p:spPr>
          <a:xfrm>
            <a:off x="8636000" y="5324475"/>
            <a:ext cx="127" cy="206375"/>
          </a:xfrm>
          <a:custGeom>
            <a:rect b="b" l="l" r="r" t="t"/>
            <a:pathLst>
              <a:path extrusionOk="0" h="206375" w="127">
                <a:moveTo>
                  <a:pt x="0" y="0"/>
                </a:moveTo>
                <a:lnTo>
                  <a:pt x="0" y="2063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5" name="Google Shape;535;p4"/>
          <p:cNvSpPr/>
          <p:nvPr/>
        </p:nvSpPr>
        <p:spPr>
          <a:xfrm>
            <a:off x="8629650" y="2593975"/>
            <a:ext cx="127" cy="2368550"/>
          </a:xfrm>
          <a:custGeom>
            <a:rect b="b" l="l" r="r" t="t"/>
            <a:pathLst>
              <a:path extrusionOk="0" h="2368550" w="127">
                <a:moveTo>
                  <a:pt x="0" y="236855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
          <p:cNvSpPr/>
          <p:nvPr/>
        </p:nvSpPr>
        <p:spPr>
          <a:xfrm>
            <a:off x="8496300" y="1562100"/>
            <a:ext cx="133350" cy="669925"/>
          </a:xfrm>
          <a:custGeom>
            <a:rect b="b" l="l" r="r" t="t"/>
            <a:pathLst>
              <a:path extrusionOk="0" h="669925" w="133350">
                <a:moveTo>
                  <a:pt x="133350" y="669925"/>
                </a:moveTo>
                <a:lnTo>
                  <a:pt x="133350" y="0"/>
                </a:ln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
          <p:cNvSpPr/>
          <p:nvPr/>
        </p:nvSpPr>
        <p:spPr>
          <a:xfrm>
            <a:off x="7353300" y="1562100"/>
            <a:ext cx="152400" cy="1939925"/>
          </a:xfrm>
          <a:custGeom>
            <a:rect b="b" l="l" r="r" t="t"/>
            <a:pathLst>
              <a:path extrusionOk="0" h="1939925" w="152400">
                <a:moveTo>
                  <a:pt x="152400" y="0"/>
                </a:moveTo>
                <a:lnTo>
                  <a:pt x="0" y="0"/>
                </a:lnTo>
                <a:lnTo>
                  <a:pt x="0" y="1939925"/>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p4"/>
          <p:cNvSpPr/>
          <p:nvPr/>
        </p:nvSpPr>
        <p:spPr>
          <a:xfrm>
            <a:off x="8001000" y="1847850"/>
            <a:ext cx="127" cy="2349500"/>
          </a:xfrm>
          <a:custGeom>
            <a:rect b="b" l="l" r="r" t="t"/>
            <a:pathLst>
              <a:path extrusionOk="0" h="2349500" w="127">
                <a:moveTo>
                  <a:pt x="0" y="0"/>
                </a:moveTo>
                <a:lnTo>
                  <a:pt x="0" y="234950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
          <p:cNvSpPr/>
          <p:nvPr/>
        </p:nvSpPr>
        <p:spPr>
          <a:xfrm>
            <a:off x="9772650" y="5327650"/>
            <a:ext cx="514350" cy="450850"/>
          </a:xfrm>
          <a:custGeom>
            <a:rect b="b" l="l" r="r" t="t"/>
            <a:pathLst>
              <a:path extrusionOk="0" h="450850" w="514350">
                <a:moveTo>
                  <a:pt x="0" y="450850"/>
                </a:moveTo>
                <a:lnTo>
                  <a:pt x="514350" y="450850"/>
                </a:lnTo>
                <a:lnTo>
                  <a:pt x="51435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0" name="Google Shape;540;p4"/>
          <p:cNvSpPr/>
          <p:nvPr/>
        </p:nvSpPr>
        <p:spPr>
          <a:xfrm>
            <a:off x="9842500" y="3232150"/>
            <a:ext cx="127" cy="1600200"/>
          </a:xfrm>
          <a:custGeom>
            <a:rect b="b" l="l" r="r" t="t"/>
            <a:pathLst>
              <a:path extrusionOk="0" h="1600200" w="127">
                <a:moveTo>
                  <a:pt x="0" y="16002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
          <p:cNvSpPr/>
          <p:nvPr/>
        </p:nvSpPr>
        <p:spPr>
          <a:xfrm>
            <a:off x="10013950" y="2984500"/>
            <a:ext cx="323850" cy="127"/>
          </a:xfrm>
          <a:custGeom>
            <a:rect b="b" l="l" r="r" t="t"/>
            <a:pathLst>
              <a:path extrusionOk="0" h="127" w="323850">
                <a:moveTo>
                  <a:pt x="0" y="0"/>
                </a:moveTo>
                <a:lnTo>
                  <a:pt x="32385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
          <p:cNvSpPr/>
          <p:nvPr/>
        </p:nvSpPr>
        <p:spPr>
          <a:xfrm>
            <a:off x="10795000" y="3251200"/>
            <a:ext cx="127" cy="311150"/>
          </a:xfrm>
          <a:custGeom>
            <a:rect b="b" l="l" r="r" t="t"/>
            <a:pathLst>
              <a:path extrusionOk="0" h="311150" w="127">
                <a:moveTo>
                  <a:pt x="0" y="0"/>
                </a:moveTo>
                <a:lnTo>
                  <a:pt x="0" y="31115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3" name="Google Shape;543;p4"/>
          <p:cNvSpPr/>
          <p:nvPr/>
        </p:nvSpPr>
        <p:spPr>
          <a:xfrm>
            <a:off x="10795000" y="1828800"/>
            <a:ext cx="127" cy="889000"/>
          </a:xfrm>
          <a:custGeom>
            <a:rect b="b" l="l" r="r" t="t"/>
            <a:pathLst>
              <a:path extrusionOk="0" h="889000" w="127">
                <a:moveTo>
                  <a:pt x="0" y="8890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
          <p:cNvSpPr/>
          <p:nvPr/>
        </p:nvSpPr>
        <p:spPr>
          <a:xfrm>
            <a:off x="11271250" y="1562100"/>
            <a:ext cx="238125" cy="2247900"/>
          </a:xfrm>
          <a:custGeom>
            <a:rect b="b" l="l" r="r" t="t"/>
            <a:pathLst>
              <a:path extrusionOk="0" h="2247900" w="238125">
                <a:moveTo>
                  <a:pt x="85725" y="2247900"/>
                </a:moveTo>
                <a:lnTo>
                  <a:pt x="238125" y="2247900"/>
                </a:lnTo>
                <a:lnTo>
                  <a:pt x="238125" y="0"/>
                </a:ln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p4"/>
          <p:cNvSpPr/>
          <p:nvPr/>
        </p:nvSpPr>
        <p:spPr>
          <a:xfrm>
            <a:off x="1816100" y="2109787"/>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a:t>
            </a:r>
            <a:endParaRPr b="0" i="0" sz="1400" u="none" cap="none" strike="noStrike">
              <a:solidFill>
                <a:srgbClr val="000000"/>
              </a:solidFill>
              <a:latin typeface="Arial"/>
              <a:ea typeface="Arial"/>
              <a:cs typeface="Arial"/>
              <a:sym typeface="Arial"/>
            </a:endParaRPr>
          </a:p>
        </p:txBody>
      </p:sp>
      <p:sp>
        <p:nvSpPr>
          <p:cNvPr id="546" name="Google Shape;546;p4"/>
          <p:cNvSpPr/>
          <p:nvPr/>
        </p:nvSpPr>
        <p:spPr>
          <a:xfrm>
            <a:off x="1172210" y="3713162"/>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a:t>
            </a:r>
            <a:endParaRPr b="0" i="0" sz="1400" u="none" cap="none" strike="noStrike">
              <a:solidFill>
                <a:srgbClr val="000000"/>
              </a:solidFill>
              <a:latin typeface="Arial"/>
              <a:ea typeface="Arial"/>
              <a:cs typeface="Arial"/>
              <a:sym typeface="Arial"/>
            </a:endParaRPr>
          </a:p>
        </p:txBody>
      </p:sp>
      <p:sp>
        <p:nvSpPr>
          <p:cNvPr id="547" name="Google Shape;547;p4"/>
          <p:cNvSpPr/>
          <p:nvPr/>
        </p:nvSpPr>
        <p:spPr>
          <a:xfrm>
            <a:off x="680720" y="5303837"/>
            <a:ext cx="105918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bookingIds: [long]</a:t>
            </a:r>
            <a:endParaRPr b="0" i="0" sz="1400" u="none" cap="none" strike="noStrike">
              <a:solidFill>
                <a:srgbClr val="000000"/>
              </a:solidFill>
              <a:latin typeface="Arial"/>
              <a:ea typeface="Arial"/>
              <a:cs typeface="Arial"/>
              <a:sym typeface="Arial"/>
            </a:endParaRPr>
          </a:p>
        </p:txBody>
      </p:sp>
      <p:sp>
        <p:nvSpPr>
          <p:cNvPr id="548" name="Google Shape;548;p4"/>
          <p:cNvSpPr/>
          <p:nvPr/>
        </p:nvSpPr>
        <p:spPr>
          <a:xfrm>
            <a:off x="2214880" y="3521075"/>
            <a:ext cx="73151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display only</a:t>
            </a:r>
            <a:endParaRPr b="0" i="0" sz="1400" u="none" cap="none" strike="noStrike">
              <a:solidFill>
                <a:srgbClr val="000000"/>
              </a:solidFill>
              <a:latin typeface="Arial"/>
              <a:ea typeface="Arial"/>
              <a:cs typeface="Arial"/>
              <a:sym typeface="Arial"/>
            </a:endParaRPr>
          </a:p>
        </p:txBody>
      </p:sp>
      <p:sp>
        <p:nvSpPr>
          <p:cNvPr id="549" name="Google Shape;549;p4"/>
          <p:cNvSpPr/>
          <p:nvPr/>
        </p:nvSpPr>
        <p:spPr>
          <a:xfrm>
            <a:off x="4356100" y="3816350"/>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550" name="Google Shape;550;p4"/>
          <p:cNvSpPr/>
          <p:nvPr/>
        </p:nvSpPr>
        <p:spPr>
          <a:xfrm>
            <a:off x="4923790" y="4927600"/>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551" name="Google Shape;551;p4"/>
          <p:cNvSpPr/>
          <p:nvPr/>
        </p:nvSpPr>
        <p:spPr>
          <a:xfrm>
            <a:off x="5753100" y="3816350"/>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552" name="Google Shape;552;p4"/>
          <p:cNvSpPr/>
          <p:nvPr/>
        </p:nvSpPr>
        <p:spPr>
          <a:xfrm>
            <a:off x="6781800" y="3962400"/>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553" name="Google Shape;553;p4"/>
          <p:cNvSpPr/>
          <p:nvPr/>
        </p:nvSpPr>
        <p:spPr>
          <a:xfrm>
            <a:off x="9182100" y="4252912"/>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a:t>
            </a:r>
            <a:endParaRPr b="0" i="0" sz="1400" u="none" cap="none" strike="noStrike">
              <a:solidFill>
                <a:srgbClr val="000000"/>
              </a:solidFill>
              <a:latin typeface="Arial"/>
              <a:ea typeface="Arial"/>
              <a:cs typeface="Arial"/>
              <a:sym typeface="Arial"/>
            </a:endParaRPr>
          </a:p>
        </p:txBody>
      </p:sp>
      <p:sp>
        <p:nvSpPr>
          <p:cNvPr id="554" name="Google Shape;554;p4"/>
          <p:cNvSpPr/>
          <p:nvPr/>
        </p:nvSpPr>
        <p:spPr>
          <a:xfrm>
            <a:off x="7772400" y="5321300"/>
            <a:ext cx="94996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 (long)</a:t>
            </a:r>
            <a:endParaRPr b="0" i="0" sz="1400" u="none" cap="none" strike="noStrike">
              <a:solidFill>
                <a:srgbClr val="000000"/>
              </a:solidFill>
              <a:latin typeface="Arial"/>
              <a:ea typeface="Arial"/>
              <a:cs typeface="Arial"/>
              <a:sym typeface="Arial"/>
            </a:endParaRPr>
          </a:p>
        </p:txBody>
      </p:sp>
      <p:sp>
        <p:nvSpPr>
          <p:cNvPr id="555" name="Google Shape;555;p4"/>
          <p:cNvSpPr/>
          <p:nvPr/>
        </p:nvSpPr>
        <p:spPr>
          <a:xfrm>
            <a:off x="8667750" y="3708400"/>
            <a:ext cx="3492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fails</a:t>
            </a:r>
            <a:endParaRPr b="0" i="0" sz="1400" u="none" cap="none" strike="noStrike">
              <a:solidFill>
                <a:srgbClr val="000000"/>
              </a:solidFill>
              <a:latin typeface="Arial"/>
              <a:ea typeface="Arial"/>
              <a:cs typeface="Arial"/>
              <a:sym typeface="Arial"/>
            </a:endParaRPr>
          </a:p>
        </p:txBody>
      </p:sp>
      <p:sp>
        <p:nvSpPr>
          <p:cNvPr id="556" name="Google Shape;556;p4"/>
          <p:cNvSpPr/>
          <p:nvPr/>
        </p:nvSpPr>
        <p:spPr>
          <a:xfrm>
            <a:off x="7391400" y="2462212"/>
            <a:ext cx="3492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retry</a:t>
            </a:r>
            <a:endParaRPr b="0" i="0" sz="1400" u="none" cap="none" strike="noStrike">
              <a:solidFill>
                <a:srgbClr val="000000"/>
              </a:solidFill>
              <a:latin typeface="Arial"/>
              <a:ea typeface="Arial"/>
              <a:cs typeface="Arial"/>
              <a:sym typeface="Arial"/>
            </a:endParaRPr>
          </a:p>
        </p:txBody>
      </p:sp>
      <p:sp>
        <p:nvSpPr>
          <p:cNvPr id="557" name="Google Shape;557;p4"/>
          <p:cNvSpPr/>
          <p:nvPr/>
        </p:nvSpPr>
        <p:spPr>
          <a:xfrm>
            <a:off x="8039100" y="2952750"/>
            <a:ext cx="45846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support</a:t>
            </a:r>
            <a:endParaRPr b="0" i="0" sz="1400" u="none" cap="none" strike="noStrike">
              <a:solidFill>
                <a:srgbClr val="000000"/>
              </a:solidFill>
              <a:latin typeface="Arial"/>
              <a:ea typeface="Arial"/>
              <a:cs typeface="Arial"/>
              <a:sym typeface="Arial"/>
            </a:endParaRPr>
          </a:p>
        </p:txBody>
      </p:sp>
      <p:sp>
        <p:nvSpPr>
          <p:cNvPr id="558" name="Google Shape;558;p4"/>
          <p:cNvSpPr/>
          <p:nvPr/>
        </p:nvSpPr>
        <p:spPr>
          <a:xfrm>
            <a:off x="10325100" y="5483225"/>
            <a:ext cx="89535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policy + refund</a:t>
            </a:r>
            <a:endParaRPr b="0" i="0" sz="1400" u="none" cap="none" strike="noStrike">
              <a:solidFill>
                <a:srgbClr val="000000"/>
              </a:solidFill>
              <a:latin typeface="Arial"/>
              <a:ea typeface="Arial"/>
              <a:cs typeface="Arial"/>
              <a:sym typeface="Arial"/>
            </a:endParaRPr>
          </a:p>
        </p:txBody>
      </p:sp>
      <p:sp>
        <p:nvSpPr>
          <p:cNvPr id="559" name="Google Shape;559;p4"/>
          <p:cNvSpPr/>
          <p:nvPr/>
        </p:nvSpPr>
        <p:spPr>
          <a:xfrm>
            <a:off x="10833100" y="3336925"/>
            <a:ext cx="24002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yes</a:t>
            </a:r>
            <a:endParaRPr b="0" i="0" sz="1400" u="none" cap="none" strike="noStrike">
              <a:solidFill>
                <a:srgbClr val="000000"/>
              </a:solidFill>
              <a:latin typeface="Arial"/>
              <a:ea typeface="Arial"/>
              <a:cs typeface="Arial"/>
              <a:sym typeface="Arial"/>
            </a:endParaRPr>
          </a:p>
        </p:txBody>
      </p:sp>
      <p:sp>
        <p:nvSpPr>
          <p:cNvPr id="560" name="Google Shape;560;p4"/>
          <p:cNvSpPr/>
          <p:nvPr/>
        </p:nvSpPr>
        <p:spPr>
          <a:xfrm>
            <a:off x="10833100" y="2203450"/>
            <a:ext cx="1854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a:t>
            </a:r>
            <a:endParaRPr b="0" i="0" sz="1400" u="none" cap="none" strike="noStrike">
              <a:solidFill>
                <a:srgbClr val="000000"/>
              </a:solidFill>
              <a:latin typeface="Arial"/>
              <a:ea typeface="Arial"/>
              <a:cs typeface="Arial"/>
              <a:sym typeface="Arial"/>
            </a:endParaRPr>
          </a:p>
        </p:txBody>
      </p:sp>
      <p:sp>
        <p:nvSpPr>
          <p:cNvPr id="561" name="Google Shape;561;p4"/>
          <p:cNvSpPr/>
          <p:nvPr/>
        </p:nvSpPr>
        <p:spPr>
          <a:xfrm>
            <a:off x="10096500" y="4178300"/>
            <a:ext cx="133223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'Cancel without refund'</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565" name="Shape 565"/>
        <p:cNvGrpSpPr/>
        <p:nvPr/>
      </p:nvGrpSpPr>
      <p:grpSpPr>
        <a:xfrm>
          <a:off x="0" y="0"/>
          <a:ext cx="0" cy="0"/>
          <a:chOff x="0" y="0"/>
          <a:chExt cx="0" cy="0"/>
        </a:xfrm>
      </p:grpSpPr>
      <p:grpSp>
        <p:nvGrpSpPr>
          <p:cNvPr id="566" name="Google Shape;566;p5"/>
          <p:cNvGrpSpPr/>
          <p:nvPr/>
        </p:nvGrpSpPr>
        <p:grpSpPr>
          <a:xfrm>
            <a:off x="597408" y="171450"/>
            <a:ext cx="10317480" cy="642557"/>
            <a:chOff x="597408" y="171450"/>
            <a:chExt cx="10317480" cy="642557"/>
          </a:xfrm>
        </p:grpSpPr>
        <p:sp>
          <p:nvSpPr>
            <p:cNvPr id="567" name="Google Shape;567;p5"/>
            <p:cNvSpPr txBox="1"/>
            <p:nvPr/>
          </p:nvSpPr>
          <p:spPr>
            <a:xfrm>
              <a:off x="604838" y="171450"/>
              <a:ext cx="345215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SYSTEM FLOW · TECHNICAL SHADOW</a:t>
              </a:r>
              <a:endParaRPr b="0" i="0" sz="1400" u="none" cap="none" strike="noStrike">
                <a:solidFill>
                  <a:srgbClr val="000000"/>
                </a:solidFill>
                <a:latin typeface="Arial"/>
                <a:ea typeface="Arial"/>
                <a:cs typeface="Arial"/>
                <a:sym typeface="Arial"/>
              </a:endParaRPr>
            </a:p>
          </p:txBody>
        </p:sp>
        <p:sp>
          <p:nvSpPr>
            <p:cNvPr id="568" name="Google Shape;568;p5"/>
            <p:cNvSpPr/>
            <p:nvPr/>
          </p:nvSpPr>
          <p:spPr>
            <a:xfrm>
              <a:off x="597408" y="273082"/>
              <a:ext cx="10317480" cy="4693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B3D36"/>
                  </a:solidFill>
                  <a:latin typeface="Garamond"/>
                  <a:ea typeface="Garamond"/>
                  <a:cs typeface="Garamond"/>
                  <a:sym typeface="Garamond"/>
                </a:rPr>
                <a:t>How the system keeps the promise, part 2: outcomes</a:t>
              </a:r>
              <a:endParaRPr b="0" i="0" sz="1400" u="none" cap="none" strike="noStrike">
                <a:solidFill>
                  <a:srgbClr val="000000"/>
                </a:solidFill>
                <a:latin typeface="Arial"/>
                <a:ea typeface="Arial"/>
                <a:cs typeface="Arial"/>
                <a:sym typeface="Arial"/>
              </a:endParaRPr>
            </a:p>
          </p:txBody>
        </p:sp>
        <p:sp>
          <p:nvSpPr>
            <p:cNvPr id="569" name="Google Shape;569;p5"/>
            <p:cNvSpPr/>
            <p:nvPr/>
          </p:nvSpPr>
          <p:spPr>
            <a:xfrm>
              <a:off x="604456" y="615982"/>
              <a:ext cx="9344692" cy="19802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10"/>
                <a:buFont typeface="Arial"/>
                <a:buNone/>
              </a:pPr>
              <a:r>
                <a:rPr b="0" i="0" lang="en" sz="1010" u="none" cap="none" strike="noStrike">
                  <a:solidFill>
                    <a:srgbClr val="6B6F66"/>
                  </a:solidFill>
                  <a:latin typeface="Quattrocento Sans"/>
                  <a:ea typeface="Quattrocento Sans"/>
                  <a:cs typeface="Quattrocento Sans"/>
                  <a:sym typeface="Quattrocento Sans"/>
                </a:rPr>
                <a:t>Continues from Slide 6: the confirm call, timeout reconciliation, and the changed-refund path (error 914).</a:t>
              </a:r>
              <a:endParaRPr b="0" i="0" sz="1400" u="none" cap="none" strike="noStrike">
                <a:solidFill>
                  <a:srgbClr val="000000"/>
                </a:solidFill>
                <a:latin typeface="Arial"/>
                <a:ea typeface="Arial"/>
                <a:cs typeface="Arial"/>
                <a:sym typeface="Arial"/>
              </a:endParaRPr>
            </a:p>
          </p:txBody>
        </p:sp>
      </p:grpSp>
      <p:sp>
        <p:nvSpPr>
          <p:cNvPr id="570" name="Google Shape;570;p5"/>
          <p:cNvSpPr/>
          <p:nvPr/>
        </p:nvSpPr>
        <p:spPr>
          <a:xfrm>
            <a:off x="1319879" y="854107"/>
            <a:ext cx="1015651" cy="147638"/>
          </a:xfrm>
          <a:prstGeom prst="rect">
            <a:avLst/>
          </a:prstGeom>
          <a:noFill/>
          <a:ln>
            <a:noFill/>
          </a:ln>
        </p:spPr>
        <p:txBody>
          <a:bodyPr anchorCtr="0" anchor="t" bIns="0" lIns="0" spcFirstLastPara="1" rIns="41690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1" lang="en" sz="750" u="none" cap="none" strike="noStrike">
                <a:solidFill>
                  <a:srgbClr val="4A7C6F"/>
                </a:solidFill>
                <a:latin typeface="Quattrocento Sans"/>
                <a:ea typeface="Quattrocento Sans"/>
                <a:cs typeface="Quattrocento Sans"/>
                <a:sym typeface="Quattrocento Sans"/>
              </a:rPr>
              <a:t>from Slide 6</a:t>
            </a:r>
            <a:endParaRPr b="0" i="0" sz="1400" u="none" cap="none" strike="noStrike">
              <a:solidFill>
                <a:srgbClr val="000000"/>
              </a:solidFill>
              <a:latin typeface="Arial"/>
              <a:ea typeface="Arial"/>
              <a:cs typeface="Arial"/>
              <a:sym typeface="Arial"/>
            </a:endParaRPr>
          </a:p>
        </p:txBody>
      </p:sp>
      <p:sp>
        <p:nvSpPr>
          <p:cNvPr id="571" name="Google Shape;571;p5"/>
          <p:cNvSpPr/>
          <p:nvPr/>
        </p:nvSpPr>
        <p:spPr>
          <a:xfrm>
            <a:off x="609600" y="9906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p5"/>
          <p:cNvSpPr/>
          <p:nvPr/>
        </p:nvSpPr>
        <p:spPr>
          <a:xfrm>
            <a:off x="609600" y="10668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p5"/>
          <p:cNvSpPr txBox="1"/>
          <p:nvPr/>
        </p:nvSpPr>
        <p:spPr>
          <a:xfrm>
            <a:off x="604838" y="1104900"/>
            <a:ext cx="77469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CUSTOMER</a:t>
            </a:r>
            <a:endParaRPr b="0" i="0" sz="1400" u="none" cap="none" strike="noStrike">
              <a:solidFill>
                <a:srgbClr val="000000"/>
              </a:solidFill>
              <a:latin typeface="Arial"/>
              <a:ea typeface="Arial"/>
              <a:cs typeface="Arial"/>
              <a:sym typeface="Arial"/>
            </a:endParaRPr>
          </a:p>
        </p:txBody>
      </p:sp>
      <p:sp>
        <p:nvSpPr>
          <p:cNvPr id="574" name="Google Shape;574;p5"/>
          <p:cNvSpPr/>
          <p:nvPr/>
        </p:nvSpPr>
        <p:spPr>
          <a:xfrm>
            <a:off x="609600" y="1905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5"/>
          <p:cNvSpPr/>
          <p:nvPr/>
        </p:nvSpPr>
        <p:spPr>
          <a:xfrm>
            <a:off x="609600" y="19812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5"/>
          <p:cNvSpPr txBox="1"/>
          <p:nvPr/>
        </p:nvSpPr>
        <p:spPr>
          <a:xfrm>
            <a:off x="604838" y="2019300"/>
            <a:ext cx="87511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ANDROID UI</a:t>
            </a:r>
            <a:endParaRPr b="0" i="0" sz="1400" u="none" cap="none" strike="noStrike">
              <a:solidFill>
                <a:srgbClr val="000000"/>
              </a:solidFill>
              <a:latin typeface="Arial"/>
              <a:ea typeface="Arial"/>
              <a:cs typeface="Arial"/>
              <a:sym typeface="Arial"/>
            </a:endParaRPr>
          </a:p>
        </p:txBody>
      </p:sp>
      <p:sp>
        <p:nvSpPr>
          <p:cNvPr id="577" name="Google Shape;577;p5"/>
          <p:cNvSpPr/>
          <p:nvPr/>
        </p:nvSpPr>
        <p:spPr>
          <a:xfrm>
            <a:off x="609600" y="33274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5"/>
          <p:cNvSpPr/>
          <p:nvPr/>
        </p:nvSpPr>
        <p:spPr>
          <a:xfrm>
            <a:off x="609600" y="34036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p5"/>
          <p:cNvSpPr txBox="1"/>
          <p:nvPr/>
        </p:nvSpPr>
        <p:spPr>
          <a:xfrm>
            <a:off x="604838" y="3441700"/>
            <a:ext cx="102341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OUR BACKEND</a:t>
            </a:r>
            <a:endParaRPr b="0" i="0" sz="1400" u="none" cap="none" strike="noStrike">
              <a:solidFill>
                <a:srgbClr val="000000"/>
              </a:solidFill>
              <a:latin typeface="Arial"/>
              <a:ea typeface="Arial"/>
              <a:cs typeface="Arial"/>
              <a:sym typeface="Arial"/>
            </a:endParaRPr>
          </a:p>
        </p:txBody>
      </p:sp>
      <p:sp>
        <p:nvSpPr>
          <p:cNvPr id="580" name="Google Shape;580;p5"/>
          <p:cNvSpPr/>
          <p:nvPr/>
        </p:nvSpPr>
        <p:spPr>
          <a:xfrm>
            <a:off x="609600" y="50800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1" name="Google Shape;581;p5"/>
          <p:cNvSpPr/>
          <p:nvPr/>
        </p:nvSpPr>
        <p:spPr>
          <a:xfrm>
            <a:off x="609600" y="5156200"/>
            <a:ext cx="171450" cy="23812"/>
          </a:xfrm>
          <a:prstGeom prst="rect">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2" name="Google Shape;582;p5"/>
          <p:cNvSpPr txBox="1"/>
          <p:nvPr/>
        </p:nvSpPr>
        <p:spPr>
          <a:xfrm>
            <a:off x="604838" y="5194300"/>
            <a:ext cx="801889"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0B3D36"/>
                </a:solidFill>
                <a:latin typeface="Quattrocento Sans"/>
                <a:ea typeface="Quattrocento Sans"/>
                <a:cs typeface="Quattrocento Sans"/>
                <a:sym typeface="Quattrocento Sans"/>
              </a:rPr>
              <a:t>AGODA API</a:t>
            </a:r>
            <a:endParaRPr b="0" i="0" sz="1400" u="none" cap="none" strike="noStrike">
              <a:solidFill>
                <a:srgbClr val="000000"/>
              </a:solidFill>
              <a:latin typeface="Arial"/>
              <a:ea typeface="Arial"/>
              <a:cs typeface="Arial"/>
              <a:sym typeface="Arial"/>
            </a:endParaRPr>
          </a:p>
        </p:txBody>
      </p:sp>
      <p:sp>
        <p:nvSpPr>
          <p:cNvPr id="583" name="Google Shape;583;p5"/>
          <p:cNvSpPr txBox="1"/>
          <p:nvPr/>
        </p:nvSpPr>
        <p:spPr>
          <a:xfrm>
            <a:off x="9145087" y="850900"/>
            <a:ext cx="2442076" cy="161925"/>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820"/>
              <a:buFont typeface="Arial"/>
              <a:buNone/>
            </a:pPr>
            <a:r>
              <a:rPr b="1" i="0" lang="en" sz="820" u="none" cap="none" strike="noStrike">
                <a:solidFill>
                  <a:srgbClr val="4A7C6F"/>
                </a:solidFill>
                <a:latin typeface="Quattrocento Sans"/>
                <a:ea typeface="Quattrocento Sans"/>
                <a:cs typeface="Quattrocento Sans"/>
                <a:sym typeface="Quattrocento Sans"/>
              </a:rPr>
              <a:t>TECHNICAL SHADOW · PART 2 OF 2</a:t>
            </a:r>
            <a:endParaRPr b="0" i="0" sz="1400" u="none" cap="none" strike="noStrike">
              <a:solidFill>
                <a:srgbClr val="000000"/>
              </a:solidFill>
              <a:latin typeface="Arial"/>
              <a:ea typeface="Arial"/>
              <a:cs typeface="Arial"/>
              <a:sym typeface="Arial"/>
            </a:endParaRPr>
          </a:p>
        </p:txBody>
      </p:sp>
      <p:sp>
        <p:nvSpPr>
          <p:cNvPr id="584" name="Google Shape;584;p5"/>
          <p:cNvSpPr/>
          <p:nvPr/>
        </p:nvSpPr>
        <p:spPr>
          <a:xfrm>
            <a:off x="609600" y="60579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5"/>
          <p:cNvSpPr/>
          <p:nvPr/>
        </p:nvSpPr>
        <p:spPr>
          <a:xfrm>
            <a:off x="1063625" y="1257300"/>
            <a:ext cx="1428750" cy="609600"/>
          </a:xfrm>
          <a:custGeom>
            <a:rect b="b" l="l" r="r" t="t"/>
            <a:pathLst>
              <a:path extrusionOk="0" h="609600" w="1428750">
                <a:moveTo>
                  <a:pt x="714375" y="0"/>
                </a:moveTo>
                <a:lnTo>
                  <a:pt x="1428750" y="304800"/>
                </a:lnTo>
                <a:lnTo>
                  <a:pt x="714375" y="609600"/>
                </a:lnTo>
                <a:lnTo>
                  <a:pt x="0" y="304800"/>
                </a:lnTo>
                <a:close/>
              </a:path>
            </a:pathLst>
          </a:custGeom>
          <a:solidFill>
            <a:srgbClr val="FFFFFF"/>
          </a:solidFill>
          <a:ln cap="flat" cmpd="sng" w="11425">
            <a:solidFill>
              <a:srgbClr val="0B3D36"/>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6" name="Google Shape;586;p5"/>
          <p:cNvSpPr/>
          <p:nvPr/>
        </p:nvSpPr>
        <p:spPr>
          <a:xfrm>
            <a:off x="1570545" y="1368552"/>
            <a:ext cx="750094" cy="161925"/>
          </a:xfrm>
          <a:prstGeom prst="rect">
            <a:avLst/>
          </a:prstGeom>
          <a:noFill/>
          <a:ln>
            <a:noFill/>
          </a:ln>
        </p:spPr>
        <p:txBody>
          <a:bodyPr anchorCtr="0" anchor="t" bIns="0" lIns="0" spcFirstLastPara="1" rIns="3351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Keep, or</a:t>
            </a:r>
            <a:endParaRPr b="0" i="0" sz="1400" u="none" cap="none" strike="noStrike">
              <a:solidFill>
                <a:srgbClr val="000000"/>
              </a:solidFill>
              <a:latin typeface="Arial"/>
              <a:ea typeface="Arial"/>
              <a:cs typeface="Arial"/>
              <a:sym typeface="Arial"/>
            </a:endParaRPr>
          </a:p>
        </p:txBody>
      </p:sp>
      <p:sp>
        <p:nvSpPr>
          <p:cNvPr id="587" name="Google Shape;587;p5"/>
          <p:cNvSpPr/>
          <p:nvPr/>
        </p:nvSpPr>
        <p:spPr>
          <a:xfrm>
            <a:off x="1586833" y="1497140"/>
            <a:ext cx="675513" cy="161925"/>
          </a:xfrm>
          <a:prstGeom prst="rect">
            <a:avLst/>
          </a:prstGeom>
          <a:noFill/>
          <a:ln>
            <a:noFill/>
          </a:ln>
        </p:spPr>
        <p:txBody>
          <a:bodyPr anchorCtr="0" anchor="t" bIns="0" lIns="0" spcFirstLastPara="1" rIns="293175"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confirm</a:t>
            </a:r>
            <a:endParaRPr b="0" i="0" sz="1400" u="none" cap="none" strike="noStrike">
              <a:solidFill>
                <a:srgbClr val="000000"/>
              </a:solidFill>
              <a:latin typeface="Arial"/>
              <a:ea typeface="Arial"/>
              <a:cs typeface="Arial"/>
              <a:sym typeface="Arial"/>
            </a:endParaRPr>
          </a:p>
        </p:txBody>
      </p:sp>
      <p:sp>
        <p:nvSpPr>
          <p:cNvPr id="588" name="Google Shape;588;p5"/>
          <p:cNvSpPr/>
          <p:nvPr/>
        </p:nvSpPr>
        <p:spPr>
          <a:xfrm>
            <a:off x="1458817" y="1625727"/>
            <a:ext cx="1153287" cy="161925"/>
          </a:xfrm>
          <a:prstGeom prst="rect">
            <a:avLst/>
          </a:prstGeom>
          <a:noFill/>
          <a:ln>
            <a:noFill/>
          </a:ln>
        </p:spPr>
        <p:txBody>
          <a:bodyPr anchorCtr="0" anchor="t" bIns="0" lIns="0" spcFirstLastPara="1" rIns="514900" wrap="square" tIns="25">
            <a:noAutofit/>
          </a:bodyPr>
          <a:lstStyle/>
          <a:p>
            <a:pPr indent="0" lvl="0" marL="0" marR="0" rtl="0" algn="ctr">
              <a:lnSpc>
                <a:spcPct val="100000"/>
              </a:lnSpc>
              <a:spcBef>
                <a:spcPts val="0"/>
              </a:spcBef>
              <a:spcAft>
                <a:spcPts val="0"/>
              </a:spcAft>
              <a:buClr>
                <a:srgbClr val="000000"/>
              </a:buClr>
              <a:buSzPts val="820"/>
              <a:buFont typeface="Arial"/>
              <a:buNone/>
            </a:pPr>
            <a:r>
              <a:rPr b="0" i="0" lang="en" sz="820" u="none" cap="none" strike="noStrike">
                <a:solidFill>
                  <a:srgbClr val="1F2A26"/>
                </a:solidFill>
                <a:latin typeface="Quattrocento Sans"/>
                <a:ea typeface="Quattrocento Sans"/>
                <a:cs typeface="Quattrocento Sans"/>
                <a:sym typeface="Quattrocento Sans"/>
              </a:rPr>
              <a:t>cancellation?</a:t>
            </a:r>
            <a:endParaRPr b="0" i="0" sz="1400" u="none" cap="none" strike="noStrike">
              <a:solidFill>
                <a:srgbClr val="000000"/>
              </a:solidFill>
              <a:latin typeface="Arial"/>
              <a:ea typeface="Arial"/>
              <a:cs typeface="Arial"/>
              <a:sym typeface="Arial"/>
            </a:endParaRPr>
          </a:p>
        </p:txBody>
      </p:sp>
      <p:sp>
        <p:nvSpPr>
          <p:cNvPr id="589" name="Google Shape;589;p5"/>
          <p:cNvSpPr/>
          <p:nvPr/>
        </p:nvSpPr>
        <p:spPr>
          <a:xfrm>
            <a:off x="2272252" y="173040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590" name="Google Shape;590;p5"/>
          <p:cNvSpPr/>
          <p:nvPr/>
        </p:nvSpPr>
        <p:spPr>
          <a:xfrm>
            <a:off x="2651125" y="2359025"/>
            <a:ext cx="1047750" cy="361950"/>
          </a:xfrm>
          <a:prstGeom prst="roundRect">
            <a:avLst>
              <a:gd fmla="val 13158"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1" name="Google Shape;591;p5"/>
          <p:cNvSpPr/>
          <p:nvPr/>
        </p:nvSpPr>
        <p:spPr>
          <a:xfrm>
            <a:off x="2781522" y="2418271"/>
            <a:ext cx="1306258" cy="191643"/>
          </a:xfrm>
          <a:prstGeom prst="rect">
            <a:avLst/>
          </a:prstGeom>
          <a:noFill/>
          <a:ln>
            <a:noFill/>
          </a:ln>
        </p:spPr>
        <p:txBody>
          <a:bodyPr anchorCtr="0" anchor="t" bIns="0" lIns="0" spcFirstLastPara="1" rIns="5193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kept</a:t>
            </a:r>
            <a:endParaRPr b="0" i="0" sz="1400" u="none" cap="none" strike="noStrike">
              <a:solidFill>
                <a:srgbClr val="000000"/>
              </a:solidFill>
              <a:latin typeface="Arial"/>
              <a:ea typeface="Arial"/>
              <a:cs typeface="Arial"/>
              <a:sym typeface="Arial"/>
            </a:endParaRPr>
          </a:p>
        </p:txBody>
      </p:sp>
      <p:sp>
        <p:nvSpPr>
          <p:cNvPr id="592" name="Google Shape;592;p5"/>
          <p:cNvSpPr/>
          <p:nvPr/>
        </p:nvSpPr>
        <p:spPr>
          <a:xfrm>
            <a:off x="3478752" y="25844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S5</a:t>
            </a:r>
            <a:endParaRPr b="0" i="0" sz="1400" u="none" cap="none" strike="noStrike">
              <a:solidFill>
                <a:srgbClr val="000000"/>
              </a:solidFill>
              <a:latin typeface="Arial"/>
              <a:ea typeface="Arial"/>
              <a:cs typeface="Arial"/>
              <a:sym typeface="Arial"/>
            </a:endParaRPr>
          </a:p>
        </p:txBody>
      </p:sp>
      <p:sp>
        <p:nvSpPr>
          <p:cNvPr id="593" name="Google Shape;593;p5"/>
          <p:cNvSpPr/>
          <p:nvPr/>
        </p:nvSpPr>
        <p:spPr>
          <a:xfrm>
            <a:off x="7715250" y="4387850"/>
            <a:ext cx="133350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5"/>
          <p:cNvSpPr/>
          <p:nvPr/>
        </p:nvSpPr>
        <p:spPr>
          <a:xfrm>
            <a:off x="8044339" y="4439952"/>
            <a:ext cx="1250442" cy="191643"/>
          </a:xfrm>
          <a:prstGeom prst="rect">
            <a:avLst/>
          </a:prstGeom>
          <a:noFill/>
          <a:ln>
            <a:noFill/>
          </a:ln>
        </p:spPr>
        <p:txBody>
          <a:bodyPr anchorCtr="0" anchor="t" bIns="0" lIns="0" spcFirstLastPara="1" rIns="5751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Escalate via</a:t>
            </a:r>
            <a:endParaRPr b="0" i="0" sz="1400" u="none" cap="none" strike="noStrike">
              <a:solidFill>
                <a:srgbClr val="000000"/>
              </a:solidFill>
              <a:latin typeface="Arial"/>
              <a:ea typeface="Arial"/>
              <a:cs typeface="Arial"/>
              <a:sym typeface="Arial"/>
            </a:endParaRPr>
          </a:p>
        </p:txBody>
      </p:sp>
      <p:sp>
        <p:nvSpPr>
          <p:cNvPr id="595" name="Google Shape;595;p5"/>
          <p:cNvSpPr/>
          <p:nvPr/>
        </p:nvSpPr>
        <p:spPr>
          <a:xfrm>
            <a:off x="7973759" y="4587589"/>
            <a:ext cx="1460468" cy="191643"/>
          </a:xfrm>
          <a:prstGeom prst="rect">
            <a:avLst/>
          </a:prstGeom>
          <a:noFill/>
          <a:ln>
            <a:noFill/>
          </a:ln>
        </p:spPr>
        <p:txBody>
          <a:bodyPr anchorCtr="0" anchor="t" bIns="0" lIns="0" spcFirstLastPara="1" rIns="6439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support ticket</a:t>
            </a:r>
            <a:endParaRPr b="0" i="0" sz="1400" u="none" cap="none" strike="noStrike">
              <a:solidFill>
                <a:srgbClr val="000000"/>
              </a:solidFill>
              <a:latin typeface="Arial"/>
              <a:ea typeface="Arial"/>
              <a:cs typeface="Arial"/>
              <a:sym typeface="Arial"/>
            </a:endParaRPr>
          </a:p>
        </p:txBody>
      </p:sp>
      <p:sp>
        <p:nvSpPr>
          <p:cNvPr id="596" name="Google Shape;596;p5"/>
          <p:cNvSpPr/>
          <p:nvPr/>
        </p:nvSpPr>
        <p:spPr>
          <a:xfrm>
            <a:off x="8828627" y="4746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597" name="Google Shape;597;p5"/>
          <p:cNvSpPr/>
          <p:nvPr/>
        </p:nvSpPr>
        <p:spPr>
          <a:xfrm>
            <a:off x="3143250" y="3629025"/>
            <a:ext cx="133350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5"/>
          <p:cNvSpPr/>
          <p:nvPr/>
        </p:nvSpPr>
        <p:spPr>
          <a:xfrm>
            <a:off x="3456051" y="3688271"/>
            <a:ext cx="1266730" cy="191643"/>
          </a:xfrm>
          <a:prstGeom prst="rect">
            <a:avLst/>
          </a:prstGeom>
          <a:noFill/>
          <a:ln>
            <a:noFill/>
          </a:ln>
        </p:spPr>
        <p:txBody>
          <a:bodyPr anchorCtr="0" anchor="t" bIns="0" lIns="0" spcFirstLastPara="1" rIns="5588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Confirm call</a:t>
            </a:r>
            <a:endParaRPr b="0" i="0" sz="1400" u="none" cap="none" strike="noStrike">
              <a:solidFill>
                <a:srgbClr val="000000"/>
              </a:solidFill>
              <a:latin typeface="Arial"/>
              <a:ea typeface="Arial"/>
              <a:cs typeface="Arial"/>
              <a:sym typeface="Arial"/>
            </a:endParaRPr>
          </a:p>
        </p:txBody>
      </p:sp>
      <p:sp>
        <p:nvSpPr>
          <p:cNvPr id="599" name="Google Shape;599;p5"/>
          <p:cNvSpPr/>
          <p:nvPr/>
        </p:nvSpPr>
        <p:spPr>
          <a:xfrm>
            <a:off x="4256627" y="38544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S6</a:t>
            </a:r>
            <a:endParaRPr b="0" i="0" sz="1400" u="none" cap="none" strike="noStrike">
              <a:solidFill>
                <a:srgbClr val="000000"/>
              </a:solidFill>
              <a:latin typeface="Arial"/>
              <a:ea typeface="Arial"/>
              <a:cs typeface="Arial"/>
              <a:sym typeface="Arial"/>
            </a:endParaRPr>
          </a:p>
        </p:txBody>
      </p:sp>
      <p:sp>
        <p:nvSpPr>
          <p:cNvPr id="600" name="Google Shape;600;p5"/>
          <p:cNvSpPr/>
          <p:nvPr/>
        </p:nvSpPr>
        <p:spPr>
          <a:xfrm>
            <a:off x="5953125" y="3562350"/>
            <a:ext cx="142875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5"/>
          <p:cNvSpPr/>
          <p:nvPr/>
        </p:nvSpPr>
        <p:spPr>
          <a:xfrm>
            <a:off x="6375654" y="3614452"/>
            <a:ext cx="995458" cy="191643"/>
          </a:xfrm>
          <a:prstGeom prst="rect">
            <a:avLst/>
          </a:prstGeom>
          <a:noFill/>
          <a:ln>
            <a:noFill/>
          </a:ln>
        </p:spPr>
        <p:txBody>
          <a:bodyPr anchorCtr="0" anchor="t" bIns="0" lIns="0" spcFirstLastPara="1" rIns="411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Timeout -</a:t>
            </a:r>
            <a:endParaRPr b="0" i="0" sz="1400" u="none" cap="none" strike="noStrike">
              <a:solidFill>
                <a:srgbClr val="000000"/>
              </a:solidFill>
              <a:latin typeface="Arial"/>
              <a:ea typeface="Arial"/>
              <a:cs typeface="Arial"/>
              <a:sym typeface="Arial"/>
            </a:endParaRPr>
          </a:p>
        </p:txBody>
      </p:sp>
      <p:sp>
        <p:nvSpPr>
          <p:cNvPr id="602" name="Google Shape;602;p5"/>
          <p:cNvSpPr/>
          <p:nvPr/>
        </p:nvSpPr>
        <p:spPr>
          <a:xfrm>
            <a:off x="6268879" y="3762089"/>
            <a:ext cx="1450848" cy="191643"/>
          </a:xfrm>
          <a:prstGeom prst="rect">
            <a:avLst/>
          </a:prstGeom>
          <a:noFill/>
          <a:ln>
            <a:noFill/>
          </a:ln>
        </p:spPr>
        <p:txBody>
          <a:bodyPr anchorCtr="0" anchor="t" bIns="0" lIns="0" spcFirstLastPara="1" rIns="6536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no blind retry</a:t>
            </a:r>
            <a:endParaRPr b="0" i="0" sz="1400" u="none" cap="none" strike="noStrike">
              <a:solidFill>
                <a:srgbClr val="000000"/>
              </a:solidFill>
              <a:latin typeface="Arial"/>
              <a:ea typeface="Arial"/>
              <a:cs typeface="Arial"/>
              <a:sym typeface="Arial"/>
            </a:endParaRPr>
          </a:p>
        </p:txBody>
      </p:sp>
      <p:sp>
        <p:nvSpPr>
          <p:cNvPr id="603" name="Google Shape;603;p5"/>
          <p:cNvSpPr/>
          <p:nvPr/>
        </p:nvSpPr>
        <p:spPr>
          <a:xfrm>
            <a:off x="7161752" y="3921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04" name="Google Shape;604;p5"/>
          <p:cNvSpPr/>
          <p:nvPr/>
        </p:nvSpPr>
        <p:spPr>
          <a:xfrm>
            <a:off x="5953125" y="2355850"/>
            <a:ext cx="142875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5"/>
          <p:cNvSpPr/>
          <p:nvPr/>
        </p:nvSpPr>
        <p:spPr>
          <a:xfrm>
            <a:off x="6296787" y="2407952"/>
            <a:ext cx="1213771" cy="191643"/>
          </a:xfrm>
          <a:prstGeom prst="rect">
            <a:avLst/>
          </a:prstGeom>
          <a:noFill/>
          <a:ln>
            <a:noFill/>
          </a:ln>
        </p:spPr>
        <p:txBody>
          <a:bodyPr anchorCtr="0" anchor="t" bIns="0" lIns="0" spcFirstLastPara="1" rIns="4723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Show 'We're</a:t>
            </a:r>
            <a:endParaRPr b="0" i="0" sz="1400" u="none" cap="none" strike="noStrike">
              <a:solidFill>
                <a:srgbClr val="000000"/>
              </a:solidFill>
              <a:latin typeface="Arial"/>
              <a:ea typeface="Arial"/>
              <a:cs typeface="Arial"/>
              <a:sym typeface="Arial"/>
            </a:endParaRPr>
          </a:p>
        </p:txBody>
      </p:sp>
      <p:sp>
        <p:nvSpPr>
          <p:cNvPr id="606" name="Google Shape;606;p5"/>
          <p:cNvSpPr/>
          <p:nvPr/>
        </p:nvSpPr>
        <p:spPr>
          <a:xfrm>
            <a:off x="6389656" y="2555589"/>
            <a:ext cx="981456" cy="191643"/>
          </a:xfrm>
          <a:prstGeom prst="rect">
            <a:avLst/>
          </a:prstGeom>
          <a:noFill/>
          <a:ln>
            <a:noFill/>
          </a:ln>
        </p:spPr>
        <p:txBody>
          <a:bodyPr anchorCtr="0" anchor="t" bIns="0" lIns="0" spcFirstLastPara="1" rIns="425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checking'</a:t>
            </a:r>
            <a:endParaRPr b="0" i="0" sz="1400" u="none" cap="none" strike="noStrike">
              <a:solidFill>
                <a:srgbClr val="000000"/>
              </a:solidFill>
              <a:latin typeface="Arial"/>
              <a:ea typeface="Arial"/>
              <a:cs typeface="Arial"/>
              <a:sym typeface="Arial"/>
            </a:endParaRPr>
          </a:p>
        </p:txBody>
      </p:sp>
      <p:sp>
        <p:nvSpPr>
          <p:cNvPr id="607" name="Google Shape;607;p5"/>
          <p:cNvSpPr/>
          <p:nvPr/>
        </p:nvSpPr>
        <p:spPr>
          <a:xfrm>
            <a:off x="7161752" y="2714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08" name="Google Shape;608;p5"/>
          <p:cNvSpPr/>
          <p:nvPr/>
        </p:nvSpPr>
        <p:spPr>
          <a:xfrm>
            <a:off x="5953125" y="1314450"/>
            <a:ext cx="142875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5"/>
          <p:cNvSpPr/>
          <p:nvPr/>
        </p:nvSpPr>
        <p:spPr>
          <a:xfrm>
            <a:off x="6323838" y="1366552"/>
            <a:ext cx="1186720" cy="191643"/>
          </a:xfrm>
          <a:prstGeom prst="rect">
            <a:avLst/>
          </a:prstGeom>
          <a:noFill/>
          <a:ln>
            <a:noFill/>
          </a:ln>
        </p:spPr>
        <p:txBody>
          <a:bodyPr anchorCtr="0" anchor="t" bIns="0" lIns="0" spcFirstLastPara="1" rIns="4993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Sees 'We're</a:t>
            </a:r>
            <a:endParaRPr b="0" i="0" sz="1400" u="none" cap="none" strike="noStrike">
              <a:solidFill>
                <a:srgbClr val="000000"/>
              </a:solidFill>
              <a:latin typeface="Arial"/>
              <a:ea typeface="Arial"/>
              <a:cs typeface="Arial"/>
              <a:sym typeface="Arial"/>
            </a:endParaRPr>
          </a:p>
        </p:txBody>
      </p:sp>
      <p:sp>
        <p:nvSpPr>
          <p:cNvPr id="610" name="Google Shape;610;p5"/>
          <p:cNvSpPr/>
          <p:nvPr/>
        </p:nvSpPr>
        <p:spPr>
          <a:xfrm>
            <a:off x="6389656" y="1514189"/>
            <a:ext cx="981456" cy="191643"/>
          </a:xfrm>
          <a:prstGeom prst="rect">
            <a:avLst/>
          </a:prstGeom>
          <a:noFill/>
          <a:ln>
            <a:noFill/>
          </a:ln>
        </p:spPr>
        <p:txBody>
          <a:bodyPr anchorCtr="0" anchor="t" bIns="0" lIns="0" spcFirstLastPara="1" rIns="425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checking'</a:t>
            </a:r>
            <a:endParaRPr b="0" i="0" sz="1400" u="none" cap="none" strike="noStrike">
              <a:solidFill>
                <a:srgbClr val="000000"/>
              </a:solidFill>
              <a:latin typeface="Arial"/>
              <a:ea typeface="Arial"/>
              <a:cs typeface="Arial"/>
              <a:sym typeface="Arial"/>
            </a:endParaRPr>
          </a:p>
        </p:txBody>
      </p:sp>
      <p:sp>
        <p:nvSpPr>
          <p:cNvPr id="611" name="Google Shape;611;p5"/>
          <p:cNvSpPr/>
          <p:nvPr/>
        </p:nvSpPr>
        <p:spPr>
          <a:xfrm>
            <a:off x="7161752"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12" name="Google Shape;612;p5"/>
          <p:cNvSpPr/>
          <p:nvPr/>
        </p:nvSpPr>
        <p:spPr>
          <a:xfrm>
            <a:off x="1524000" y="5340350"/>
            <a:ext cx="1524000" cy="495300"/>
          </a:xfrm>
          <a:prstGeom prst="roundRect">
            <a:avLst>
              <a:gd fmla="val 9615"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3" name="Google Shape;613;p5"/>
          <p:cNvSpPr/>
          <p:nvPr/>
        </p:nvSpPr>
        <p:spPr>
          <a:xfrm>
            <a:off x="1743361" y="5392452"/>
            <a:ext cx="1734312" cy="191643"/>
          </a:xfrm>
          <a:prstGeom prst="rect">
            <a:avLst/>
          </a:prstGeom>
          <a:noFill/>
          <a:ln>
            <a:noFill/>
          </a:ln>
        </p:spPr>
        <p:txBody>
          <a:bodyPr anchorCtr="0" anchor="t" bIns="0" lIns="0" spcFirstLastPara="1" rIns="649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HTTP 200 empty -</a:t>
            </a:r>
            <a:endParaRPr b="0" i="0" sz="1400" u="none" cap="none" strike="noStrike">
              <a:solidFill>
                <a:srgbClr val="000000"/>
              </a:solidFill>
              <a:latin typeface="Arial"/>
              <a:ea typeface="Arial"/>
              <a:cs typeface="Arial"/>
              <a:sym typeface="Arial"/>
            </a:endParaRPr>
          </a:p>
        </p:txBody>
      </p:sp>
      <p:sp>
        <p:nvSpPr>
          <p:cNvPr id="614" name="Google Shape;614;p5"/>
          <p:cNvSpPr/>
          <p:nvPr/>
        </p:nvSpPr>
        <p:spPr>
          <a:xfrm>
            <a:off x="2157603" y="5540089"/>
            <a:ext cx="553212" cy="191643"/>
          </a:xfrm>
          <a:prstGeom prst="rect">
            <a:avLst/>
          </a:prstGeom>
          <a:noFill/>
          <a:ln>
            <a:noFill/>
          </a:ln>
        </p:spPr>
        <p:txBody>
          <a:bodyPr anchorCtr="0" anchor="t" bIns="0" lIns="0" spcFirstLastPara="1" rIns="2964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final</a:t>
            </a:r>
            <a:endParaRPr b="0" i="0" sz="1400" u="none" cap="none" strike="noStrike">
              <a:solidFill>
                <a:srgbClr val="000000"/>
              </a:solidFill>
              <a:latin typeface="Arial"/>
              <a:ea typeface="Arial"/>
              <a:cs typeface="Arial"/>
              <a:sym typeface="Arial"/>
            </a:endParaRPr>
          </a:p>
        </p:txBody>
      </p:sp>
      <p:sp>
        <p:nvSpPr>
          <p:cNvPr id="615" name="Google Shape;615;p5"/>
          <p:cNvSpPr/>
          <p:nvPr/>
        </p:nvSpPr>
        <p:spPr>
          <a:xfrm>
            <a:off x="2827877" y="5699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S6</a:t>
            </a:r>
            <a:endParaRPr b="0" i="0" sz="1400" u="none" cap="none" strike="noStrike">
              <a:solidFill>
                <a:srgbClr val="000000"/>
              </a:solidFill>
              <a:latin typeface="Arial"/>
              <a:ea typeface="Arial"/>
              <a:cs typeface="Arial"/>
              <a:sym typeface="Arial"/>
            </a:endParaRPr>
          </a:p>
        </p:txBody>
      </p:sp>
      <p:sp>
        <p:nvSpPr>
          <p:cNvPr id="616" name="Google Shape;616;p5"/>
          <p:cNvSpPr/>
          <p:nvPr/>
        </p:nvSpPr>
        <p:spPr>
          <a:xfrm>
            <a:off x="3095625" y="5340350"/>
            <a:ext cx="1428750" cy="495300"/>
          </a:xfrm>
          <a:prstGeom prst="roundRect">
            <a:avLst>
              <a:gd fmla="val 9615" name="adj"/>
            </a:avLst>
          </a:prstGeom>
          <a:solidFill>
            <a:srgbClr val="FAEBEA"/>
          </a:solidFill>
          <a:ln cap="flat" cmpd="sng" w="11425">
            <a:solidFill>
              <a:srgbClr val="B326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5"/>
          <p:cNvSpPr/>
          <p:nvPr/>
        </p:nvSpPr>
        <p:spPr>
          <a:xfrm>
            <a:off x="3521964" y="5392452"/>
            <a:ext cx="1061371" cy="191643"/>
          </a:xfrm>
          <a:prstGeom prst="rect">
            <a:avLst/>
          </a:prstGeom>
          <a:noFill/>
          <a:ln>
            <a:noFill/>
          </a:ln>
        </p:spPr>
        <p:txBody>
          <a:bodyPr anchorCtr="0" anchor="t" bIns="0" lIns="0" spcFirstLastPara="1" rIns="4852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Error 914:</a:t>
            </a:r>
            <a:endParaRPr b="0" i="0" sz="1400" u="none" cap="none" strike="noStrike">
              <a:solidFill>
                <a:srgbClr val="000000"/>
              </a:solidFill>
              <a:latin typeface="Arial"/>
              <a:ea typeface="Arial"/>
              <a:cs typeface="Arial"/>
              <a:sym typeface="Arial"/>
            </a:endParaRPr>
          </a:p>
        </p:txBody>
      </p:sp>
      <p:sp>
        <p:nvSpPr>
          <p:cNvPr id="618" name="Google Shape;618;p5"/>
          <p:cNvSpPr/>
          <p:nvPr/>
        </p:nvSpPr>
        <p:spPr>
          <a:xfrm>
            <a:off x="3314129" y="5540089"/>
            <a:ext cx="1617821" cy="191643"/>
          </a:xfrm>
          <a:prstGeom prst="rect">
            <a:avLst/>
          </a:prstGeom>
          <a:noFill/>
          <a:ln>
            <a:noFill/>
          </a:ln>
        </p:spPr>
        <p:txBody>
          <a:bodyPr anchorCtr="0" anchor="t" bIns="0" lIns="0" spcFirstLastPara="1" rIns="6260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refund mismatch</a:t>
            </a:r>
            <a:endParaRPr b="0" i="0" sz="1400" u="none" cap="none" strike="noStrike">
              <a:solidFill>
                <a:srgbClr val="000000"/>
              </a:solidFill>
              <a:latin typeface="Arial"/>
              <a:ea typeface="Arial"/>
              <a:cs typeface="Arial"/>
              <a:sym typeface="Arial"/>
            </a:endParaRPr>
          </a:p>
        </p:txBody>
      </p:sp>
      <p:sp>
        <p:nvSpPr>
          <p:cNvPr id="619" name="Google Shape;619;p5"/>
          <p:cNvSpPr/>
          <p:nvPr/>
        </p:nvSpPr>
        <p:spPr>
          <a:xfrm>
            <a:off x="4304252" y="5699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20" name="Google Shape;620;p5"/>
          <p:cNvSpPr/>
          <p:nvPr/>
        </p:nvSpPr>
        <p:spPr>
          <a:xfrm>
            <a:off x="5953125" y="5340350"/>
            <a:ext cx="142875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5"/>
          <p:cNvSpPr/>
          <p:nvPr/>
        </p:nvSpPr>
        <p:spPr>
          <a:xfrm>
            <a:off x="6189726" y="5392452"/>
            <a:ext cx="1669447" cy="191643"/>
          </a:xfrm>
          <a:prstGeom prst="rect">
            <a:avLst/>
          </a:prstGeom>
          <a:noFill/>
          <a:ln>
            <a:noFill/>
          </a:ln>
        </p:spPr>
        <p:txBody>
          <a:bodyPr anchorCtr="0" anchor="t" bIns="0" lIns="0" spcFirstLastPara="1" rIns="7138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Details:</a:t>
            </a:r>
            <a:endParaRPr b="0" i="0" sz="1400" u="none" cap="none" strike="noStrike">
              <a:solidFill>
                <a:srgbClr val="000000"/>
              </a:solidFill>
              <a:latin typeface="Arial"/>
              <a:ea typeface="Arial"/>
              <a:cs typeface="Arial"/>
              <a:sym typeface="Arial"/>
            </a:endParaRPr>
          </a:p>
        </p:txBody>
      </p:sp>
      <p:sp>
        <p:nvSpPr>
          <p:cNvPr id="622" name="Google Shape;622;p5"/>
          <p:cNvSpPr/>
          <p:nvPr/>
        </p:nvSpPr>
        <p:spPr>
          <a:xfrm>
            <a:off x="6491002" y="5540089"/>
            <a:ext cx="671036" cy="191643"/>
          </a:xfrm>
          <a:prstGeom prst="rect">
            <a:avLst/>
          </a:prstGeom>
          <a:noFill/>
          <a:ln>
            <a:noFill/>
          </a:ln>
        </p:spPr>
        <p:txBody>
          <a:bodyPr anchorCtr="0" anchor="t" bIns="0" lIns="0" spcFirstLastPara="1" rIns="318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status</a:t>
            </a:r>
            <a:endParaRPr b="0" i="0" sz="1400" u="none" cap="none" strike="noStrike">
              <a:solidFill>
                <a:srgbClr val="000000"/>
              </a:solidFill>
              <a:latin typeface="Arial"/>
              <a:ea typeface="Arial"/>
              <a:cs typeface="Arial"/>
              <a:sym typeface="Arial"/>
            </a:endParaRPr>
          </a:p>
        </p:txBody>
      </p:sp>
      <p:sp>
        <p:nvSpPr>
          <p:cNvPr id="623" name="Google Shape;623;p5"/>
          <p:cNvSpPr/>
          <p:nvPr/>
        </p:nvSpPr>
        <p:spPr>
          <a:xfrm>
            <a:off x="7161752" y="5699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24" name="Google Shape;624;p5"/>
          <p:cNvSpPr/>
          <p:nvPr/>
        </p:nvSpPr>
        <p:spPr>
          <a:xfrm>
            <a:off x="5905500" y="4387850"/>
            <a:ext cx="15240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5" name="Google Shape;625;p5"/>
          <p:cNvSpPr/>
          <p:nvPr/>
        </p:nvSpPr>
        <p:spPr>
          <a:xfrm>
            <a:off x="6321933" y="4439952"/>
            <a:ext cx="1188625" cy="191643"/>
          </a:xfrm>
          <a:prstGeom prst="rect">
            <a:avLst/>
          </a:prstGeom>
          <a:noFill/>
          <a:ln>
            <a:noFill/>
          </a:ln>
        </p:spPr>
        <p:txBody>
          <a:bodyPr anchorCtr="0" anchor="t" bIns="0" lIns="0" spcFirstLastPara="1" rIns="4974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Recheck via</a:t>
            </a:r>
            <a:endParaRPr b="0" i="0" sz="1400" u="none" cap="none" strike="noStrike">
              <a:solidFill>
                <a:srgbClr val="000000"/>
              </a:solidFill>
              <a:latin typeface="Arial"/>
              <a:ea typeface="Arial"/>
              <a:cs typeface="Arial"/>
              <a:sym typeface="Arial"/>
            </a:endParaRPr>
          </a:p>
        </p:txBody>
      </p:sp>
      <p:sp>
        <p:nvSpPr>
          <p:cNvPr id="626" name="Google Shape;626;p5"/>
          <p:cNvSpPr/>
          <p:nvPr/>
        </p:nvSpPr>
        <p:spPr>
          <a:xfrm>
            <a:off x="6204109" y="4587589"/>
            <a:ext cx="1585341" cy="191643"/>
          </a:xfrm>
          <a:prstGeom prst="rect">
            <a:avLst/>
          </a:prstGeom>
          <a:noFill/>
          <a:ln>
            <a:noFill/>
          </a:ln>
        </p:spPr>
        <p:txBody>
          <a:bodyPr anchorCtr="0" anchor="t" bIns="0" lIns="0" spcFirstLastPara="1" rIns="6585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Details</a:t>
            </a:r>
            <a:endParaRPr b="0" i="0" sz="1400" u="none" cap="none" strike="noStrike">
              <a:solidFill>
                <a:srgbClr val="000000"/>
              </a:solidFill>
              <a:latin typeface="Arial"/>
              <a:ea typeface="Arial"/>
              <a:cs typeface="Arial"/>
              <a:sym typeface="Arial"/>
            </a:endParaRPr>
          </a:p>
        </p:txBody>
      </p:sp>
      <p:sp>
        <p:nvSpPr>
          <p:cNvPr id="627" name="Google Shape;627;p5"/>
          <p:cNvSpPr/>
          <p:nvPr/>
        </p:nvSpPr>
        <p:spPr>
          <a:xfrm>
            <a:off x="7209377" y="4746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28" name="Google Shape;628;p5"/>
          <p:cNvSpPr/>
          <p:nvPr/>
        </p:nvSpPr>
        <p:spPr>
          <a:xfrm>
            <a:off x="7667625" y="3629025"/>
            <a:ext cx="142875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5"/>
          <p:cNvSpPr/>
          <p:nvPr/>
        </p:nvSpPr>
        <p:spPr>
          <a:xfrm>
            <a:off x="7908322" y="3688271"/>
            <a:ext cx="1665351" cy="191643"/>
          </a:xfrm>
          <a:prstGeom prst="rect">
            <a:avLst/>
          </a:prstGeom>
          <a:noFill/>
          <a:ln>
            <a:noFill/>
          </a:ln>
        </p:spPr>
        <p:txBody>
          <a:bodyPr anchorCtr="0" anchor="t" bIns="0" lIns="0" spcFirstLastPara="1" rIns="7179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Reconcile status</a:t>
            </a:r>
            <a:endParaRPr b="0" i="0" sz="1400" u="none" cap="none" strike="noStrike">
              <a:solidFill>
                <a:srgbClr val="000000"/>
              </a:solidFill>
              <a:latin typeface="Arial"/>
              <a:ea typeface="Arial"/>
              <a:cs typeface="Arial"/>
              <a:sym typeface="Arial"/>
            </a:endParaRPr>
          </a:p>
        </p:txBody>
      </p:sp>
      <p:sp>
        <p:nvSpPr>
          <p:cNvPr id="630" name="Google Shape;630;p5"/>
          <p:cNvSpPr/>
          <p:nvPr/>
        </p:nvSpPr>
        <p:spPr>
          <a:xfrm>
            <a:off x="8876252" y="38544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S8</a:t>
            </a:r>
            <a:endParaRPr b="0" i="0" sz="1400" u="none" cap="none" strike="noStrike">
              <a:solidFill>
                <a:srgbClr val="000000"/>
              </a:solidFill>
              <a:latin typeface="Arial"/>
              <a:ea typeface="Arial"/>
              <a:cs typeface="Arial"/>
              <a:sym typeface="Arial"/>
            </a:endParaRPr>
          </a:p>
        </p:txBody>
      </p:sp>
      <p:sp>
        <p:nvSpPr>
          <p:cNvPr id="631" name="Google Shape;631;p5"/>
          <p:cNvSpPr/>
          <p:nvPr/>
        </p:nvSpPr>
        <p:spPr>
          <a:xfrm>
            <a:off x="9271000" y="3562350"/>
            <a:ext cx="15240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5"/>
          <p:cNvSpPr/>
          <p:nvPr/>
        </p:nvSpPr>
        <p:spPr>
          <a:xfrm>
            <a:off x="9531604" y="3614452"/>
            <a:ext cx="1693069" cy="191643"/>
          </a:xfrm>
          <a:prstGeom prst="rect">
            <a:avLst/>
          </a:prstGeom>
          <a:noFill/>
          <a:ln>
            <a:noFill/>
          </a:ln>
        </p:spPr>
        <p:txBody>
          <a:bodyPr anchorCtr="0" anchor="t" bIns="0" lIns="0" spcFirstLastPara="1" rIns="6902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Record cancelled</a:t>
            </a:r>
            <a:endParaRPr b="0" i="0" sz="1400" u="none" cap="none" strike="noStrike">
              <a:solidFill>
                <a:srgbClr val="000000"/>
              </a:solidFill>
              <a:latin typeface="Arial"/>
              <a:ea typeface="Arial"/>
              <a:cs typeface="Arial"/>
              <a:sym typeface="Arial"/>
            </a:endParaRPr>
          </a:p>
        </p:txBody>
      </p:sp>
      <p:sp>
        <p:nvSpPr>
          <p:cNvPr id="633" name="Google Shape;633;p5"/>
          <p:cNvSpPr/>
          <p:nvPr/>
        </p:nvSpPr>
        <p:spPr>
          <a:xfrm>
            <a:off x="9773253" y="3762089"/>
            <a:ext cx="893635" cy="191643"/>
          </a:xfrm>
          <a:prstGeom prst="rect">
            <a:avLst/>
          </a:prstGeom>
          <a:noFill/>
          <a:ln>
            <a:noFill/>
          </a:ln>
        </p:spPr>
        <p:txBody>
          <a:bodyPr anchorCtr="0" anchor="t" bIns="0" lIns="0" spcFirstLastPara="1" rIns="374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refund</a:t>
            </a:r>
            <a:endParaRPr b="0" i="0" sz="1400" u="none" cap="none" strike="noStrike">
              <a:solidFill>
                <a:srgbClr val="000000"/>
              </a:solidFill>
              <a:latin typeface="Arial"/>
              <a:ea typeface="Arial"/>
              <a:cs typeface="Arial"/>
              <a:sym typeface="Arial"/>
            </a:endParaRPr>
          </a:p>
        </p:txBody>
      </p:sp>
      <p:sp>
        <p:nvSpPr>
          <p:cNvPr id="634" name="Google Shape;634;p5"/>
          <p:cNvSpPr/>
          <p:nvPr/>
        </p:nvSpPr>
        <p:spPr>
          <a:xfrm>
            <a:off x="10574877" y="3921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S6</a:t>
            </a:r>
            <a:endParaRPr b="0" i="0" sz="1400" u="none" cap="none" strike="noStrike">
              <a:solidFill>
                <a:srgbClr val="000000"/>
              </a:solidFill>
              <a:latin typeface="Arial"/>
              <a:ea typeface="Arial"/>
              <a:cs typeface="Arial"/>
              <a:sym typeface="Arial"/>
            </a:endParaRPr>
          </a:p>
        </p:txBody>
      </p:sp>
      <p:sp>
        <p:nvSpPr>
          <p:cNvPr id="635" name="Google Shape;635;p5"/>
          <p:cNvSpPr/>
          <p:nvPr/>
        </p:nvSpPr>
        <p:spPr>
          <a:xfrm>
            <a:off x="4365625" y="4454525"/>
            <a:ext cx="1428750" cy="361950"/>
          </a:xfrm>
          <a:prstGeom prst="roundRect">
            <a:avLst>
              <a:gd fmla="val 13158"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6" name="Google Shape;636;p5"/>
          <p:cNvSpPr/>
          <p:nvPr/>
        </p:nvSpPr>
        <p:spPr>
          <a:xfrm>
            <a:off x="4632801" y="4513771"/>
            <a:ext cx="1569148" cy="191643"/>
          </a:xfrm>
          <a:prstGeom prst="rect">
            <a:avLst/>
          </a:prstGeom>
          <a:noFill/>
          <a:ln>
            <a:noFill/>
          </a:ln>
        </p:spPr>
        <p:txBody>
          <a:bodyPr anchorCtr="0" anchor="t" bIns="0" lIns="0" spcFirstLastPara="1" rIns="67475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Re-preview call</a:t>
            </a:r>
            <a:endParaRPr b="0" i="0" sz="1400" u="none" cap="none" strike="noStrike">
              <a:solidFill>
                <a:srgbClr val="000000"/>
              </a:solidFill>
              <a:latin typeface="Arial"/>
              <a:ea typeface="Arial"/>
              <a:cs typeface="Arial"/>
              <a:sym typeface="Arial"/>
            </a:endParaRPr>
          </a:p>
        </p:txBody>
      </p:sp>
      <p:sp>
        <p:nvSpPr>
          <p:cNvPr id="637" name="Google Shape;637;p5"/>
          <p:cNvSpPr/>
          <p:nvPr/>
        </p:nvSpPr>
        <p:spPr>
          <a:xfrm>
            <a:off x="5574252" y="4679982"/>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38" name="Google Shape;638;p5"/>
          <p:cNvSpPr/>
          <p:nvPr/>
        </p:nvSpPr>
        <p:spPr>
          <a:xfrm>
            <a:off x="8794750" y="5340350"/>
            <a:ext cx="17145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9" name="Google Shape;639;p5"/>
          <p:cNvSpPr/>
          <p:nvPr/>
        </p:nvSpPr>
        <p:spPr>
          <a:xfrm>
            <a:off x="9036971" y="5392452"/>
            <a:ext cx="2015776" cy="191643"/>
          </a:xfrm>
          <a:prstGeom prst="rect">
            <a:avLst/>
          </a:prstGeom>
          <a:noFill/>
          <a:ln>
            <a:noFill/>
          </a:ln>
        </p:spPr>
        <p:txBody>
          <a:bodyPr anchorCtr="0" anchor="t" bIns="0" lIns="0" spcFirstLastPara="1" rIns="7857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Updated refundRate,</a:t>
            </a:r>
            <a:endParaRPr b="0" i="0" sz="1400" u="none" cap="none" strike="noStrike">
              <a:solidFill>
                <a:srgbClr val="000000"/>
              </a:solidFill>
              <a:latin typeface="Arial"/>
              <a:ea typeface="Arial"/>
              <a:cs typeface="Arial"/>
              <a:sym typeface="Arial"/>
            </a:endParaRPr>
          </a:p>
        </p:txBody>
      </p:sp>
      <p:sp>
        <p:nvSpPr>
          <p:cNvPr id="640" name="Google Shape;640;p5"/>
          <p:cNvSpPr/>
          <p:nvPr/>
        </p:nvSpPr>
        <p:spPr>
          <a:xfrm>
            <a:off x="9237186" y="5540089"/>
            <a:ext cx="1397318" cy="191643"/>
          </a:xfrm>
          <a:prstGeom prst="rect">
            <a:avLst/>
          </a:prstGeom>
          <a:noFill/>
          <a:ln>
            <a:noFill/>
          </a:ln>
        </p:spPr>
        <p:txBody>
          <a:bodyPr anchorCtr="0" anchor="t" bIns="0" lIns="0" spcFirstLastPara="1" rIns="5676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new reference</a:t>
            </a:r>
            <a:endParaRPr b="0" i="0" sz="1400" u="none" cap="none" strike="noStrike">
              <a:solidFill>
                <a:srgbClr val="000000"/>
              </a:solidFill>
              <a:latin typeface="Arial"/>
              <a:ea typeface="Arial"/>
              <a:cs typeface="Arial"/>
              <a:sym typeface="Arial"/>
            </a:endParaRPr>
          </a:p>
        </p:txBody>
      </p:sp>
      <p:sp>
        <p:nvSpPr>
          <p:cNvPr id="641" name="Google Shape;641;p5"/>
          <p:cNvSpPr/>
          <p:nvPr/>
        </p:nvSpPr>
        <p:spPr>
          <a:xfrm>
            <a:off x="10289127" y="56991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42" name="Google Shape;642;p5"/>
          <p:cNvSpPr/>
          <p:nvPr/>
        </p:nvSpPr>
        <p:spPr>
          <a:xfrm>
            <a:off x="10207625" y="4387850"/>
            <a:ext cx="142875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5"/>
          <p:cNvSpPr/>
          <p:nvPr/>
        </p:nvSpPr>
        <p:spPr>
          <a:xfrm>
            <a:off x="10397554" y="4439952"/>
            <a:ext cx="1785842" cy="191643"/>
          </a:xfrm>
          <a:prstGeom prst="rect">
            <a:avLst/>
          </a:prstGeom>
          <a:noFill/>
          <a:ln>
            <a:noFill/>
          </a:ln>
        </p:spPr>
        <p:txBody>
          <a:bodyPr anchorCtr="0" anchor="t" bIns="0" lIns="0" spcFirstLastPara="1" rIns="7369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Replace reference</a:t>
            </a:r>
            <a:endParaRPr b="0" i="0" sz="1400" u="none" cap="none" strike="noStrike">
              <a:solidFill>
                <a:srgbClr val="000000"/>
              </a:solidFill>
              <a:latin typeface="Arial"/>
              <a:ea typeface="Arial"/>
              <a:cs typeface="Arial"/>
              <a:sym typeface="Arial"/>
            </a:endParaRPr>
          </a:p>
        </p:txBody>
      </p:sp>
      <p:sp>
        <p:nvSpPr>
          <p:cNvPr id="644" name="Google Shape;644;p5"/>
          <p:cNvSpPr/>
          <p:nvPr/>
        </p:nvSpPr>
        <p:spPr>
          <a:xfrm>
            <a:off x="10662253" y="4587589"/>
            <a:ext cx="893635" cy="191643"/>
          </a:xfrm>
          <a:prstGeom prst="rect">
            <a:avLst/>
          </a:prstGeom>
          <a:noFill/>
          <a:ln>
            <a:noFill/>
          </a:ln>
        </p:spPr>
        <p:txBody>
          <a:bodyPr anchorCtr="0" anchor="t" bIns="0" lIns="0" spcFirstLastPara="1" rIns="374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refund</a:t>
            </a:r>
            <a:endParaRPr b="0" i="0" sz="1400" u="none" cap="none" strike="noStrike">
              <a:solidFill>
                <a:srgbClr val="000000"/>
              </a:solidFill>
              <a:latin typeface="Arial"/>
              <a:ea typeface="Arial"/>
              <a:cs typeface="Arial"/>
              <a:sym typeface="Arial"/>
            </a:endParaRPr>
          </a:p>
        </p:txBody>
      </p:sp>
      <p:sp>
        <p:nvSpPr>
          <p:cNvPr id="645" name="Google Shape;645;p5"/>
          <p:cNvSpPr/>
          <p:nvPr/>
        </p:nvSpPr>
        <p:spPr>
          <a:xfrm>
            <a:off x="11416252" y="47466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46" name="Google Shape;646;p5"/>
          <p:cNvSpPr/>
          <p:nvPr/>
        </p:nvSpPr>
        <p:spPr>
          <a:xfrm>
            <a:off x="9318625" y="1987550"/>
            <a:ext cx="1428750" cy="495300"/>
          </a:xfrm>
          <a:prstGeom prst="roundRect">
            <a:avLst>
              <a:gd fmla="val 9615" name="adj"/>
            </a:avLst>
          </a:prstGeom>
          <a:solidFill>
            <a:srgbClr val="E7F0E9"/>
          </a:solidFill>
          <a:ln cap="flat" cmpd="sng" w="11425">
            <a:solidFill>
              <a:srgbClr val="2E7D3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7" name="Google Shape;647;p5"/>
          <p:cNvSpPr/>
          <p:nvPr/>
        </p:nvSpPr>
        <p:spPr>
          <a:xfrm>
            <a:off x="9465977" y="2039652"/>
            <a:ext cx="1967770" cy="191643"/>
          </a:xfrm>
          <a:prstGeom prst="rect">
            <a:avLst/>
          </a:prstGeom>
          <a:noFill/>
          <a:ln>
            <a:noFill/>
          </a:ln>
        </p:spPr>
        <p:txBody>
          <a:bodyPr anchorCtr="0" anchor="t" bIns="0" lIns="0" spcFirstLastPara="1" rIns="8337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'Booking cancelled'</a:t>
            </a:r>
            <a:endParaRPr b="0" i="0" sz="1400" u="none" cap="none" strike="noStrike">
              <a:solidFill>
                <a:srgbClr val="000000"/>
              </a:solidFill>
              <a:latin typeface="Arial"/>
              <a:ea typeface="Arial"/>
              <a:cs typeface="Arial"/>
              <a:sym typeface="Arial"/>
            </a:endParaRPr>
          </a:p>
        </p:txBody>
      </p:sp>
      <p:sp>
        <p:nvSpPr>
          <p:cNvPr id="648" name="Google Shape;648;p5"/>
          <p:cNvSpPr/>
          <p:nvPr/>
        </p:nvSpPr>
        <p:spPr>
          <a:xfrm>
            <a:off x="9773253" y="2187289"/>
            <a:ext cx="893635" cy="191643"/>
          </a:xfrm>
          <a:prstGeom prst="rect">
            <a:avLst/>
          </a:prstGeom>
          <a:noFill/>
          <a:ln>
            <a:noFill/>
          </a:ln>
        </p:spPr>
        <p:txBody>
          <a:bodyPr anchorCtr="0" anchor="t" bIns="0" lIns="0" spcFirstLastPara="1" rIns="3741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 refund</a:t>
            </a:r>
            <a:endParaRPr b="0" i="0" sz="1400" u="none" cap="none" strike="noStrike">
              <a:solidFill>
                <a:srgbClr val="000000"/>
              </a:solidFill>
              <a:latin typeface="Arial"/>
              <a:ea typeface="Arial"/>
              <a:cs typeface="Arial"/>
              <a:sym typeface="Arial"/>
            </a:endParaRPr>
          </a:p>
        </p:txBody>
      </p:sp>
      <p:sp>
        <p:nvSpPr>
          <p:cNvPr id="649" name="Google Shape;649;p5"/>
          <p:cNvSpPr/>
          <p:nvPr/>
        </p:nvSpPr>
        <p:spPr>
          <a:xfrm>
            <a:off x="10527252" y="23463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S7</a:t>
            </a:r>
            <a:endParaRPr b="0" i="0" sz="1400" u="none" cap="none" strike="noStrike">
              <a:solidFill>
                <a:srgbClr val="000000"/>
              </a:solidFill>
              <a:latin typeface="Arial"/>
              <a:ea typeface="Arial"/>
              <a:cs typeface="Arial"/>
              <a:sym typeface="Arial"/>
            </a:endParaRPr>
          </a:p>
        </p:txBody>
      </p:sp>
      <p:sp>
        <p:nvSpPr>
          <p:cNvPr id="650" name="Google Shape;650;p5"/>
          <p:cNvSpPr/>
          <p:nvPr/>
        </p:nvSpPr>
        <p:spPr>
          <a:xfrm>
            <a:off x="10255250" y="2749550"/>
            <a:ext cx="13335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p5"/>
          <p:cNvSpPr/>
          <p:nvPr/>
        </p:nvSpPr>
        <p:spPr>
          <a:xfrm>
            <a:off x="10493946" y="2801652"/>
            <a:ext cx="1340834" cy="191643"/>
          </a:xfrm>
          <a:prstGeom prst="rect">
            <a:avLst/>
          </a:prstGeom>
          <a:noFill/>
          <a:ln>
            <a:noFill/>
          </a:ln>
        </p:spPr>
        <p:txBody>
          <a:bodyPr anchorCtr="0" anchor="t" bIns="0" lIns="0" spcFirstLastPara="1" rIns="4847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Show updated</a:t>
            </a:r>
            <a:endParaRPr b="0" i="0" sz="1400" u="none" cap="none" strike="noStrike">
              <a:solidFill>
                <a:srgbClr val="000000"/>
              </a:solidFill>
              <a:latin typeface="Arial"/>
              <a:ea typeface="Arial"/>
              <a:cs typeface="Arial"/>
              <a:sym typeface="Arial"/>
            </a:endParaRPr>
          </a:p>
        </p:txBody>
      </p:sp>
      <p:sp>
        <p:nvSpPr>
          <p:cNvPr id="652" name="Google Shape;652;p5"/>
          <p:cNvSpPr/>
          <p:nvPr/>
        </p:nvSpPr>
        <p:spPr>
          <a:xfrm>
            <a:off x="10725499" y="2949289"/>
            <a:ext cx="691039" cy="191643"/>
          </a:xfrm>
          <a:prstGeom prst="rect">
            <a:avLst/>
          </a:prstGeom>
          <a:noFill/>
          <a:ln>
            <a:noFill/>
          </a:ln>
        </p:spPr>
        <p:txBody>
          <a:bodyPr anchorCtr="0" anchor="t" bIns="0" lIns="0" spcFirstLastPara="1" rIns="29802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refund</a:t>
            </a:r>
            <a:endParaRPr b="0" i="0" sz="1400" u="none" cap="none" strike="noStrike">
              <a:solidFill>
                <a:srgbClr val="000000"/>
              </a:solidFill>
              <a:latin typeface="Arial"/>
              <a:ea typeface="Arial"/>
              <a:cs typeface="Arial"/>
              <a:sym typeface="Arial"/>
            </a:endParaRPr>
          </a:p>
        </p:txBody>
      </p:sp>
      <p:sp>
        <p:nvSpPr>
          <p:cNvPr id="653" name="Google Shape;653;p5"/>
          <p:cNvSpPr/>
          <p:nvPr/>
        </p:nvSpPr>
        <p:spPr>
          <a:xfrm>
            <a:off x="11368627" y="31083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54" name="Google Shape;654;p5"/>
          <p:cNvSpPr/>
          <p:nvPr/>
        </p:nvSpPr>
        <p:spPr>
          <a:xfrm>
            <a:off x="10160000" y="1314450"/>
            <a:ext cx="1524000" cy="495300"/>
          </a:xfrm>
          <a:prstGeom prst="roundRect">
            <a:avLst>
              <a:gd fmla="val 9615" name="adj"/>
            </a:avLst>
          </a:prstGeom>
          <a:solidFill>
            <a:srgbClr val="FFFFFF"/>
          </a:solidFill>
          <a:ln cap="flat" cmpd="sng" w="9525">
            <a:solidFill>
              <a:srgbClr val="6B6F6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5" name="Google Shape;655;p5"/>
          <p:cNvSpPr/>
          <p:nvPr/>
        </p:nvSpPr>
        <p:spPr>
          <a:xfrm>
            <a:off x="10315067" y="1366552"/>
            <a:ext cx="1938052" cy="191643"/>
          </a:xfrm>
          <a:prstGeom prst="rect">
            <a:avLst/>
          </a:prstGeom>
          <a:noFill/>
          <a:ln>
            <a:noFill/>
          </a:ln>
        </p:spPr>
        <p:txBody>
          <a:bodyPr anchorCtr="0" anchor="t" bIns="0" lIns="0" spcFirstLastPara="1" rIns="724175"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Review new amount,</a:t>
            </a:r>
            <a:endParaRPr b="0" i="0" sz="1400" u="none" cap="none" strike="noStrike">
              <a:solidFill>
                <a:srgbClr val="000000"/>
              </a:solidFill>
              <a:latin typeface="Arial"/>
              <a:ea typeface="Arial"/>
              <a:cs typeface="Arial"/>
              <a:sym typeface="Arial"/>
            </a:endParaRPr>
          </a:p>
        </p:txBody>
      </p:sp>
      <p:sp>
        <p:nvSpPr>
          <p:cNvPr id="656" name="Google Shape;656;p5"/>
          <p:cNvSpPr/>
          <p:nvPr/>
        </p:nvSpPr>
        <p:spPr>
          <a:xfrm>
            <a:off x="10516902" y="1514189"/>
            <a:ext cx="1387602" cy="191643"/>
          </a:xfrm>
          <a:prstGeom prst="rect">
            <a:avLst/>
          </a:prstGeom>
          <a:noFill/>
          <a:ln>
            <a:noFill/>
          </a:ln>
        </p:spPr>
        <p:txBody>
          <a:bodyPr anchorCtr="0" anchor="t" bIns="0" lIns="0" spcFirstLastPara="1" rIns="577400" wrap="square" tIns="0">
            <a:noAutofit/>
          </a:bodyPr>
          <a:lstStyle/>
          <a:p>
            <a:pPr indent="0" lvl="0" marL="0" marR="0" rtl="0" algn="ctr">
              <a:lnSpc>
                <a:spcPct val="100000"/>
              </a:lnSpc>
              <a:spcBef>
                <a:spcPts val="0"/>
              </a:spcBef>
              <a:spcAft>
                <a:spcPts val="0"/>
              </a:spcAft>
              <a:buClr>
                <a:srgbClr val="000000"/>
              </a:buClr>
              <a:buSzPts val="980"/>
              <a:buFont typeface="Arial"/>
              <a:buNone/>
            </a:pPr>
            <a:r>
              <a:rPr b="0" i="0" lang="en" sz="980" u="none" cap="none" strike="noStrike">
                <a:solidFill>
                  <a:srgbClr val="1F2A26"/>
                </a:solidFill>
                <a:latin typeface="Quattrocento Sans"/>
                <a:ea typeface="Quattrocento Sans"/>
                <a:cs typeface="Quattrocento Sans"/>
                <a:sym typeface="Quattrocento Sans"/>
              </a:rPr>
              <a:t>confirm again</a:t>
            </a:r>
            <a:endParaRPr b="0" i="0" sz="1400" u="none" cap="none" strike="noStrike">
              <a:solidFill>
                <a:srgbClr val="000000"/>
              </a:solidFill>
              <a:latin typeface="Arial"/>
              <a:ea typeface="Arial"/>
              <a:cs typeface="Arial"/>
              <a:sym typeface="Arial"/>
            </a:endParaRPr>
          </a:p>
        </p:txBody>
      </p:sp>
      <p:sp>
        <p:nvSpPr>
          <p:cNvPr id="657" name="Google Shape;657;p5"/>
          <p:cNvSpPr/>
          <p:nvPr/>
        </p:nvSpPr>
        <p:spPr>
          <a:xfrm>
            <a:off x="11463877" y="1673257"/>
            <a:ext cx="177260" cy="140494"/>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710"/>
              <a:buFont typeface="Arial"/>
              <a:buNone/>
            </a:pPr>
            <a:r>
              <a:rPr b="0" i="1" lang="en" sz="710" u="none" cap="none" strike="noStrike">
                <a:solidFill>
                  <a:srgbClr val="4A7C6F"/>
                </a:solidFill>
                <a:latin typeface="Quattrocento Sans"/>
                <a:ea typeface="Quattrocento Sans"/>
                <a:cs typeface="Quattrocento Sans"/>
                <a:sym typeface="Quattrocento Sans"/>
              </a:rPr>
              <a:t>S9</a:t>
            </a:r>
            <a:endParaRPr b="0" i="0" sz="1400" u="none" cap="none" strike="noStrike">
              <a:solidFill>
                <a:srgbClr val="000000"/>
              </a:solidFill>
              <a:latin typeface="Arial"/>
              <a:ea typeface="Arial"/>
              <a:cs typeface="Arial"/>
              <a:sym typeface="Arial"/>
            </a:endParaRPr>
          </a:p>
        </p:txBody>
      </p:sp>
      <p:sp>
        <p:nvSpPr>
          <p:cNvPr id="658" name="Google Shape;658;p5"/>
          <p:cNvSpPr/>
          <p:nvPr/>
        </p:nvSpPr>
        <p:spPr>
          <a:xfrm>
            <a:off x="11436858" y="65976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7</a:t>
            </a:r>
            <a:endParaRPr b="0" i="0" sz="1400" u="none" cap="none" strike="noStrike">
              <a:solidFill>
                <a:srgbClr val="000000"/>
              </a:solidFill>
              <a:latin typeface="Arial"/>
              <a:ea typeface="Arial"/>
              <a:cs typeface="Arial"/>
              <a:sym typeface="Arial"/>
            </a:endParaRPr>
          </a:p>
        </p:txBody>
      </p:sp>
      <p:sp>
        <p:nvSpPr>
          <p:cNvPr id="659" name="Google Shape;659;p5"/>
          <p:cNvSpPr/>
          <p:nvPr/>
        </p:nvSpPr>
        <p:spPr>
          <a:xfrm>
            <a:off x="2492375" y="1562100"/>
            <a:ext cx="682625" cy="796925"/>
          </a:xfrm>
          <a:custGeom>
            <a:rect b="b" l="l" r="r" t="t"/>
            <a:pathLst>
              <a:path extrusionOk="0" h="796925" w="682625">
                <a:moveTo>
                  <a:pt x="0" y="0"/>
                </a:moveTo>
                <a:lnTo>
                  <a:pt x="682625" y="0"/>
                </a:lnTo>
                <a:lnTo>
                  <a:pt x="682625" y="79692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p5"/>
          <p:cNvSpPr/>
          <p:nvPr/>
        </p:nvSpPr>
        <p:spPr>
          <a:xfrm>
            <a:off x="1778000" y="1866900"/>
            <a:ext cx="1365250" cy="1943100"/>
          </a:xfrm>
          <a:custGeom>
            <a:rect b="b" l="l" r="r" t="t"/>
            <a:pathLst>
              <a:path extrusionOk="0" h="1943100" w="1365250">
                <a:moveTo>
                  <a:pt x="0" y="0"/>
                </a:moveTo>
                <a:lnTo>
                  <a:pt x="0" y="1943100"/>
                </a:lnTo>
                <a:lnTo>
                  <a:pt x="1365250" y="19431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p5"/>
          <p:cNvSpPr/>
          <p:nvPr/>
        </p:nvSpPr>
        <p:spPr>
          <a:xfrm>
            <a:off x="4476750" y="3810000"/>
            <a:ext cx="1476375" cy="127"/>
          </a:xfrm>
          <a:custGeom>
            <a:rect b="b" l="l" r="r" t="t"/>
            <a:pathLst>
              <a:path extrusionOk="0" h="127" w="1476375">
                <a:moveTo>
                  <a:pt x="0" y="0"/>
                </a:moveTo>
                <a:lnTo>
                  <a:pt x="1476375"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2" name="Google Shape;662;p5"/>
          <p:cNvSpPr/>
          <p:nvPr/>
        </p:nvSpPr>
        <p:spPr>
          <a:xfrm>
            <a:off x="2286000" y="3990975"/>
            <a:ext cx="1206500" cy="1349375"/>
          </a:xfrm>
          <a:custGeom>
            <a:rect b="b" l="l" r="r" t="t"/>
            <a:pathLst>
              <a:path extrusionOk="0" h="1349375" w="1206500">
                <a:moveTo>
                  <a:pt x="1206500" y="0"/>
                </a:moveTo>
                <a:lnTo>
                  <a:pt x="1206500" y="1196975"/>
                </a:lnTo>
                <a:lnTo>
                  <a:pt x="0" y="1196975"/>
                </a:lnTo>
                <a:lnTo>
                  <a:pt x="0" y="13493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5"/>
          <p:cNvSpPr/>
          <p:nvPr/>
        </p:nvSpPr>
        <p:spPr>
          <a:xfrm>
            <a:off x="3810000" y="3990975"/>
            <a:ext cx="317500" cy="1349375"/>
          </a:xfrm>
          <a:custGeom>
            <a:rect b="b" l="l" r="r" t="t"/>
            <a:pathLst>
              <a:path extrusionOk="0" h="1349375" w="317500">
                <a:moveTo>
                  <a:pt x="317500" y="0"/>
                </a:moveTo>
                <a:lnTo>
                  <a:pt x="317500" y="1196975"/>
                </a:lnTo>
                <a:lnTo>
                  <a:pt x="0" y="1196975"/>
                </a:lnTo>
                <a:lnTo>
                  <a:pt x="0" y="13493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5"/>
          <p:cNvSpPr/>
          <p:nvPr/>
        </p:nvSpPr>
        <p:spPr>
          <a:xfrm>
            <a:off x="6667500" y="2851150"/>
            <a:ext cx="127" cy="711200"/>
          </a:xfrm>
          <a:custGeom>
            <a:rect b="b" l="l" r="r" t="t"/>
            <a:pathLst>
              <a:path extrusionOk="0" h="711200" w="127">
                <a:moveTo>
                  <a:pt x="0" y="7112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p5"/>
          <p:cNvSpPr/>
          <p:nvPr/>
        </p:nvSpPr>
        <p:spPr>
          <a:xfrm>
            <a:off x="6667500" y="1809750"/>
            <a:ext cx="127" cy="546100"/>
          </a:xfrm>
          <a:custGeom>
            <a:rect b="b" l="l" r="r" t="t"/>
            <a:pathLst>
              <a:path extrusionOk="0" h="546100" w="127">
                <a:moveTo>
                  <a:pt x="0" y="5461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6" name="Google Shape;666;p5"/>
          <p:cNvSpPr/>
          <p:nvPr/>
        </p:nvSpPr>
        <p:spPr>
          <a:xfrm>
            <a:off x="6667500" y="4057650"/>
            <a:ext cx="127" cy="330200"/>
          </a:xfrm>
          <a:custGeom>
            <a:rect b="b" l="l" r="r" t="t"/>
            <a:pathLst>
              <a:path extrusionOk="0" h="330200" w="127">
                <a:moveTo>
                  <a:pt x="0" y="0"/>
                </a:moveTo>
                <a:lnTo>
                  <a:pt x="0" y="3302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p5"/>
          <p:cNvSpPr/>
          <p:nvPr/>
        </p:nvSpPr>
        <p:spPr>
          <a:xfrm>
            <a:off x="6667500" y="4883150"/>
            <a:ext cx="127" cy="457200"/>
          </a:xfrm>
          <a:custGeom>
            <a:rect b="b" l="l" r="r" t="t"/>
            <a:pathLst>
              <a:path extrusionOk="0" h="457200" w="127">
                <a:moveTo>
                  <a:pt x="0" y="0"/>
                </a:moveTo>
                <a:lnTo>
                  <a:pt x="0" y="45720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5"/>
          <p:cNvSpPr/>
          <p:nvPr/>
        </p:nvSpPr>
        <p:spPr>
          <a:xfrm>
            <a:off x="7381875" y="3810000"/>
            <a:ext cx="285750" cy="1778000"/>
          </a:xfrm>
          <a:custGeom>
            <a:rect b="b" l="l" r="r" t="t"/>
            <a:pathLst>
              <a:path extrusionOk="0" h="1778000" w="285750">
                <a:moveTo>
                  <a:pt x="0" y="1778000"/>
                </a:moveTo>
                <a:lnTo>
                  <a:pt x="209550" y="1778000"/>
                </a:lnTo>
                <a:lnTo>
                  <a:pt x="209550" y="0"/>
                </a:lnTo>
                <a:lnTo>
                  <a:pt x="28575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p5"/>
          <p:cNvSpPr/>
          <p:nvPr/>
        </p:nvSpPr>
        <p:spPr>
          <a:xfrm>
            <a:off x="1778000" y="1104900"/>
            <a:ext cx="6286500" cy="2524125"/>
          </a:xfrm>
          <a:custGeom>
            <a:rect b="b" l="l" r="r" t="t"/>
            <a:pathLst>
              <a:path extrusionOk="0" h="2524125" w="6286500">
                <a:moveTo>
                  <a:pt x="6286500" y="2524125"/>
                </a:moveTo>
                <a:lnTo>
                  <a:pt x="6286500" y="0"/>
                </a:lnTo>
                <a:lnTo>
                  <a:pt x="0" y="0"/>
                </a:lnTo>
                <a:lnTo>
                  <a:pt x="0" y="15240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0" name="Google Shape;670;p5"/>
          <p:cNvSpPr/>
          <p:nvPr/>
        </p:nvSpPr>
        <p:spPr>
          <a:xfrm>
            <a:off x="8382000" y="3990975"/>
            <a:ext cx="127" cy="396875"/>
          </a:xfrm>
          <a:custGeom>
            <a:rect b="b" l="l" r="r" t="t"/>
            <a:pathLst>
              <a:path extrusionOk="0" h="396875" w="127">
                <a:moveTo>
                  <a:pt x="0" y="0"/>
                </a:moveTo>
                <a:lnTo>
                  <a:pt x="0" y="3968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5"/>
          <p:cNvSpPr/>
          <p:nvPr/>
        </p:nvSpPr>
        <p:spPr>
          <a:xfrm>
            <a:off x="8699500" y="2235200"/>
            <a:ext cx="619125" cy="1393825"/>
          </a:xfrm>
          <a:custGeom>
            <a:rect b="b" l="l" r="r" t="t"/>
            <a:pathLst>
              <a:path extrusionOk="0" h="1393825" w="619125">
                <a:moveTo>
                  <a:pt x="0" y="1393825"/>
                </a:moveTo>
                <a:lnTo>
                  <a:pt x="0" y="0"/>
                </a:lnTo>
                <a:lnTo>
                  <a:pt x="619125" y="0"/>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2" name="Google Shape;672;p5"/>
          <p:cNvSpPr/>
          <p:nvPr/>
        </p:nvSpPr>
        <p:spPr>
          <a:xfrm>
            <a:off x="2286000" y="3514725"/>
            <a:ext cx="7747000" cy="1825625"/>
          </a:xfrm>
          <a:custGeom>
            <a:rect b="b" l="l" r="r" t="t"/>
            <a:pathLst>
              <a:path extrusionOk="0" h="1825625" w="7747000">
                <a:moveTo>
                  <a:pt x="0" y="1825625"/>
                </a:moveTo>
                <a:lnTo>
                  <a:pt x="0" y="0"/>
                </a:lnTo>
                <a:lnTo>
                  <a:pt x="3552825" y="0"/>
                </a:lnTo>
                <a:lnTo>
                  <a:pt x="3552825" y="695325"/>
                </a:lnTo>
                <a:lnTo>
                  <a:pt x="7747000" y="695325"/>
                </a:lnTo>
                <a:lnTo>
                  <a:pt x="7747000" y="54292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p5"/>
          <p:cNvSpPr/>
          <p:nvPr/>
        </p:nvSpPr>
        <p:spPr>
          <a:xfrm>
            <a:off x="10033000" y="2482850"/>
            <a:ext cx="127" cy="1079500"/>
          </a:xfrm>
          <a:custGeom>
            <a:rect b="b" l="l" r="r" t="t"/>
            <a:pathLst>
              <a:path extrusionOk="0" h="1079500" w="127">
                <a:moveTo>
                  <a:pt x="0" y="10795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4" name="Google Shape;674;p5"/>
          <p:cNvSpPr/>
          <p:nvPr/>
        </p:nvSpPr>
        <p:spPr>
          <a:xfrm>
            <a:off x="4524375" y="4816475"/>
            <a:ext cx="555625" cy="771525"/>
          </a:xfrm>
          <a:custGeom>
            <a:rect b="b" l="l" r="r" t="t"/>
            <a:pathLst>
              <a:path extrusionOk="0" h="771525" w="555625">
                <a:moveTo>
                  <a:pt x="0" y="771525"/>
                </a:moveTo>
                <a:lnTo>
                  <a:pt x="555625" y="771525"/>
                </a:lnTo>
                <a:lnTo>
                  <a:pt x="555625"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p5"/>
          <p:cNvSpPr/>
          <p:nvPr/>
        </p:nvSpPr>
        <p:spPr>
          <a:xfrm>
            <a:off x="5080000" y="4816475"/>
            <a:ext cx="4572000" cy="523875"/>
          </a:xfrm>
          <a:custGeom>
            <a:rect b="b" l="l" r="r" t="t"/>
            <a:pathLst>
              <a:path extrusionOk="0" h="523875" w="4572000">
                <a:moveTo>
                  <a:pt x="0" y="0"/>
                </a:moveTo>
                <a:lnTo>
                  <a:pt x="0" y="152400"/>
                </a:lnTo>
                <a:lnTo>
                  <a:pt x="4572000" y="152400"/>
                </a:lnTo>
                <a:lnTo>
                  <a:pt x="4572000" y="523875"/>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6" name="Google Shape;676;p5"/>
          <p:cNvSpPr/>
          <p:nvPr/>
        </p:nvSpPr>
        <p:spPr>
          <a:xfrm>
            <a:off x="10509250" y="4883150"/>
            <a:ext cx="412750" cy="704850"/>
          </a:xfrm>
          <a:custGeom>
            <a:rect b="b" l="l" r="r" t="t"/>
            <a:pathLst>
              <a:path extrusionOk="0" h="704850" w="412750">
                <a:moveTo>
                  <a:pt x="0" y="704850"/>
                </a:moveTo>
                <a:lnTo>
                  <a:pt x="412750" y="704850"/>
                </a:lnTo>
                <a:lnTo>
                  <a:pt x="41275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p5"/>
          <p:cNvSpPr/>
          <p:nvPr/>
        </p:nvSpPr>
        <p:spPr>
          <a:xfrm>
            <a:off x="10922000" y="3244850"/>
            <a:ext cx="127" cy="1143000"/>
          </a:xfrm>
          <a:custGeom>
            <a:rect b="b" l="l" r="r" t="t"/>
            <a:pathLst>
              <a:path extrusionOk="0" h="1143000" w="127">
                <a:moveTo>
                  <a:pt x="0" y="11430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5"/>
          <p:cNvSpPr/>
          <p:nvPr/>
        </p:nvSpPr>
        <p:spPr>
          <a:xfrm>
            <a:off x="10922000" y="1809750"/>
            <a:ext cx="127" cy="939800"/>
          </a:xfrm>
          <a:custGeom>
            <a:rect b="b" l="l" r="r" t="t"/>
            <a:pathLst>
              <a:path extrusionOk="0" h="939800" w="127">
                <a:moveTo>
                  <a:pt x="0" y="939800"/>
                </a:moveTo>
                <a:lnTo>
                  <a:pt x="0" y="0"/>
                </a:lnTo>
              </a:path>
            </a:pathLst>
          </a:custGeom>
          <a:noFill/>
          <a:ln cap="flat" cmpd="sng" w="11425">
            <a:solidFill>
              <a:srgbClr val="5A5F58"/>
            </a:solidFill>
            <a:prstDash val="solid"/>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5"/>
          <p:cNvSpPr/>
          <p:nvPr/>
        </p:nvSpPr>
        <p:spPr>
          <a:xfrm>
            <a:off x="3810000" y="1562100"/>
            <a:ext cx="6350000" cy="2066925"/>
          </a:xfrm>
          <a:custGeom>
            <a:rect b="b" l="l" r="r" t="t"/>
            <a:pathLst>
              <a:path extrusionOk="0" h="2066925" w="6350000">
                <a:moveTo>
                  <a:pt x="6350000" y="0"/>
                </a:moveTo>
                <a:lnTo>
                  <a:pt x="3686175" y="0"/>
                </a:lnTo>
                <a:lnTo>
                  <a:pt x="3686175" y="1797050"/>
                </a:lnTo>
                <a:lnTo>
                  <a:pt x="0" y="1797050"/>
                </a:lnTo>
                <a:lnTo>
                  <a:pt x="0" y="2066925"/>
                </a:lnTo>
              </a:path>
            </a:pathLst>
          </a:custGeom>
          <a:noFill/>
          <a:ln cap="flat" cmpd="sng" w="11425">
            <a:solidFill>
              <a:srgbClr val="5A5F58"/>
            </a:solidFill>
            <a:prstDash val="dashDot"/>
            <a:round/>
            <a:headEnd len="sm" w="sm" type="none"/>
            <a:tailEnd len="lg" w="lg" type="triangl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0" name="Google Shape;680;p5"/>
          <p:cNvSpPr/>
          <p:nvPr/>
        </p:nvSpPr>
        <p:spPr>
          <a:xfrm>
            <a:off x="3213100" y="1890712"/>
            <a:ext cx="29464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Keep</a:t>
            </a:r>
            <a:endParaRPr b="0" i="0" sz="1400" u="none" cap="none" strike="noStrike">
              <a:solidFill>
                <a:srgbClr val="000000"/>
              </a:solidFill>
              <a:latin typeface="Arial"/>
              <a:ea typeface="Arial"/>
              <a:cs typeface="Arial"/>
              <a:sym typeface="Arial"/>
            </a:endParaRPr>
          </a:p>
        </p:txBody>
      </p:sp>
      <p:sp>
        <p:nvSpPr>
          <p:cNvPr id="681" name="Google Shape;681;p5"/>
          <p:cNvSpPr/>
          <p:nvPr/>
        </p:nvSpPr>
        <p:spPr>
          <a:xfrm>
            <a:off x="1816100" y="2768600"/>
            <a:ext cx="12776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confirm + cancelReason</a:t>
            </a:r>
            <a:endParaRPr b="0" i="0" sz="1400" u="none" cap="none" strike="noStrike">
              <a:solidFill>
                <a:srgbClr val="000000"/>
              </a:solidFill>
              <a:latin typeface="Arial"/>
              <a:ea typeface="Arial"/>
              <a:cs typeface="Arial"/>
              <a:sym typeface="Arial"/>
            </a:endParaRPr>
          </a:p>
        </p:txBody>
      </p:sp>
      <p:sp>
        <p:nvSpPr>
          <p:cNvPr id="682" name="Google Shape;682;p5"/>
          <p:cNvSpPr/>
          <p:nvPr/>
        </p:nvSpPr>
        <p:spPr>
          <a:xfrm>
            <a:off x="4712652" y="3657600"/>
            <a:ext cx="100456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timeout / unclear</a:t>
            </a:r>
            <a:endParaRPr b="0" i="0" sz="1400" u="none" cap="none" strike="noStrike">
              <a:solidFill>
                <a:srgbClr val="000000"/>
              </a:solidFill>
              <a:latin typeface="Arial"/>
              <a:ea typeface="Arial"/>
              <a:cs typeface="Arial"/>
              <a:sym typeface="Arial"/>
            </a:endParaRPr>
          </a:p>
        </p:txBody>
      </p:sp>
      <p:sp>
        <p:nvSpPr>
          <p:cNvPr id="683" name="Google Shape;683;p5"/>
          <p:cNvSpPr/>
          <p:nvPr/>
        </p:nvSpPr>
        <p:spPr>
          <a:xfrm>
            <a:off x="2414270" y="5035550"/>
            <a:ext cx="94996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HTTP 200 (empty)</a:t>
            </a:r>
            <a:endParaRPr b="0" i="0" sz="1400" u="none" cap="none" strike="noStrike">
              <a:solidFill>
                <a:srgbClr val="000000"/>
              </a:solidFill>
              <a:latin typeface="Arial"/>
              <a:ea typeface="Arial"/>
              <a:cs typeface="Arial"/>
              <a:sym typeface="Arial"/>
            </a:endParaRPr>
          </a:p>
        </p:txBody>
      </p:sp>
      <p:sp>
        <p:nvSpPr>
          <p:cNvPr id="684" name="Google Shape;684;p5"/>
          <p:cNvSpPr/>
          <p:nvPr/>
        </p:nvSpPr>
        <p:spPr>
          <a:xfrm>
            <a:off x="3521710" y="4519612"/>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error 914</a:t>
            </a:r>
            <a:endParaRPr b="0" i="0" sz="1400" u="none" cap="none" strike="noStrike">
              <a:solidFill>
                <a:srgbClr val="000000"/>
              </a:solidFill>
              <a:latin typeface="Arial"/>
              <a:ea typeface="Arial"/>
              <a:cs typeface="Arial"/>
              <a:sym typeface="Arial"/>
            </a:endParaRPr>
          </a:p>
        </p:txBody>
      </p:sp>
      <p:sp>
        <p:nvSpPr>
          <p:cNvPr id="685" name="Google Shape;685;p5"/>
          <p:cNvSpPr/>
          <p:nvPr/>
        </p:nvSpPr>
        <p:spPr>
          <a:xfrm>
            <a:off x="6705600" y="3136900"/>
            <a:ext cx="73151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display only</a:t>
            </a:r>
            <a:endParaRPr b="0" i="0" sz="1400" u="none" cap="none" strike="noStrike">
              <a:solidFill>
                <a:srgbClr val="000000"/>
              </a:solidFill>
              <a:latin typeface="Arial"/>
              <a:ea typeface="Arial"/>
              <a:cs typeface="Arial"/>
              <a:sym typeface="Arial"/>
            </a:endParaRPr>
          </a:p>
        </p:txBody>
      </p:sp>
      <p:sp>
        <p:nvSpPr>
          <p:cNvPr id="686" name="Google Shape;686;p5"/>
          <p:cNvSpPr/>
          <p:nvPr/>
        </p:nvSpPr>
        <p:spPr>
          <a:xfrm>
            <a:off x="6743700" y="4991100"/>
            <a:ext cx="105918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bookingIds: [long]</a:t>
            </a:r>
            <a:endParaRPr b="0" i="0" sz="1400" u="none" cap="none" strike="noStrike">
              <a:solidFill>
                <a:srgbClr val="000000"/>
              </a:solidFill>
              <a:latin typeface="Arial"/>
              <a:ea typeface="Arial"/>
              <a:cs typeface="Arial"/>
              <a:sym typeface="Arial"/>
            </a:endParaRPr>
          </a:p>
        </p:txBody>
      </p:sp>
      <p:sp>
        <p:nvSpPr>
          <p:cNvPr id="687" name="Google Shape;687;p5"/>
          <p:cNvSpPr/>
          <p:nvPr/>
        </p:nvSpPr>
        <p:spPr>
          <a:xfrm>
            <a:off x="4173220" y="952500"/>
            <a:ext cx="149606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not cancelled: offer retry</a:t>
            </a:r>
            <a:endParaRPr b="0" i="0" sz="1400" u="none" cap="none" strike="noStrike">
              <a:solidFill>
                <a:srgbClr val="000000"/>
              </a:solidFill>
              <a:latin typeface="Arial"/>
              <a:ea typeface="Arial"/>
              <a:cs typeface="Arial"/>
              <a:sym typeface="Arial"/>
            </a:endParaRPr>
          </a:p>
        </p:txBody>
      </p:sp>
      <p:sp>
        <p:nvSpPr>
          <p:cNvPr id="688" name="Google Shape;688;p5"/>
          <p:cNvSpPr/>
          <p:nvPr/>
        </p:nvSpPr>
        <p:spPr>
          <a:xfrm>
            <a:off x="8483600" y="4203700"/>
            <a:ext cx="116840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unresolved: escalate</a:t>
            </a:r>
            <a:endParaRPr b="0" i="0" sz="1400" u="none" cap="none" strike="noStrike">
              <a:solidFill>
                <a:srgbClr val="000000"/>
              </a:solidFill>
              <a:latin typeface="Arial"/>
              <a:ea typeface="Arial"/>
              <a:cs typeface="Arial"/>
              <a:sym typeface="Arial"/>
            </a:endParaRPr>
          </a:p>
        </p:txBody>
      </p:sp>
      <p:sp>
        <p:nvSpPr>
          <p:cNvPr id="689" name="Google Shape;689;p5"/>
          <p:cNvSpPr/>
          <p:nvPr/>
        </p:nvSpPr>
        <p:spPr>
          <a:xfrm>
            <a:off x="8737600" y="2862262"/>
            <a:ext cx="122301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if cancelled: show S7</a:t>
            </a:r>
            <a:endParaRPr b="0" i="0" sz="1400" u="none" cap="none" strike="noStrike">
              <a:solidFill>
                <a:srgbClr val="000000"/>
              </a:solidFill>
              <a:latin typeface="Arial"/>
              <a:ea typeface="Arial"/>
              <a:cs typeface="Arial"/>
              <a:sym typeface="Arial"/>
            </a:endParaRPr>
          </a:p>
        </p:txBody>
      </p:sp>
      <p:sp>
        <p:nvSpPr>
          <p:cNvPr id="690" name="Google Shape;690;p5"/>
          <p:cNvSpPr/>
          <p:nvPr/>
        </p:nvSpPr>
        <p:spPr>
          <a:xfrm>
            <a:off x="10160000" y="2578100"/>
            <a:ext cx="105918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cancelled + refund</a:t>
            </a:r>
            <a:endParaRPr b="0" i="0" sz="1400" u="none" cap="none" strike="noStrike">
              <a:solidFill>
                <a:srgbClr val="000000"/>
              </a:solidFill>
              <a:latin typeface="Arial"/>
              <a:ea typeface="Arial"/>
              <a:cs typeface="Arial"/>
              <a:sym typeface="Arial"/>
            </a:endParaRPr>
          </a:p>
        </p:txBody>
      </p:sp>
      <p:sp>
        <p:nvSpPr>
          <p:cNvPr id="691" name="Google Shape;691;p5"/>
          <p:cNvSpPr/>
          <p:nvPr/>
        </p:nvSpPr>
        <p:spPr>
          <a:xfrm>
            <a:off x="5118100" y="5132387"/>
            <a:ext cx="56769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bookingId</a:t>
            </a:r>
            <a:endParaRPr b="0" i="0" sz="1400" u="none" cap="none" strike="noStrike">
              <a:solidFill>
                <a:srgbClr val="000000"/>
              </a:solidFill>
              <a:latin typeface="Arial"/>
              <a:ea typeface="Arial"/>
              <a:cs typeface="Arial"/>
              <a:sym typeface="Arial"/>
            </a:endParaRPr>
          </a:p>
        </p:txBody>
      </p:sp>
      <p:sp>
        <p:nvSpPr>
          <p:cNvPr id="692" name="Google Shape;692;p5"/>
          <p:cNvSpPr/>
          <p:nvPr/>
        </p:nvSpPr>
        <p:spPr>
          <a:xfrm>
            <a:off x="10097770" y="5165725"/>
            <a:ext cx="78613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new reference</a:t>
            </a:r>
            <a:endParaRPr b="0" i="0" sz="1400" u="none" cap="none" strike="noStrike">
              <a:solidFill>
                <a:srgbClr val="000000"/>
              </a:solidFill>
              <a:latin typeface="Arial"/>
              <a:ea typeface="Arial"/>
              <a:cs typeface="Arial"/>
              <a:sym typeface="Arial"/>
            </a:endParaRPr>
          </a:p>
        </p:txBody>
      </p:sp>
      <p:sp>
        <p:nvSpPr>
          <p:cNvPr id="693" name="Google Shape;693;p5"/>
          <p:cNvSpPr/>
          <p:nvPr/>
        </p:nvSpPr>
        <p:spPr>
          <a:xfrm>
            <a:off x="11023600" y="3403600"/>
            <a:ext cx="840739"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updated refund</a:t>
            </a:r>
            <a:endParaRPr b="0" i="0" sz="1400" u="none" cap="none" strike="noStrike">
              <a:solidFill>
                <a:srgbClr val="000000"/>
              </a:solidFill>
              <a:latin typeface="Arial"/>
              <a:ea typeface="Arial"/>
              <a:cs typeface="Arial"/>
              <a:sym typeface="Arial"/>
            </a:endParaRPr>
          </a:p>
        </p:txBody>
      </p:sp>
      <p:sp>
        <p:nvSpPr>
          <p:cNvPr id="694" name="Google Shape;694;p5"/>
          <p:cNvSpPr/>
          <p:nvPr/>
        </p:nvSpPr>
        <p:spPr>
          <a:xfrm>
            <a:off x="3546633" y="3206750"/>
            <a:ext cx="2369820" cy="139700"/>
          </a:xfrm>
          <a:prstGeom prst="rect">
            <a:avLst/>
          </a:prstGeom>
          <a:noFill/>
          <a:ln>
            <a:noFill/>
          </a:ln>
        </p:spPr>
        <p:txBody>
          <a:bodyPr anchorCtr="0" anchor="t" bIns="0" lIns="0" spcFirstLastPara="1" rIns="0" wrap="square" tIns="14600">
            <a:noAutofit/>
          </a:bodyPr>
          <a:lstStyle/>
          <a:p>
            <a:pPr indent="0" lvl="0" marL="0" marR="0" rtl="0" algn="l">
              <a:lnSpc>
                <a:spcPct val="100000"/>
              </a:lnSpc>
              <a:spcBef>
                <a:spcPts val="0"/>
              </a:spcBef>
              <a:spcAft>
                <a:spcPts val="0"/>
              </a:spcAft>
              <a:buClr>
                <a:srgbClr val="000000"/>
              </a:buClr>
              <a:buSzPts val="790"/>
              <a:buFont typeface="Arial"/>
              <a:buNone/>
            </a:pPr>
            <a:r>
              <a:rPr b="0" i="1" lang="en" sz="790" u="none" cap="none" strike="noStrike">
                <a:solidFill>
                  <a:srgbClr val="6B6F66"/>
                </a:solidFill>
                <a:latin typeface="Quattrocento Sans"/>
                <a:ea typeface="Quattrocento Sans"/>
                <a:cs typeface="Quattrocento Sans"/>
                <a:sym typeface="Quattrocento Sans"/>
              </a:rPr>
              <a:t>confirm again (NEW reference + refundRate)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698" name="Shape 698"/>
        <p:cNvGrpSpPr/>
        <p:nvPr/>
      </p:nvGrpSpPr>
      <p:grpSpPr>
        <a:xfrm>
          <a:off x="0" y="0"/>
          <a:ext cx="0" cy="0"/>
          <a:chOff x="0" y="0"/>
          <a:chExt cx="0" cy="0"/>
        </a:xfrm>
      </p:grpSpPr>
      <p:grpSp>
        <p:nvGrpSpPr>
          <p:cNvPr id="699" name="Google Shape;699;p6"/>
          <p:cNvGrpSpPr/>
          <p:nvPr/>
        </p:nvGrpSpPr>
        <p:grpSpPr>
          <a:xfrm>
            <a:off x="598170" y="133350"/>
            <a:ext cx="10984230" cy="745141"/>
            <a:chOff x="598170" y="133350"/>
            <a:chExt cx="10984230" cy="745141"/>
          </a:xfrm>
        </p:grpSpPr>
        <p:sp>
          <p:nvSpPr>
            <p:cNvPr id="700" name="Google Shape;700;p6"/>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701" name="Google Shape;701;p6"/>
            <p:cNvSpPr txBox="1"/>
            <p:nvPr/>
          </p:nvSpPr>
          <p:spPr>
            <a:xfrm>
              <a:off x="604838" y="209550"/>
              <a:ext cx="227164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WIREFRAMES · ENTRY</a:t>
              </a:r>
              <a:endParaRPr b="0" i="0" sz="1400" u="none" cap="none" strike="noStrike">
                <a:solidFill>
                  <a:srgbClr val="000000"/>
                </a:solidFill>
                <a:latin typeface="Arial"/>
                <a:ea typeface="Arial"/>
                <a:cs typeface="Arial"/>
                <a:sym typeface="Arial"/>
              </a:endParaRPr>
            </a:p>
          </p:txBody>
        </p:sp>
        <p:sp>
          <p:nvSpPr>
            <p:cNvPr id="702" name="Google Shape;702;p6"/>
            <p:cNvSpPr/>
            <p:nvPr/>
          </p:nvSpPr>
          <p:spPr>
            <a:xfrm>
              <a:off x="598170" y="323850"/>
              <a:ext cx="104775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Wireframes 1-2: My bookings → Reservation details</a:t>
              </a:r>
              <a:endParaRPr b="0" i="0" sz="1400" u="none" cap="none" strike="noStrike">
                <a:solidFill>
                  <a:srgbClr val="000000"/>
                </a:solidFill>
                <a:latin typeface="Arial"/>
                <a:ea typeface="Arial"/>
                <a:cs typeface="Arial"/>
                <a:sym typeface="Arial"/>
              </a:endParaRPr>
            </a:p>
          </p:txBody>
        </p:sp>
        <p:sp>
          <p:nvSpPr>
            <p:cNvPr id="703" name="Google Shape;703;p6"/>
            <p:cNvSpPr/>
            <p:nvPr/>
          </p:nvSpPr>
          <p:spPr>
            <a:xfrm>
              <a:off x="604266" y="673132"/>
              <a:ext cx="3959352"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Booking status is visible before anyone asks for it.</a:t>
              </a:r>
              <a:endParaRPr b="0" i="0" sz="1400" u="none" cap="none" strike="noStrike">
                <a:solidFill>
                  <a:srgbClr val="000000"/>
                </a:solidFill>
                <a:latin typeface="Arial"/>
                <a:ea typeface="Arial"/>
                <a:cs typeface="Arial"/>
                <a:sym typeface="Arial"/>
              </a:endParaRPr>
            </a:p>
          </p:txBody>
        </p:sp>
      </p:grpSp>
      <p:grpSp>
        <p:nvGrpSpPr>
          <p:cNvPr id="704" name="Google Shape;704;p6"/>
          <p:cNvGrpSpPr/>
          <p:nvPr/>
        </p:nvGrpSpPr>
        <p:grpSpPr>
          <a:xfrm>
            <a:off x="609600" y="952500"/>
            <a:ext cx="5067300" cy="5448300"/>
            <a:chOff x="609600" y="952500"/>
            <a:chExt cx="5067300" cy="5448300"/>
          </a:xfrm>
        </p:grpSpPr>
        <p:sp>
          <p:nvSpPr>
            <p:cNvPr id="705" name="Google Shape;705;p6"/>
            <p:cNvSpPr/>
            <p:nvPr/>
          </p:nvSpPr>
          <p:spPr>
            <a:xfrm>
              <a:off x="60960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6" name="Google Shape;706;p6"/>
            <p:cNvPicPr preferRelativeResize="0"/>
            <p:nvPr/>
          </p:nvPicPr>
          <p:blipFill rotWithShape="1">
            <a:blip r:embed="rId3">
              <a:alphaModFix/>
            </a:blip>
            <a:srcRect b="0" l="0" r="0" t="0"/>
            <a:stretch/>
          </p:blipFill>
          <p:spPr>
            <a:xfrm>
              <a:off x="742950" y="1052322"/>
              <a:ext cx="2114550" cy="4696111"/>
            </a:xfrm>
            <a:prstGeom prst="rect">
              <a:avLst/>
            </a:prstGeom>
            <a:noFill/>
            <a:ln>
              <a:noFill/>
            </a:ln>
          </p:spPr>
        </p:pic>
        <p:sp>
          <p:nvSpPr>
            <p:cNvPr id="707" name="Google Shape;707;p6"/>
            <p:cNvSpPr/>
            <p:nvPr/>
          </p:nvSpPr>
          <p:spPr>
            <a:xfrm>
              <a:off x="742950" y="1047750"/>
              <a:ext cx="2114550"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6"/>
            <p:cNvSpPr/>
            <p:nvPr/>
          </p:nvSpPr>
          <p:spPr>
            <a:xfrm>
              <a:off x="60960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709" name="Google Shape;709;p6"/>
            <p:cNvSpPr txBox="1"/>
            <p:nvPr/>
          </p:nvSpPr>
          <p:spPr>
            <a:xfrm>
              <a:off x="70008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W1</a:t>
              </a:r>
              <a:endParaRPr b="0" i="0" sz="1400" u="none" cap="none" strike="noStrike">
                <a:solidFill>
                  <a:srgbClr val="000000"/>
                </a:solidFill>
                <a:latin typeface="Arial"/>
                <a:ea typeface="Arial"/>
                <a:cs typeface="Arial"/>
                <a:sym typeface="Arial"/>
              </a:endParaRPr>
            </a:p>
          </p:txBody>
        </p:sp>
        <p:sp>
          <p:nvSpPr>
            <p:cNvPr id="710" name="Google Shape;710;p6"/>
            <p:cNvSpPr/>
            <p:nvPr/>
          </p:nvSpPr>
          <p:spPr>
            <a:xfrm>
              <a:off x="699516" y="6150007"/>
              <a:ext cx="2465832"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My bookings - status at a glance</a:t>
              </a:r>
              <a:endParaRPr b="0" i="0" sz="1400" u="none" cap="none" strike="noStrike">
                <a:solidFill>
                  <a:srgbClr val="000000"/>
                </a:solidFill>
                <a:latin typeface="Arial"/>
                <a:ea typeface="Arial"/>
                <a:cs typeface="Arial"/>
                <a:sym typeface="Arial"/>
              </a:endParaRPr>
            </a:p>
          </p:txBody>
        </p:sp>
        <p:sp>
          <p:nvSpPr>
            <p:cNvPr id="711" name="Google Shape;711;p6"/>
            <p:cNvSpPr/>
            <p:nvPr/>
          </p:nvSpPr>
          <p:spPr>
            <a:xfrm>
              <a:off x="329565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2" name="Google Shape;712;p6"/>
            <p:cNvPicPr preferRelativeResize="0"/>
            <p:nvPr/>
          </p:nvPicPr>
          <p:blipFill rotWithShape="1">
            <a:blip r:embed="rId4">
              <a:alphaModFix/>
            </a:blip>
            <a:srcRect b="0" l="0" r="0" t="0"/>
            <a:stretch/>
          </p:blipFill>
          <p:spPr>
            <a:xfrm>
              <a:off x="3619500" y="1052322"/>
              <a:ext cx="1724025" cy="4696206"/>
            </a:xfrm>
            <a:prstGeom prst="rect">
              <a:avLst/>
            </a:prstGeom>
            <a:noFill/>
            <a:ln>
              <a:noFill/>
            </a:ln>
          </p:spPr>
        </p:pic>
        <p:sp>
          <p:nvSpPr>
            <p:cNvPr id="713" name="Google Shape;713;p6"/>
            <p:cNvSpPr/>
            <p:nvPr/>
          </p:nvSpPr>
          <p:spPr>
            <a:xfrm>
              <a:off x="3619500" y="1047750"/>
              <a:ext cx="1724025"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p6"/>
            <p:cNvSpPr/>
            <p:nvPr/>
          </p:nvSpPr>
          <p:spPr>
            <a:xfrm>
              <a:off x="329565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715" name="Google Shape;715;p6"/>
            <p:cNvSpPr txBox="1"/>
            <p:nvPr/>
          </p:nvSpPr>
          <p:spPr>
            <a:xfrm>
              <a:off x="338613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W2</a:t>
              </a:r>
              <a:endParaRPr b="0" i="0" sz="1400" u="none" cap="none" strike="noStrike">
                <a:solidFill>
                  <a:srgbClr val="000000"/>
                </a:solidFill>
                <a:latin typeface="Arial"/>
                <a:ea typeface="Arial"/>
                <a:cs typeface="Arial"/>
                <a:sym typeface="Arial"/>
              </a:endParaRPr>
            </a:p>
          </p:txBody>
        </p:sp>
        <p:sp>
          <p:nvSpPr>
            <p:cNvPr id="716" name="Google Shape;716;p6"/>
            <p:cNvSpPr/>
            <p:nvPr/>
          </p:nvSpPr>
          <p:spPr>
            <a:xfrm>
              <a:off x="3385566" y="6150007"/>
              <a:ext cx="2167128"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Details - cancel entry</a:t>
              </a:r>
              <a:endParaRPr b="0" i="0" sz="1400" u="none" cap="none" strike="noStrike">
                <a:solidFill>
                  <a:srgbClr val="000000"/>
                </a:solidFill>
                <a:latin typeface="Arial"/>
                <a:ea typeface="Arial"/>
                <a:cs typeface="Arial"/>
                <a:sym typeface="Arial"/>
              </a:endParaRPr>
            </a:p>
          </p:txBody>
        </p:sp>
      </p:grpSp>
      <p:sp>
        <p:nvSpPr>
          <p:cNvPr id="717" name="Google Shape;717;p6"/>
          <p:cNvSpPr/>
          <p:nvPr/>
        </p:nvSpPr>
        <p:spPr>
          <a:xfrm>
            <a:off x="604838" y="6477000"/>
            <a:ext cx="532485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Scenario data (synthetic): Azure Palms Resort &amp; Spa · booking 80000610 · Rs 21,240</a:t>
            </a:r>
            <a:endParaRPr b="0" i="0" sz="1400" u="none" cap="none" strike="noStrike">
              <a:solidFill>
                <a:srgbClr val="000000"/>
              </a:solidFill>
              <a:latin typeface="Arial"/>
              <a:ea typeface="Arial"/>
              <a:cs typeface="Arial"/>
              <a:sym typeface="Arial"/>
            </a:endParaRPr>
          </a:p>
        </p:txBody>
      </p:sp>
      <p:grpSp>
        <p:nvGrpSpPr>
          <p:cNvPr id="718" name="Google Shape;718;p6"/>
          <p:cNvGrpSpPr/>
          <p:nvPr/>
        </p:nvGrpSpPr>
        <p:grpSpPr>
          <a:xfrm>
            <a:off x="6012942" y="1016000"/>
            <a:ext cx="6162675" cy="4797965"/>
            <a:chOff x="6012942" y="1016000"/>
            <a:chExt cx="6162675" cy="4797965"/>
          </a:xfrm>
        </p:grpSpPr>
        <p:sp>
          <p:nvSpPr>
            <p:cNvPr id="719" name="Google Shape;719;p6"/>
            <p:cNvSpPr txBox="1"/>
            <p:nvPr/>
          </p:nvSpPr>
          <p:spPr>
            <a:xfrm>
              <a:off x="6014847" y="1016000"/>
              <a:ext cx="83292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DESIGNER</a:t>
              </a:r>
              <a:endParaRPr b="0" i="0" sz="1400" u="none" cap="none" strike="noStrike">
                <a:solidFill>
                  <a:srgbClr val="000000"/>
                </a:solidFill>
                <a:latin typeface="Arial"/>
                <a:ea typeface="Arial"/>
                <a:cs typeface="Arial"/>
                <a:sym typeface="Arial"/>
              </a:endParaRPr>
            </a:p>
          </p:txBody>
        </p:sp>
        <p:sp>
          <p:nvSpPr>
            <p:cNvPr id="720" name="Google Shape;720;p6"/>
            <p:cNvSpPr/>
            <p:nvPr/>
          </p:nvSpPr>
          <p:spPr>
            <a:xfrm>
              <a:off x="6019800" y="12287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21" name="Google Shape;721;p6"/>
            <p:cNvSpPr txBox="1"/>
            <p:nvPr/>
          </p:nvSpPr>
          <p:spPr>
            <a:xfrm>
              <a:off x="6012942" y="13589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W1</a:t>
              </a:r>
              <a:endParaRPr b="0" i="0" sz="1400" u="none" cap="none" strike="noStrike">
                <a:solidFill>
                  <a:srgbClr val="000000"/>
                </a:solidFill>
                <a:latin typeface="Arial"/>
                <a:ea typeface="Arial"/>
                <a:cs typeface="Arial"/>
                <a:sym typeface="Arial"/>
              </a:endParaRPr>
            </a:p>
          </p:txBody>
        </p:sp>
        <p:sp>
          <p:nvSpPr>
            <p:cNvPr id="722" name="Google Shape;722;p6"/>
            <p:cNvSpPr/>
            <p:nvPr/>
          </p:nvSpPr>
          <p:spPr>
            <a:xfrm>
              <a:off x="6889242" y="1358932"/>
              <a:ext cx="453199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Visibility of system status - status chips</a:t>
              </a:r>
              <a:endParaRPr b="0" i="0" sz="1400" u="none" cap="none" strike="noStrike">
                <a:solidFill>
                  <a:srgbClr val="000000"/>
                </a:solidFill>
                <a:latin typeface="Arial"/>
                <a:ea typeface="Arial"/>
                <a:cs typeface="Arial"/>
                <a:sym typeface="Arial"/>
              </a:endParaRPr>
            </a:p>
          </p:txBody>
        </p:sp>
        <p:sp>
          <p:nvSpPr>
            <p:cNvPr id="723" name="Google Shape;723;p6"/>
            <p:cNvSpPr/>
            <p:nvPr/>
          </p:nvSpPr>
          <p:spPr>
            <a:xfrm>
              <a:off x="6889242" y="1587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show state before anyone asks, so there is no digging.</a:t>
              </a:r>
              <a:endParaRPr b="0" i="0" sz="1400" u="none" cap="none" strike="noStrike">
                <a:solidFill>
                  <a:srgbClr val="000000"/>
                </a:solidFill>
                <a:latin typeface="Arial"/>
                <a:ea typeface="Arial"/>
                <a:cs typeface="Arial"/>
                <a:sym typeface="Arial"/>
              </a:endParaRPr>
            </a:p>
          </p:txBody>
        </p:sp>
        <p:sp>
          <p:nvSpPr>
            <p:cNvPr id="724" name="Google Shape;724;p6"/>
            <p:cNvSpPr txBox="1"/>
            <p:nvPr/>
          </p:nvSpPr>
          <p:spPr>
            <a:xfrm>
              <a:off x="6012942" y="19304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W2</a:t>
              </a:r>
              <a:endParaRPr b="0" i="0" sz="1400" u="none" cap="none" strike="noStrike">
                <a:solidFill>
                  <a:srgbClr val="000000"/>
                </a:solidFill>
                <a:latin typeface="Arial"/>
                <a:ea typeface="Arial"/>
                <a:cs typeface="Arial"/>
                <a:sym typeface="Arial"/>
              </a:endParaRPr>
            </a:p>
          </p:txBody>
        </p:sp>
        <p:sp>
          <p:nvSpPr>
            <p:cNvPr id="725" name="Google Shape;725;p6"/>
            <p:cNvSpPr/>
            <p:nvPr/>
          </p:nvSpPr>
          <p:spPr>
            <a:xfrm>
              <a:off x="6889242" y="19304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Shallow IA - review entry is one tap from details,</a:t>
              </a:r>
              <a:endParaRPr b="0" i="0" sz="1400" u="none" cap="none" strike="noStrike">
                <a:solidFill>
                  <a:srgbClr val="000000"/>
                </a:solidFill>
                <a:latin typeface="Arial"/>
                <a:ea typeface="Arial"/>
                <a:cs typeface="Arial"/>
                <a:sym typeface="Arial"/>
              </a:endParaRPr>
            </a:p>
          </p:txBody>
        </p:sp>
        <p:sp>
          <p:nvSpPr>
            <p:cNvPr id="726" name="Google Shape;726;p6"/>
            <p:cNvSpPr/>
            <p:nvPr/>
          </p:nvSpPr>
          <p:spPr>
            <a:xfrm>
              <a:off x="6889242" y="2159032"/>
              <a:ext cx="453199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so the path to cancel involves no hunting.</a:t>
              </a:r>
              <a:endParaRPr b="0" i="0" sz="1400" u="none" cap="none" strike="noStrike">
                <a:solidFill>
                  <a:srgbClr val="000000"/>
                </a:solidFill>
                <a:latin typeface="Arial"/>
                <a:ea typeface="Arial"/>
                <a:cs typeface="Arial"/>
                <a:sym typeface="Arial"/>
              </a:endParaRPr>
            </a:p>
          </p:txBody>
        </p:sp>
        <p:sp>
          <p:nvSpPr>
            <p:cNvPr id="727" name="Google Shape;727;p6"/>
            <p:cNvSpPr txBox="1"/>
            <p:nvPr/>
          </p:nvSpPr>
          <p:spPr>
            <a:xfrm>
              <a:off x="6014847" y="2768600"/>
              <a:ext cx="952495"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4A7C6F"/>
                  </a:solidFill>
                  <a:latin typeface="Quattrocento Sans"/>
                  <a:ea typeface="Quattrocento Sans"/>
                  <a:cs typeface="Quattrocento Sans"/>
                  <a:sym typeface="Quattrocento Sans"/>
                </a:rPr>
                <a:t>DEVELOPER</a:t>
              </a:r>
              <a:endParaRPr b="0" i="0" sz="1400" u="none" cap="none" strike="noStrike">
                <a:solidFill>
                  <a:srgbClr val="000000"/>
                </a:solidFill>
                <a:latin typeface="Arial"/>
                <a:ea typeface="Arial"/>
                <a:cs typeface="Arial"/>
                <a:sym typeface="Arial"/>
              </a:endParaRPr>
            </a:p>
          </p:txBody>
        </p:sp>
        <p:sp>
          <p:nvSpPr>
            <p:cNvPr id="728" name="Google Shape;728;p6"/>
            <p:cNvSpPr/>
            <p:nvPr/>
          </p:nvSpPr>
          <p:spPr>
            <a:xfrm>
              <a:off x="6019800" y="29813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29" name="Google Shape;729;p6"/>
            <p:cNvSpPr txBox="1"/>
            <p:nvPr/>
          </p:nvSpPr>
          <p:spPr>
            <a:xfrm>
              <a:off x="6012942" y="31115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W1</a:t>
              </a:r>
              <a:endParaRPr b="0" i="0" sz="1400" u="none" cap="none" strike="noStrike">
                <a:solidFill>
                  <a:srgbClr val="000000"/>
                </a:solidFill>
                <a:latin typeface="Arial"/>
                <a:ea typeface="Arial"/>
                <a:cs typeface="Arial"/>
                <a:sym typeface="Arial"/>
              </a:endParaRPr>
            </a:p>
          </p:txBody>
        </p:sp>
        <p:sp>
          <p:nvSpPr>
            <p:cNvPr id="730" name="Google Shape;730;p6"/>
            <p:cNvSpPr/>
            <p:nvPr/>
          </p:nvSpPr>
          <p:spPr>
            <a:xfrm>
              <a:off x="6889242" y="3111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Booking Details call on open: bookingIds* (max 40) →</a:t>
              </a:r>
              <a:endParaRPr b="0" i="0" sz="1400" u="none" cap="none" strike="noStrike">
                <a:solidFill>
                  <a:srgbClr val="000000"/>
                </a:solidFill>
                <a:latin typeface="Arial"/>
                <a:ea typeface="Arial"/>
                <a:cs typeface="Arial"/>
                <a:sym typeface="Arial"/>
              </a:endParaRPr>
            </a:p>
          </p:txBody>
        </p:sp>
        <p:sp>
          <p:nvSpPr>
            <p:cNvPr id="731" name="Google Shape;731;p6"/>
            <p:cNvSpPr/>
            <p:nvPr/>
          </p:nvSpPr>
          <p:spPr>
            <a:xfrm>
              <a:off x="6889242" y="33401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status*, checkIn*/checkOut*, cancellationPolicy*,</a:t>
              </a:r>
              <a:endParaRPr b="0" i="0" sz="1400" u="none" cap="none" strike="noStrike">
                <a:solidFill>
                  <a:srgbClr val="000000"/>
                </a:solidFill>
                <a:latin typeface="Arial"/>
                <a:ea typeface="Arial"/>
                <a:cs typeface="Arial"/>
                <a:sym typeface="Arial"/>
              </a:endParaRPr>
            </a:p>
          </p:txBody>
        </p:sp>
        <p:sp>
          <p:nvSpPr>
            <p:cNvPr id="732" name="Google Shape;732;p6"/>
            <p:cNvSpPr/>
            <p:nvPr/>
          </p:nvSpPr>
          <p:spPr>
            <a:xfrm>
              <a:off x="6889242" y="3568732"/>
              <a:ext cx="172878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hotelComNumber.</a:t>
              </a:r>
              <a:endParaRPr b="0" i="0" sz="1400" u="none" cap="none" strike="noStrike">
                <a:solidFill>
                  <a:srgbClr val="000000"/>
                </a:solidFill>
                <a:latin typeface="Arial"/>
                <a:ea typeface="Arial"/>
                <a:cs typeface="Arial"/>
                <a:sym typeface="Arial"/>
              </a:endParaRPr>
            </a:p>
          </p:txBody>
        </p:sp>
        <p:sp>
          <p:nvSpPr>
            <p:cNvPr id="733" name="Google Shape;733;p6"/>
            <p:cNvSpPr txBox="1"/>
            <p:nvPr/>
          </p:nvSpPr>
          <p:spPr>
            <a:xfrm>
              <a:off x="6012942" y="39116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W2</a:t>
              </a:r>
              <a:endParaRPr b="0" i="0" sz="1400" u="none" cap="none" strike="noStrike">
                <a:solidFill>
                  <a:srgbClr val="000000"/>
                </a:solidFill>
                <a:latin typeface="Arial"/>
                <a:ea typeface="Arial"/>
                <a:cs typeface="Arial"/>
                <a:sym typeface="Arial"/>
              </a:endParaRPr>
            </a:p>
          </p:txBody>
        </p:sp>
        <p:sp>
          <p:nvSpPr>
            <p:cNvPr id="734" name="Google Shape;734;p6"/>
            <p:cNvSpPr/>
            <p:nvPr/>
          </p:nvSpPr>
          <p:spPr>
            <a:xfrm>
              <a:off x="6889242" y="39116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Preview is fetched only on entry to review: bookingId*</a:t>
              </a:r>
              <a:endParaRPr b="0" i="0" sz="1400" u="none" cap="none" strike="noStrike">
                <a:solidFill>
                  <a:srgbClr val="000000"/>
                </a:solidFill>
                <a:latin typeface="Arial"/>
                <a:ea typeface="Arial"/>
                <a:cs typeface="Arial"/>
                <a:sym typeface="Arial"/>
              </a:endParaRPr>
            </a:p>
          </p:txBody>
        </p:sp>
        <p:sp>
          <p:nvSpPr>
            <p:cNvPr id="735" name="Google Shape;735;p6"/>
            <p:cNvSpPr/>
            <p:nvPr/>
          </p:nvSpPr>
          <p:spPr>
            <a:xfrm>
              <a:off x="6889242" y="4140232"/>
              <a:ext cx="515493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 reference*, policyText*, refundRate{currency*,</a:t>
              </a:r>
              <a:endParaRPr b="0" i="0" sz="1400" u="none" cap="none" strike="noStrike">
                <a:solidFill>
                  <a:srgbClr val="000000"/>
                </a:solidFill>
                <a:latin typeface="Arial"/>
                <a:ea typeface="Arial"/>
                <a:cs typeface="Arial"/>
                <a:sym typeface="Arial"/>
              </a:endParaRPr>
            </a:p>
          </p:txBody>
        </p:sp>
        <p:sp>
          <p:nvSpPr>
            <p:cNvPr id="736" name="Google Shape;736;p6"/>
            <p:cNvSpPr/>
            <p:nvPr/>
          </p:nvSpPr>
          <p:spPr>
            <a:xfrm>
              <a:off x="6889242" y="4368832"/>
              <a:ext cx="28575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inclusive*}, SLA 120 s.</a:t>
              </a:r>
              <a:endParaRPr b="0" i="0" sz="1400" u="none" cap="none" strike="noStrike">
                <a:solidFill>
                  <a:srgbClr val="000000"/>
                </a:solidFill>
                <a:latin typeface="Arial"/>
                <a:ea typeface="Arial"/>
                <a:cs typeface="Arial"/>
                <a:sym typeface="Arial"/>
              </a:endParaRPr>
            </a:p>
          </p:txBody>
        </p:sp>
        <p:sp>
          <p:nvSpPr>
            <p:cNvPr id="737" name="Google Shape;737;p6"/>
            <p:cNvSpPr txBox="1"/>
            <p:nvPr/>
          </p:nvSpPr>
          <p:spPr>
            <a:xfrm>
              <a:off x="6014847" y="4978400"/>
              <a:ext cx="81229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BUSINESS</a:t>
              </a:r>
              <a:endParaRPr b="0" i="0" sz="1400" u="none" cap="none" strike="noStrike">
                <a:solidFill>
                  <a:srgbClr val="000000"/>
                </a:solidFill>
                <a:latin typeface="Arial"/>
                <a:ea typeface="Arial"/>
                <a:cs typeface="Arial"/>
                <a:sym typeface="Arial"/>
              </a:endParaRPr>
            </a:p>
          </p:txBody>
        </p:sp>
        <p:sp>
          <p:nvSpPr>
            <p:cNvPr id="738" name="Google Shape;738;p6"/>
            <p:cNvSpPr/>
            <p:nvPr/>
          </p:nvSpPr>
          <p:spPr>
            <a:xfrm>
              <a:off x="6019800" y="51911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39" name="Google Shape;739;p6"/>
            <p:cNvSpPr/>
            <p:nvPr/>
          </p:nvSpPr>
          <p:spPr>
            <a:xfrm>
              <a:off x="6012942" y="53213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740" name="Google Shape;740;p6"/>
            <p:cNvSpPr/>
            <p:nvPr/>
          </p:nvSpPr>
          <p:spPr>
            <a:xfrm>
              <a:off x="6889242" y="5321332"/>
              <a:ext cx="528637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Hypothesis to measure: self-serve state visibility</a:t>
              </a:r>
              <a:endParaRPr b="0" i="0" sz="1400" u="none" cap="none" strike="noStrike">
                <a:solidFill>
                  <a:srgbClr val="000000"/>
                </a:solidFill>
                <a:latin typeface="Arial"/>
                <a:ea typeface="Arial"/>
                <a:cs typeface="Arial"/>
                <a:sym typeface="Arial"/>
              </a:endParaRPr>
            </a:p>
          </p:txBody>
        </p:sp>
        <p:sp>
          <p:nvSpPr>
            <p:cNvPr id="741" name="Google Shape;741;p6"/>
            <p:cNvSpPr/>
            <p:nvPr/>
          </p:nvSpPr>
          <p:spPr>
            <a:xfrm>
              <a:off x="6889242" y="5549932"/>
              <a:ext cx="494728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should cut 'what is my status' support volume.</a:t>
              </a:r>
              <a:endParaRPr b="0" i="0" sz="1400" u="none" cap="none" strike="noStrike">
                <a:solidFill>
                  <a:srgbClr val="000000"/>
                </a:solidFill>
                <a:latin typeface="Arial"/>
                <a:ea typeface="Arial"/>
                <a:cs typeface="Arial"/>
                <a:sym typeface="Arial"/>
              </a:endParaRPr>
            </a:p>
          </p:txBody>
        </p:sp>
      </p:grpSp>
      <p:sp>
        <p:nvSpPr>
          <p:cNvPr id="742" name="Google Shape;742;p6"/>
          <p:cNvSpPr/>
          <p:nvPr/>
        </p:nvSpPr>
        <p:spPr>
          <a:xfrm>
            <a:off x="11436858" y="64452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8</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746" name="Shape 746"/>
        <p:cNvGrpSpPr/>
        <p:nvPr/>
      </p:nvGrpSpPr>
      <p:grpSpPr>
        <a:xfrm>
          <a:off x="0" y="0"/>
          <a:ext cx="0" cy="0"/>
          <a:chOff x="0" y="0"/>
          <a:chExt cx="0" cy="0"/>
        </a:xfrm>
      </p:grpSpPr>
      <p:grpSp>
        <p:nvGrpSpPr>
          <p:cNvPr id="747" name="Google Shape;747;p7"/>
          <p:cNvGrpSpPr/>
          <p:nvPr/>
        </p:nvGrpSpPr>
        <p:grpSpPr>
          <a:xfrm>
            <a:off x="598170" y="133350"/>
            <a:ext cx="10984230" cy="745141"/>
            <a:chOff x="598170" y="133350"/>
            <a:chExt cx="10984230" cy="745141"/>
          </a:xfrm>
        </p:grpSpPr>
        <p:sp>
          <p:nvSpPr>
            <p:cNvPr id="748" name="Google Shape;748;p7"/>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749" name="Google Shape;749;p7"/>
            <p:cNvSpPr txBox="1"/>
            <p:nvPr/>
          </p:nvSpPr>
          <p:spPr>
            <a:xfrm>
              <a:off x="604838" y="209550"/>
              <a:ext cx="285277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WIREFRAMES · COMMITMENT</a:t>
              </a:r>
              <a:endParaRPr b="0" i="0" sz="1400" u="none" cap="none" strike="noStrike">
                <a:solidFill>
                  <a:srgbClr val="000000"/>
                </a:solidFill>
                <a:latin typeface="Arial"/>
                <a:ea typeface="Arial"/>
                <a:cs typeface="Arial"/>
                <a:sym typeface="Arial"/>
              </a:endParaRPr>
            </a:p>
          </p:txBody>
        </p:sp>
        <p:sp>
          <p:nvSpPr>
            <p:cNvPr id="750" name="Google Shape;750;p7"/>
            <p:cNvSpPr/>
            <p:nvPr/>
          </p:nvSpPr>
          <p:spPr>
            <a:xfrm>
              <a:off x="598170" y="323850"/>
              <a:ext cx="106680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Wireframe 3: Review cancellation (standard / zero)</a:t>
              </a:r>
              <a:endParaRPr b="0" i="0" sz="1400" u="none" cap="none" strike="noStrike">
                <a:solidFill>
                  <a:srgbClr val="000000"/>
                </a:solidFill>
                <a:latin typeface="Arial"/>
                <a:ea typeface="Arial"/>
                <a:cs typeface="Arial"/>
                <a:sym typeface="Arial"/>
              </a:endParaRPr>
            </a:p>
          </p:txBody>
        </p:sp>
        <p:sp>
          <p:nvSpPr>
            <p:cNvPr id="751" name="Google Shape;751;p7"/>
            <p:cNvSpPr/>
            <p:nvPr/>
          </p:nvSpPr>
          <p:spPr>
            <a:xfrm>
              <a:off x="604266" y="673132"/>
              <a:ext cx="410870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The customer confirms the number, not just the action.</a:t>
              </a:r>
              <a:endParaRPr b="0" i="0" sz="1400" u="none" cap="none" strike="noStrike">
                <a:solidFill>
                  <a:srgbClr val="000000"/>
                </a:solidFill>
                <a:latin typeface="Arial"/>
                <a:ea typeface="Arial"/>
                <a:cs typeface="Arial"/>
                <a:sym typeface="Arial"/>
              </a:endParaRPr>
            </a:p>
          </p:txBody>
        </p:sp>
      </p:grpSp>
      <p:grpSp>
        <p:nvGrpSpPr>
          <p:cNvPr id="752" name="Google Shape;752;p7"/>
          <p:cNvGrpSpPr/>
          <p:nvPr/>
        </p:nvGrpSpPr>
        <p:grpSpPr>
          <a:xfrm>
            <a:off x="609600" y="952500"/>
            <a:ext cx="5067300" cy="5448300"/>
            <a:chOff x="609600" y="952500"/>
            <a:chExt cx="5067300" cy="5448300"/>
          </a:xfrm>
        </p:grpSpPr>
        <p:sp>
          <p:nvSpPr>
            <p:cNvPr id="753" name="Google Shape;753;p7"/>
            <p:cNvSpPr/>
            <p:nvPr/>
          </p:nvSpPr>
          <p:spPr>
            <a:xfrm>
              <a:off x="60960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54" name="Google Shape;754;p7"/>
            <p:cNvPicPr preferRelativeResize="0"/>
            <p:nvPr/>
          </p:nvPicPr>
          <p:blipFill rotWithShape="1">
            <a:blip r:embed="rId3">
              <a:alphaModFix/>
            </a:blip>
            <a:srcRect b="0" l="0" r="0" t="0"/>
            <a:stretch/>
          </p:blipFill>
          <p:spPr>
            <a:xfrm>
              <a:off x="742950" y="1052322"/>
              <a:ext cx="2114550" cy="4696111"/>
            </a:xfrm>
            <a:prstGeom prst="rect">
              <a:avLst/>
            </a:prstGeom>
            <a:noFill/>
            <a:ln>
              <a:noFill/>
            </a:ln>
          </p:spPr>
        </p:pic>
        <p:sp>
          <p:nvSpPr>
            <p:cNvPr id="755" name="Google Shape;755;p7"/>
            <p:cNvSpPr/>
            <p:nvPr/>
          </p:nvSpPr>
          <p:spPr>
            <a:xfrm>
              <a:off x="742950" y="1047750"/>
              <a:ext cx="2114550"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6" name="Google Shape;756;p7"/>
            <p:cNvSpPr/>
            <p:nvPr/>
          </p:nvSpPr>
          <p:spPr>
            <a:xfrm>
              <a:off x="60960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757" name="Google Shape;757;p7"/>
            <p:cNvSpPr txBox="1"/>
            <p:nvPr/>
          </p:nvSpPr>
          <p:spPr>
            <a:xfrm>
              <a:off x="70008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W3</a:t>
              </a:r>
              <a:endParaRPr b="0" i="0" sz="1400" u="none" cap="none" strike="noStrike">
                <a:solidFill>
                  <a:srgbClr val="000000"/>
                </a:solidFill>
                <a:latin typeface="Arial"/>
                <a:ea typeface="Arial"/>
                <a:cs typeface="Arial"/>
                <a:sym typeface="Arial"/>
              </a:endParaRPr>
            </a:p>
          </p:txBody>
        </p:sp>
        <p:sp>
          <p:nvSpPr>
            <p:cNvPr id="758" name="Google Shape;758;p7"/>
            <p:cNvSpPr/>
            <p:nvPr/>
          </p:nvSpPr>
          <p:spPr>
            <a:xfrm>
              <a:off x="699516" y="6150007"/>
              <a:ext cx="186842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Review - standard refund</a:t>
              </a:r>
              <a:endParaRPr b="0" i="0" sz="1400" u="none" cap="none" strike="noStrike">
                <a:solidFill>
                  <a:srgbClr val="000000"/>
                </a:solidFill>
                <a:latin typeface="Arial"/>
                <a:ea typeface="Arial"/>
                <a:cs typeface="Arial"/>
                <a:sym typeface="Arial"/>
              </a:endParaRPr>
            </a:p>
          </p:txBody>
        </p:sp>
        <p:sp>
          <p:nvSpPr>
            <p:cNvPr id="759" name="Google Shape;759;p7"/>
            <p:cNvSpPr/>
            <p:nvPr/>
          </p:nvSpPr>
          <p:spPr>
            <a:xfrm>
              <a:off x="329565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60" name="Google Shape;760;p7"/>
            <p:cNvPicPr preferRelativeResize="0"/>
            <p:nvPr/>
          </p:nvPicPr>
          <p:blipFill rotWithShape="1">
            <a:blip r:embed="rId4">
              <a:alphaModFix/>
            </a:blip>
            <a:srcRect b="0" l="0" r="0" t="0"/>
            <a:stretch/>
          </p:blipFill>
          <p:spPr>
            <a:xfrm>
              <a:off x="3429000" y="1052322"/>
              <a:ext cx="2114550" cy="4696111"/>
            </a:xfrm>
            <a:prstGeom prst="rect">
              <a:avLst/>
            </a:prstGeom>
            <a:noFill/>
            <a:ln>
              <a:noFill/>
            </a:ln>
          </p:spPr>
        </p:pic>
        <p:sp>
          <p:nvSpPr>
            <p:cNvPr id="761" name="Google Shape;761;p7"/>
            <p:cNvSpPr/>
            <p:nvPr/>
          </p:nvSpPr>
          <p:spPr>
            <a:xfrm>
              <a:off x="3429000" y="1047750"/>
              <a:ext cx="2114550"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2" name="Google Shape;762;p7"/>
            <p:cNvSpPr/>
            <p:nvPr/>
          </p:nvSpPr>
          <p:spPr>
            <a:xfrm>
              <a:off x="329565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763" name="Google Shape;763;p7"/>
            <p:cNvSpPr txBox="1"/>
            <p:nvPr/>
          </p:nvSpPr>
          <p:spPr>
            <a:xfrm>
              <a:off x="3386138" y="5962650"/>
              <a:ext cx="36792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W3·0</a:t>
              </a:r>
              <a:endParaRPr b="0" i="0" sz="1400" u="none" cap="none" strike="noStrike">
                <a:solidFill>
                  <a:srgbClr val="000000"/>
                </a:solidFill>
                <a:latin typeface="Arial"/>
                <a:ea typeface="Arial"/>
                <a:cs typeface="Arial"/>
                <a:sym typeface="Arial"/>
              </a:endParaRPr>
            </a:p>
          </p:txBody>
        </p:sp>
        <p:sp>
          <p:nvSpPr>
            <p:cNvPr id="764" name="Google Shape;764;p7"/>
            <p:cNvSpPr/>
            <p:nvPr/>
          </p:nvSpPr>
          <p:spPr>
            <a:xfrm>
              <a:off x="3385566" y="6150007"/>
              <a:ext cx="156972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Review - zero refund</a:t>
              </a:r>
              <a:endParaRPr b="0" i="0" sz="1400" u="none" cap="none" strike="noStrike">
                <a:solidFill>
                  <a:srgbClr val="000000"/>
                </a:solidFill>
                <a:latin typeface="Arial"/>
                <a:ea typeface="Arial"/>
                <a:cs typeface="Arial"/>
                <a:sym typeface="Arial"/>
              </a:endParaRPr>
            </a:p>
          </p:txBody>
        </p:sp>
      </p:grpSp>
      <p:sp>
        <p:nvSpPr>
          <p:cNvPr id="765" name="Google Shape;765;p7"/>
          <p:cNvSpPr/>
          <p:nvPr/>
        </p:nvSpPr>
        <p:spPr>
          <a:xfrm>
            <a:off x="604838" y="6477000"/>
            <a:ext cx="476250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Scenario data (synthetic): Rs 21,240 standard · Rs 0 zero-refund</a:t>
            </a:r>
            <a:endParaRPr b="0" i="0" sz="1400" u="none" cap="none" strike="noStrike">
              <a:solidFill>
                <a:srgbClr val="000000"/>
              </a:solidFill>
              <a:latin typeface="Arial"/>
              <a:ea typeface="Arial"/>
              <a:cs typeface="Arial"/>
              <a:sym typeface="Arial"/>
            </a:endParaRPr>
          </a:p>
        </p:txBody>
      </p:sp>
      <p:grpSp>
        <p:nvGrpSpPr>
          <p:cNvPr id="766" name="Google Shape;766;p7"/>
          <p:cNvGrpSpPr/>
          <p:nvPr/>
        </p:nvGrpSpPr>
        <p:grpSpPr>
          <a:xfrm>
            <a:off x="6012942" y="1016000"/>
            <a:ext cx="6162675" cy="5369465"/>
            <a:chOff x="6012942" y="1016000"/>
            <a:chExt cx="6162675" cy="5369465"/>
          </a:xfrm>
        </p:grpSpPr>
        <p:sp>
          <p:nvSpPr>
            <p:cNvPr id="767" name="Google Shape;767;p7"/>
            <p:cNvSpPr txBox="1"/>
            <p:nvPr/>
          </p:nvSpPr>
          <p:spPr>
            <a:xfrm>
              <a:off x="6014847" y="1016000"/>
              <a:ext cx="83292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DESIGNER</a:t>
              </a:r>
              <a:endParaRPr b="0" i="0" sz="1400" u="none" cap="none" strike="noStrike">
                <a:solidFill>
                  <a:srgbClr val="000000"/>
                </a:solidFill>
                <a:latin typeface="Arial"/>
                <a:ea typeface="Arial"/>
                <a:cs typeface="Arial"/>
                <a:sym typeface="Arial"/>
              </a:endParaRPr>
            </a:p>
          </p:txBody>
        </p:sp>
        <p:sp>
          <p:nvSpPr>
            <p:cNvPr id="768" name="Google Shape;768;p7"/>
            <p:cNvSpPr/>
            <p:nvPr/>
          </p:nvSpPr>
          <p:spPr>
            <a:xfrm>
              <a:off x="6019800" y="12287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69" name="Google Shape;769;p7"/>
            <p:cNvSpPr/>
            <p:nvPr/>
          </p:nvSpPr>
          <p:spPr>
            <a:xfrm>
              <a:off x="6012942" y="1358932"/>
              <a:ext cx="364236"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Std</a:t>
              </a:r>
              <a:endParaRPr b="0" i="0" sz="1400" u="none" cap="none" strike="noStrike">
                <a:solidFill>
                  <a:srgbClr val="000000"/>
                </a:solidFill>
                <a:latin typeface="Arial"/>
                <a:ea typeface="Arial"/>
                <a:cs typeface="Arial"/>
                <a:sym typeface="Arial"/>
              </a:endParaRPr>
            </a:p>
          </p:txBody>
        </p:sp>
        <p:sp>
          <p:nvSpPr>
            <p:cNvPr id="770" name="Google Shape;770;p7"/>
            <p:cNvSpPr/>
            <p:nvPr/>
          </p:nvSpPr>
          <p:spPr>
            <a:xfrm>
              <a:off x="6889242" y="1358932"/>
              <a:ext cx="463581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Visual hierarchy - refund amount and policy</a:t>
              </a:r>
              <a:endParaRPr b="0" i="0" sz="1400" u="none" cap="none" strike="noStrike">
                <a:solidFill>
                  <a:srgbClr val="000000"/>
                </a:solidFill>
                <a:latin typeface="Arial"/>
                <a:ea typeface="Arial"/>
                <a:cs typeface="Arial"/>
                <a:sym typeface="Arial"/>
              </a:endParaRPr>
            </a:p>
          </p:txBody>
        </p:sp>
        <p:sp>
          <p:nvSpPr>
            <p:cNvPr id="771" name="Google Shape;771;p7"/>
            <p:cNvSpPr/>
            <p:nvPr/>
          </p:nvSpPr>
          <p:spPr>
            <a:xfrm>
              <a:off x="6889242" y="1587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outrank decoration: the customer confirms the number.</a:t>
              </a:r>
              <a:endParaRPr b="0" i="0" sz="1400" u="none" cap="none" strike="noStrike">
                <a:solidFill>
                  <a:srgbClr val="000000"/>
                </a:solidFill>
                <a:latin typeface="Arial"/>
                <a:ea typeface="Arial"/>
                <a:cs typeface="Arial"/>
                <a:sym typeface="Arial"/>
              </a:endParaRPr>
            </a:p>
          </p:txBody>
        </p:sp>
        <p:sp>
          <p:nvSpPr>
            <p:cNvPr id="772" name="Google Shape;772;p7"/>
            <p:cNvSpPr/>
            <p:nvPr/>
          </p:nvSpPr>
          <p:spPr>
            <a:xfrm>
              <a:off x="6012942" y="19304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Zero</a:t>
              </a:r>
              <a:endParaRPr b="0" i="0" sz="1400" u="none" cap="none" strike="noStrike">
                <a:solidFill>
                  <a:srgbClr val="000000"/>
                </a:solidFill>
                <a:latin typeface="Arial"/>
                <a:ea typeface="Arial"/>
                <a:cs typeface="Arial"/>
                <a:sym typeface="Arial"/>
              </a:endParaRPr>
            </a:p>
          </p:txBody>
        </p:sp>
        <p:sp>
          <p:nvSpPr>
            <p:cNvPr id="773" name="Google Shape;773;p7"/>
            <p:cNvSpPr/>
            <p:nvPr/>
          </p:nvSpPr>
          <p:spPr>
            <a:xfrm>
              <a:off x="6889242" y="1930432"/>
              <a:ext cx="4588764"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Consent in plain words - the button itself</a:t>
              </a:r>
              <a:endParaRPr b="0" i="0" sz="1400" u="none" cap="none" strike="noStrike">
                <a:solidFill>
                  <a:srgbClr val="000000"/>
                </a:solidFill>
                <a:latin typeface="Arial"/>
                <a:ea typeface="Arial"/>
                <a:cs typeface="Arial"/>
                <a:sym typeface="Arial"/>
              </a:endParaRPr>
            </a:p>
          </p:txBody>
        </p:sp>
        <p:sp>
          <p:nvSpPr>
            <p:cNvPr id="774" name="Google Shape;774;p7"/>
            <p:cNvSpPr/>
            <p:nvPr/>
          </p:nvSpPr>
          <p:spPr>
            <a:xfrm>
              <a:off x="6889242" y="2159032"/>
              <a:ext cx="473964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says 'Cancel without refund': zero is clear.</a:t>
              </a:r>
              <a:endParaRPr b="0" i="0" sz="1400" u="none" cap="none" strike="noStrike">
                <a:solidFill>
                  <a:srgbClr val="000000"/>
                </a:solidFill>
                <a:latin typeface="Arial"/>
                <a:ea typeface="Arial"/>
                <a:cs typeface="Arial"/>
                <a:sym typeface="Arial"/>
              </a:endParaRPr>
            </a:p>
          </p:txBody>
        </p:sp>
        <p:sp>
          <p:nvSpPr>
            <p:cNvPr id="775" name="Google Shape;775;p7"/>
            <p:cNvSpPr/>
            <p:nvPr/>
          </p:nvSpPr>
          <p:spPr>
            <a:xfrm>
              <a:off x="6012942" y="25019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776" name="Google Shape;776;p7"/>
            <p:cNvSpPr/>
            <p:nvPr/>
          </p:nvSpPr>
          <p:spPr>
            <a:xfrm>
              <a:off x="6889242" y="25019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Error prevention - 'Keep booking' stays easy to find.</a:t>
              </a:r>
              <a:endParaRPr b="0" i="0" sz="1400" u="none" cap="none" strike="noStrike">
                <a:solidFill>
                  <a:srgbClr val="000000"/>
                </a:solidFill>
                <a:latin typeface="Arial"/>
                <a:ea typeface="Arial"/>
                <a:cs typeface="Arial"/>
                <a:sym typeface="Arial"/>
              </a:endParaRPr>
            </a:p>
          </p:txBody>
        </p:sp>
        <p:sp>
          <p:nvSpPr>
            <p:cNvPr id="777" name="Google Shape;777;p7"/>
            <p:cNvSpPr txBox="1"/>
            <p:nvPr/>
          </p:nvSpPr>
          <p:spPr>
            <a:xfrm>
              <a:off x="6014847" y="3111500"/>
              <a:ext cx="952495"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4A7C6F"/>
                  </a:solidFill>
                  <a:latin typeface="Quattrocento Sans"/>
                  <a:ea typeface="Quattrocento Sans"/>
                  <a:cs typeface="Quattrocento Sans"/>
                  <a:sym typeface="Quattrocento Sans"/>
                </a:rPr>
                <a:t>DEVELOPER</a:t>
              </a:r>
              <a:endParaRPr b="0" i="0" sz="1400" u="none" cap="none" strike="noStrike">
                <a:solidFill>
                  <a:srgbClr val="000000"/>
                </a:solidFill>
                <a:latin typeface="Arial"/>
                <a:ea typeface="Arial"/>
                <a:cs typeface="Arial"/>
                <a:sym typeface="Arial"/>
              </a:endParaRPr>
            </a:p>
          </p:txBody>
        </p:sp>
        <p:sp>
          <p:nvSpPr>
            <p:cNvPr id="778" name="Google Shape;778;p7"/>
            <p:cNvSpPr/>
            <p:nvPr/>
          </p:nvSpPr>
          <p:spPr>
            <a:xfrm>
              <a:off x="6019800" y="33242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79" name="Google Shape;779;p7"/>
            <p:cNvSpPr/>
            <p:nvPr/>
          </p:nvSpPr>
          <p:spPr>
            <a:xfrm>
              <a:off x="6012942" y="3454432"/>
              <a:ext cx="364236"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Std</a:t>
              </a:r>
              <a:endParaRPr b="0" i="0" sz="1400" u="none" cap="none" strike="noStrike">
                <a:solidFill>
                  <a:srgbClr val="000000"/>
                </a:solidFill>
                <a:latin typeface="Arial"/>
                <a:ea typeface="Arial"/>
                <a:cs typeface="Arial"/>
                <a:sym typeface="Arial"/>
              </a:endParaRPr>
            </a:p>
          </p:txBody>
        </p:sp>
        <p:sp>
          <p:nvSpPr>
            <p:cNvPr id="780" name="Google Shape;780;p7"/>
            <p:cNvSpPr/>
            <p:nvPr/>
          </p:nvSpPr>
          <p:spPr>
            <a:xfrm>
              <a:off x="6889242" y="34544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Preview within the 120 s SLA; refundRate is a money</a:t>
              </a:r>
              <a:endParaRPr b="0" i="0" sz="1400" u="none" cap="none" strike="noStrike">
                <a:solidFill>
                  <a:srgbClr val="000000"/>
                </a:solidFill>
                <a:latin typeface="Arial"/>
                <a:ea typeface="Arial"/>
                <a:cs typeface="Arial"/>
                <a:sym typeface="Arial"/>
              </a:endParaRPr>
            </a:p>
          </p:txBody>
        </p:sp>
        <p:sp>
          <p:nvSpPr>
            <p:cNvPr id="781" name="Google Shape;781;p7"/>
            <p:cNvSpPr/>
            <p:nvPr/>
          </p:nvSpPr>
          <p:spPr>
            <a:xfrm>
              <a:off x="6889242" y="3683032"/>
              <a:ext cx="528637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object {currency*, inclusive*}, inclusive = amount</a:t>
              </a:r>
              <a:endParaRPr b="0" i="0" sz="1400" u="none" cap="none" strike="noStrike">
                <a:solidFill>
                  <a:srgbClr val="000000"/>
                </a:solidFill>
                <a:latin typeface="Arial"/>
                <a:ea typeface="Arial"/>
                <a:cs typeface="Arial"/>
                <a:sym typeface="Arial"/>
              </a:endParaRPr>
            </a:p>
          </p:txBody>
        </p:sp>
        <p:sp>
          <p:nvSpPr>
            <p:cNvPr id="782" name="Google Shape;782;p7"/>
            <p:cNvSpPr/>
            <p:nvPr/>
          </p:nvSpPr>
          <p:spPr>
            <a:xfrm>
              <a:off x="6889242" y="3911632"/>
              <a:ext cx="328612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incl. taxes, not a percentage.</a:t>
              </a:r>
              <a:endParaRPr b="0" i="0" sz="1400" u="none" cap="none" strike="noStrike">
                <a:solidFill>
                  <a:srgbClr val="000000"/>
                </a:solidFill>
                <a:latin typeface="Arial"/>
                <a:ea typeface="Arial"/>
                <a:cs typeface="Arial"/>
                <a:sym typeface="Arial"/>
              </a:endParaRPr>
            </a:p>
          </p:txBody>
        </p:sp>
        <p:sp>
          <p:nvSpPr>
            <p:cNvPr id="783" name="Google Shape;783;p7"/>
            <p:cNvSpPr/>
            <p:nvPr/>
          </p:nvSpPr>
          <p:spPr>
            <a:xfrm>
              <a:off x="6012942" y="42545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784" name="Google Shape;784;p7"/>
            <p:cNvSpPr/>
            <p:nvPr/>
          </p:nvSpPr>
          <p:spPr>
            <a:xfrm>
              <a:off x="6889242" y="4254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Confirm sends bookingId*, the latest reference* and</a:t>
              </a:r>
              <a:endParaRPr b="0" i="0" sz="1400" u="none" cap="none" strike="noStrike">
                <a:solidFill>
                  <a:srgbClr val="000000"/>
                </a:solidFill>
                <a:latin typeface="Arial"/>
                <a:ea typeface="Arial"/>
                <a:cs typeface="Arial"/>
                <a:sym typeface="Arial"/>
              </a:endParaRPr>
            </a:p>
          </p:txBody>
        </p:sp>
        <p:sp>
          <p:nvSpPr>
            <p:cNvPr id="785" name="Google Shape;785;p7"/>
            <p:cNvSpPr/>
            <p:nvPr/>
          </p:nvSpPr>
          <p:spPr>
            <a:xfrm>
              <a:off x="6889242" y="4483132"/>
              <a:ext cx="505110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the matching refundRate{currency*, inclusive*};</a:t>
              </a:r>
              <a:endParaRPr b="0" i="0" sz="1400" u="none" cap="none" strike="noStrike">
                <a:solidFill>
                  <a:srgbClr val="000000"/>
                </a:solidFill>
                <a:latin typeface="Arial"/>
                <a:ea typeface="Arial"/>
                <a:cs typeface="Arial"/>
                <a:sym typeface="Arial"/>
              </a:endParaRPr>
            </a:p>
          </p:txBody>
        </p:sp>
        <p:sp>
          <p:nvSpPr>
            <p:cNvPr id="786" name="Google Shape;786;p7"/>
            <p:cNvSpPr/>
            <p:nvPr/>
          </p:nvSpPr>
          <p:spPr>
            <a:xfrm>
              <a:off x="6889242" y="47117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cancelReason* is required - the UI reason is optional,</a:t>
              </a:r>
              <a:endParaRPr b="0" i="0" sz="1400" u="none" cap="none" strike="noStrike">
                <a:solidFill>
                  <a:srgbClr val="000000"/>
                </a:solidFill>
                <a:latin typeface="Arial"/>
                <a:ea typeface="Arial"/>
                <a:cs typeface="Arial"/>
                <a:sym typeface="Arial"/>
              </a:endParaRPr>
            </a:p>
          </p:txBody>
        </p:sp>
        <p:sp>
          <p:nvSpPr>
            <p:cNvPr id="787" name="Google Shape;787;p7"/>
            <p:cNvSpPr/>
            <p:nvPr/>
          </p:nvSpPr>
          <p:spPr>
            <a:xfrm>
              <a:off x="6889242" y="4940332"/>
              <a:ext cx="22479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documented 0 = None.</a:t>
              </a:r>
              <a:endParaRPr b="0" i="0" sz="1400" u="none" cap="none" strike="noStrike">
                <a:solidFill>
                  <a:srgbClr val="000000"/>
                </a:solidFill>
                <a:latin typeface="Arial"/>
                <a:ea typeface="Arial"/>
                <a:cs typeface="Arial"/>
                <a:sym typeface="Arial"/>
              </a:endParaRPr>
            </a:p>
          </p:txBody>
        </p:sp>
        <p:sp>
          <p:nvSpPr>
            <p:cNvPr id="788" name="Google Shape;788;p7"/>
            <p:cNvSpPr txBox="1"/>
            <p:nvPr/>
          </p:nvSpPr>
          <p:spPr>
            <a:xfrm>
              <a:off x="6014847" y="5549900"/>
              <a:ext cx="81229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BUSINESS</a:t>
              </a:r>
              <a:endParaRPr b="0" i="0" sz="1400" u="none" cap="none" strike="noStrike">
                <a:solidFill>
                  <a:srgbClr val="000000"/>
                </a:solidFill>
                <a:latin typeface="Arial"/>
                <a:ea typeface="Arial"/>
                <a:cs typeface="Arial"/>
                <a:sym typeface="Arial"/>
              </a:endParaRPr>
            </a:p>
          </p:txBody>
        </p:sp>
        <p:sp>
          <p:nvSpPr>
            <p:cNvPr id="789" name="Google Shape;789;p7"/>
            <p:cNvSpPr/>
            <p:nvPr/>
          </p:nvSpPr>
          <p:spPr>
            <a:xfrm>
              <a:off x="6019800" y="57626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790" name="Google Shape;790;p7"/>
            <p:cNvSpPr/>
            <p:nvPr/>
          </p:nvSpPr>
          <p:spPr>
            <a:xfrm>
              <a:off x="6012942" y="58928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791" name="Google Shape;791;p7"/>
            <p:cNvSpPr/>
            <p:nvPr/>
          </p:nvSpPr>
          <p:spPr>
            <a:xfrm>
              <a:off x="6889242" y="58928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Hypothesis to measure: informed consent should reduce</a:t>
              </a:r>
              <a:endParaRPr b="0" i="0" sz="1400" u="none" cap="none" strike="noStrike">
                <a:solidFill>
                  <a:srgbClr val="000000"/>
                </a:solidFill>
                <a:latin typeface="Arial"/>
                <a:ea typeface="Arial"/>
                <a:cs typeface="Arial"/>
                <a:sym typeface="Arial"/>
              </a:endParaRPr>
            </a:p>
          </p:txBody>
        </p:sp>
        <p:sp>
          <p:nvSpPr>
            <p:cNvPr id="792" name="Google Shape;792;p7"/>
            <p:cNvSpPr/>
            <p:nvPr/>
          </p:nvSpPr>
          <p:spPr>
            <a:xfrm>
              <a:off x="6889242" y="6121432"/>
              <a:ext cx="183261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refund disputes.</a:t>
              </a:r>
              <a:endParaRPr b="0" i="0" sz="1400" u="none" cap="none" strike="noStrike">
                <a:solidFill>
                  <a:srgbClr val="000000"/>
                </a:solidFill>
                <a:latin typeface="Arial"/>
                <a:ea typeface="Arial"/>
                <a:cs typeface="Arial"/>
                <a:sym typeface="Arial"/>
              </a:endParaRPr>
            </a:p>
          </p:txBody>
        </p:sp>
      </p:grpSp>
      <p:sp>
        <p:nvSpPr>
          <p:cNvPr id="793" name="Google Shape;793;p7"/>
          <p:cNvSpPr/>
          <p:nvPr/>
        </p:nvSpPr>
        <p:spPr>
          <a:xfrm>
            <a:off x="11436858" y="64452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9</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797" name="Shape 797"/>
        <p:cNvGrpSpPr/>
        <p:nvPr/>
      </p:nvGrpSpPr>
      <p:grpSpPr>
        <a:xfrm>
          <a:off x="0" y="0"/>
          <a:ext cx="0" cy="0"/>
          <a:chOff x="0" y="0"/>
          <a:chExt cx="0" cy="0"/>
        </a:xfrm>
      </p:grpSpPr>
      <p:grpSp>
        <p:nvGrpSpPr>
          <p:cNvPr id="798" name="Google Shape;798;p8"/>
          <p:cNvGrpSpPr/>
          <p:nvPr/>
        </p:nvGrpSpPr>
        <p:grpSpPr>
          <a:xfrm>
            <a:off x="598170" y="133350"/>
            <a:ext cx="10984230" cy="745141"/>
            <a:chOff x="598170" y="133350"/>
            <a:chExt cx="10984230" cy="745141"/>
          </a:xfrm>
        </p:grpSpPr>
        <p:sp>
          <p:nvSpPr>
            <p:cNvPr id="799" name="Google Shape;799;p8"/>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800" name="Google Shape;800;p8"/>
            <p:cNvSpPr txBox="1"/>
            <p:nvPr/>
          </p:nvSpPr>
          <p:spPr>
            <a:xfrm>
              <a:off x="604838" y="209550"/>
              <a:ext cx="2419123"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WIREFRAMES · CHANGE</a:t>
              </a:r>
              <a:endParaRPr b="0" i="0" sz="1400" u="none" cap="none" strike="noStrike">
                <a:solidFill>
                  <a:srgbClr val="000000"/>
                </a:solidFill>
                <a:latin typeface="Arial"/>
                <a:ea typeface="Arial"/>
                <a:cs typeface="Arial"/>
                <a:sym typeface="Arial"/>
              </a:endParaRPr>
            </a:p>
          </p:txBody>
        </p:sp>
        <p:sp>
          <p:nvSpPr>
            <p:cNvPr id="801" name="Google Shape;801;p8"/>
            <p:cNvSpPr/>
            <p:nvPr/>
          </p:nvSpPr>
          <p:spPr>
            <a:xfrm>
              <a:off x="598170" y="323850"/>
              <a:ext cx="1009650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Wireframes 3b-5: Changed refund → fresh consent</a:t>
              </a:r>
              <a:endParaRPr b="0" i="0" sz="1400" u="none" cap="none" strike="noStrike">
                <a:solidFill>
                  <a:srgbClr val="000000"/>
                </a:solidFill>
                <a:latin typeface="Arial"/>
                <a:ea typeface="Arial"/>
                <a:cs typeface="Arial"/>
                <a:sym typeface="Arial"/>
              </a:endParaRPr>
            </a:p>
          </p:txBody>
        </p:sp>
        <p:sp>
          <p:nvSpPr>
            <p:cNvPr id="802" name="Google Shape;802;p8"/>
            <p:cNvSpPr/>
            <p:nvPr/>
          </p:nvSpPr>
          <p:spPr>
            <a:xfrm>
              <a:off x="604266" y="673132"/>
              <a:ext cx="597560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If the amount moves, we ask again - and the receipt says exactly what happened.</a:t>
              </a:r>
              <a:endParaRPr b="0" i="0" sz="1400" u="none" cap="none" strike="noStrike">
                <a:solidFill>
                  <a:srgbClr val="000000"/>
                </a:solidFill>
                <a:latin typeface="Arial"/>
                <a:ea typeface="Arial"/>
                <a:cs typeface="Arial"/>
                <a:sym typeface="Arial"/>
              </a:endParaRPr>
            </a:p>
          </p:txBody>
        </p:sp>
      </p:grpSp>
      <p:grpSp>
        <p:nvGrpSpPr>
          <p:cNvPr id="803" name="Google Shape;803;p8"/>
          <p:cNvGrpSpPr/>
          <p:nvPr/>
        </p:nvGrpSpPr>
        <p:grpSpPr>
          <a:xfrm>
            <a:off x="609600" y="952500"/>
            <a:ext cx="5067300" cy="5448300"/>
            <a:chOff x="609600" y="952500"/>
            <a:chExt cx="5067300" cy="5448300"/>
          </a:xfrm>
        </p:grpSpPr>
        <p:sp>
          <p:nvSpPr>
            <p:cNvPr id="804" name="Google Shape;804;p8"/>
            <p:cNvSpPr/>
            <p:nvPr/>
          </p:nvSpPr>
          <p:spPr>
            <a:xfrm>
              <a:off x="60960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05" name="Google Shape;805;p8"/>
            <p:cNvPicPr preferRelativeResize="0"/>
            <p:nvPr/>
          </p:nvPicPr>
          <p:blipFill rotWithShape="1">
            <a:blip r:embed="rId3">
              <a:alphaModFix/>
            </a:blip>
            <a:srcRect b="0" l="0" r="0" t="0"/>
            <a:stretch/>
          </p:blipFill>
          <p:spPr>
            <a:xfrm>
              <a:off x="742950" y="1052322"/>
              <a:ext cx="2114550" cy="4696111"/>
            </a:xfrm>
            <a:prstGeom prst="rect">
              <a:avLst/>
            </a:prstGeom>
            <a:noFill/>
            <a:ln>
              <a:noFill/>
            </a:ln>
          </p:spPr>
        </p:pic>
        <p:sp>
          <p:nvSpPr>
            <p:cNvPr id="806" name="Google Shape;806;p8"/>
            <p:cNvSpPr/>
            <p:nvPr/>
          </p:nvSpPr>
          <p:spPr>
            <a:xfrm>
              <a:off x="742950" y="1047750"/>
              <a:ext cx="2114550"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7" name="Google Shape;807;p8"/>
            <p:cNvSpPr/>
            <p:nvPr/>
          </p:nvSpPr>
          <p:spPr>
            <a:xfrm>
              <a:off x="60960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808" name="Google Shape;808;p8"/>
            <p:cNvSpPr txBox="1"/>
            <p:nvPr/>
          </p:nvSpPr>
          <p:spPr>
            <a:xfrm>
              <a:off x="700088" y="5962650"/>
              <a:ext cx="31465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W3b</a:t>
              </a:r>
              <a:endParaRPr b="0" i="0" sz="1400" u="none" cap="none" strike="noStrike">
                <a:solidFill>
                  <a:srgbClr val="000000"/>
                </a:solidFill>
                <a:latin typeface="Arial"/>
                <a:ea typeface="Arial"/>
                <a:cs typeface="Arial"/>
                <a:sym typeface="Arial"/>
              </a:endParaRPr>
            </a:p>
          </p:txBody>
        </p:sp>
        <p:sp>
          <p:nvSpPr>
            <p:cNvPr id="809" name="Google Shape;809;p8"/>
            <p:cNvSpPr/>
            <p:nvPr/>
          </p:nvSpPr>
          <p:spPr>
            <a:xfrm>
              <a:off x="699516" y="6150007"/>
              <a:ext cx="2092452"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Changed refund - re-consent</a:t>
              </a:r>
              <a:endParaRPr b="0" i="0" sz="1400" u="none" cap="none" strike="noStrike">
                <a:solidFill>
                  <a:srgbClr val="000000"/>
                </a:solidFill>
                <a:latin typeface="Arial"/>
                <a:ea typeface="Arial"/>
                <a:cs typeface="Arial"/>
                <a:sym typeface="Arial"/>
              </a:endParaRPr>
            </a:p>
          </p:txBody>
        </p:sp>
        <p:sp>
          <p:nvSpPr>
            <p:cNvPr id="810" name="Google Shape;810;p8"/>
            <p:cNvSpPr/>
            <p:nvPr/>
          </p:nvSpPr>
          <p:spPr>
            <a:xfrm>
              <a:off x="3295650" y="952500"/>
              <a:ext cx="2381250" cy="5448300"/>
            </a:xfrm>
            <a:prstGeom prst="roundRect">
              <a:avLst>
                <a:gd fmla="val 4000"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1" name="Google Shape;811;p8"/>
            <p:cNvPicPr preferRelativeResize="0"/>
            <p:nvPr/>
          </p:nvPicPr>
          <p:blipFill rotWithShape="1">
            <a:blip r:embed="rId4">
              <a:alphaModFix/>
            </a:blip>
            <a:srcRect b="0" l="0" r="0" t="0"/>
            <a:stretch/>
          </p:blipFill>
          <p:spPr>
            <a:xfrm>
              <a:off x="3429000" y="1052322"/>
              <a:ext cx="2114550" cy="4696111"/>
            </a:xfrm>
            <a:prstGeom prst="rect">
              <a:avLst/>
            </a:prstGeom>
            <a:noFill/>
            <a:ln>
              <a:noFill/>
            </a:ln>
          </p:spPr>
        </p:pic>
        <p:sp>
          <p:nvSpPr>
            <p:cNvPr id="812" name="Google Shape;812;p8"/>
            <p:cNvSpPr/>
            <p:nvPr/>
          </p:nvSpPr>
          <p:spPr>
            <a:xfrm>
              <a:off x="3429000" y="1047750"/>
              <a:ext cx="2114550" cy="4705350"/>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p8"/>
            <p:cNvSpPr/>
            <p:nvPr/>
          </p:nvSpPr>
          <p:spPr>
            <a:xfrm>
              <a:off x="3295650" y="5848350"/>
              <a:ext cx="2381250" cy="9525"/>
            </a:xfrm>
            <a:custGeom>
              <a:rect b="b" l="l" r="r" t="t"/>
              <a:pathLst>
                <a:path extrusionOk="0" h="9525" w="2381250">
                  <a:moveTo>
                    <a:pt x="0" y="0"/>
                  </a:moveTo>
                  <a:lnTo>
                    <a:pt x="2381250" y="0"/>
                  </a:lnTo>
                </a:path>
              </a:pathLst>
            </a:custGeom>
            <a:solidFill>
              <a:srgbClr val="000000"/>
            </a:solidFill>
            <a:ln cap="flat" cmpd="sng" w="9525">
              <a:solidFill>
                <a:srgbClr val="D8CFBC"/>
              </a:solidFill>
              <a:prstDash val="solid"/>
              <a:round/>
              <a:headEnd len="sm" w="sm" type="none"/>
              <a:tailEnd len="sm" w="sm" type="none"/>
            </a:ln>
          </p:spPr>
        </p:sp>
        <p:sp>
          <p:nvSpPr>
            <p:cNvPr id="814" name="Google Shape;814;p8"/>
            <p:cNvSpPr txBox="1"/>
            <p:nvPr/>
          </p:nvSpPr>
          <p:spPr>
            <a:xfrm>
              <a:off x="338613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W5</a:t>
              </a:r>
              <a:endParaRPr b="0" i="0" sz="1400" u="none" cap="none" strike="noStrike">
                <a:solidFill>
                  <a:srgbClr val="000000"/>
                </a:solidFill>
                <a:latin typeface="Arial"/>
                <a:ea typeface="Arial"/>
                <a:cs typeface="Arial"/>
                <a:sym typeface="Arial"/>
              </a:endParaRPr>
            </a:p>
          </p:txBody>
        </p:sp>
        <p:sp>
          <p:nvSpPr>
            <p:cNvPr id="815" name="Google Shape;815;p8"/>
            <p:cNvSpPr/>
            <p:nvPr/>
          </p:nvSpPr>
          <p:spPr>
            <a:xfrm>
              <a:off x="3385566" y="6150007"/>
              <a:ext cx="156972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Cancellation receipt</a:t>
              </a:r>
              <a:endParaRPr b="0" i="0" sz="1400" u="none" cap="none" strike="noStrike">
                <a:solidFill>
                  <a:srgbClr val="000000"/>
                </a:solidFill>
                <a:latin typeface="Arial"/>
                <a:ea typeface="Arial"/>
                <a:cs typeface="Arial"/>
                <a:sym typeface="Arial"/>
              </a:endParaRPr>
            </a:p>
          </p:txBody>
        </p:sp>
      </p:grpSp>
      <p:sp>
        <p:nvSpPr>
          <p:cNvPr id="816" name="Google Shape;816;p8"/>
          <p:cNvSpPr/>
          <p:nvPr/>
        </p:nvSpPr>
        <p:spPr>
          <a:xfrm>
            <a:off x="604838" y="6477000"/>
            <a:ext cx="476250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Scenario data (synthetic): Rs 21,240 → Rs 16,990 · fee Rs 4,250</a:t>
            </a:r>
            <a:endParaRPr b="0" i="0" sz="1400" u="none" cap="none" strike="noStrike">
              <a:solidFill>
                <a:srgbClr val="000000"/>
              </a:solidFill>
              <a:latin typeface="Arial"/>
              <a:ea typeface="Arial"/>
              <a:cs typeface="Arial"/>
              <a:sym typeface="Arial"/>
            </a:endParaRPr>
          </a:p>
        </p:txBody>
      </p:sp>
      <p:grpSp>
        <p:nvGrpSpPr>
          <p:cNvPr id="817" name="Google Shape;817;p8"/>
          <p:cNvGrpSpPr/>
          <p:nvPr/>
        </p:nvGrpSpPr>
        <p:grpSpPr>
          <a:xfrm>
            <a:off x="6012942" y="1016000"/>
            <a:ext cx="6134100" cy="4340765"/>
            <a:chOff x="6012942" y="1016000"/>
            <a:chExt cx="6134100" cy="4340765"/>
          </a:xfrm>
        </p:grpSpPr>
        <p:sp>
          <p:nvSpPr>
            <p:cNvPr id="818" name="Google Shape;818;p8"/>
            <p:cNvSpPr txBox="1"/>
            <p:nvPr/>
          </p:nvSpPr>
          <p:spPr>
            <a:xfrm>
              <a:off x="6014847" y="1016000"/>
              <a:ext cx="83292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DESIGNER</a:t>
              </a:r>
              <a:endParaRPr b="0" i="0" sz="1400" u="none" cap="none" strike="noStrike">
                <a:solidFill>
                  <a:srgbClr val="000000"/>
                </a:solidFill>
                <a:latin typeface="Arial"/>
                <a:ea typeface="Arial"/>
                <a:cs typeface="Arial"/>
                <a:sym typeface="Arial"/>
              </a:endParaRPr>
            </a:p>
          </p:txBody>
        </p:sp>
        <p:sp>
          <p:nvSpPr>
            <p:cNvPr id="819" name="Google Shape;819;p8"/>
            <p:cNvSpPr/>
            <p:nvPr/>
          </p:nvSpPr>
          <p:spPr>
            <a:xfrm>
              <a:off x="6019800" y="12287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820" name="Google Shape;820;p8"/>
            <p:cNvSpPr/>
            <p:nvPr/>
          </p:nvSpPr>
          <p:spPr>
            <a:xfrm>
              <a:off x="6012942" y="1358932"/>
              <a:ext cx="5715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W3b</a:t>
              </a:r>
              <a:endParaRPr b="0" i="0" sz="1400" u="none" cap="none" strike="noStrike">
                <a:solidFill>
                  <a:srgbClr val="000000"/>
                </a:solidFill>
                <a:latin typeface="Arial"/>
                <a:ea typeface="Arial"/>
                <a:cs typeface="Arial"/>
                <a:sym typeface="Arial"/>
              </a:endParaRPr>
            </a:p>
          </p:txBody>
        </p:sp>
        <p:sp>
          <p:nvSpPr>
            <p:cNvPr id="821" name="Google Shape;821;p8"/>
            <p:cNvSpPr/>
            <p:nvPr/>
          </p:nvSpPr>
          <p:spPr>
            <a:xfrm>
              <a:off x="6889242" y="1358932"/>
              <a:ext cx="505110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Error prevention via fresh consent - the banner</a:t>
              </a:r>
              <a:endParaRPr b="0" i="0" sz="1400" u="none" cap="none" strike="noStrike">
                <a:solidFill>
                  <a:srgbClr val="000000"/>
                </a:solidFill>
                <a:latin typeface="Arial"/>
                <a:ea typeface="Arial"/>
                <a:cs typeface="Arial"/>
                <a:sym typeface="Arial"/>
              </a:endParaRPr>
            </a:p>
          </p:txBody>
        </p:sp>
        <p:sp>
          <p:nvSpPr>
            <p:cNvPr id="822" name="Google Shape;822;p8"/>
            <p:cNvSpPr/>
            <p:nvPr/>
          </p:nvSpPr>
          <p:spPr>
            <a:xfrm>
              <a:off x="6889242" y="1587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names old and new amounts, confirmed in the button.</a:t>
              </a:r>
              <a:endParaRPr b="0" i="0" sz="1400" u="none" cap="none" strike="noStrike">
                <a:solidFill>
                  <a:srgbClr val="000000"/>
                </a:solidFill>
                <a:latin typeface="Arial"/>
                <a:ea typeface="Arial"/>
                <a:cs typeface="Arial"/>
                <a:sym typeface="Arial"/>
              </a:endParaRPr>
            </a:p>
          </p:txBody>
        </p:sp>
        <p:sp>
          <p:nvSpPr>
            <p:cNvPr id="823" name="Google Shape;823;p8"/>
            <p:cNvSpPr txBox="1"/>
            <p:nvPr/>
          </p:nvSpPr>
          <p:spPr>
            <a:xfrm>
              <a:off x="6012942" y="19304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W5</a:t>
              </a:r>
              <a:endParaRPr b="0" i="0" sz="1400" u="none" cap="none" strike="noStrike">
                <a:solidFill>
                  <a:srgbClr val="000000"/>
                </a:solidFill>
                <a:latin typeface="Arial"/>
                <a:ea typeface="Arial"/>
                <a:cs typeface="Arial"/>
                <a:sym typeface="Arial"/>
              </a:endParaRPr>
            </a:p>
          </p:txBody>
        </p:sp>
        <p:sp>
          <p:nvSpPr>
            <p:cNvPr id="824" name="Google Shape;824;p8"/>
            <p:cNvSpPr/>
            <p:nvPr/>
          </p:nvSpPr>
          <p:spPr>
            <a:xfrm>
              <a:off x="6889242" y="19304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Honest feedback - the receipt confirms cancellation</a:t>
              </a:r>
              <a:endParaRPr b="0" i="0" sz="1400" u="none" cap="none" strike="noStrike">
                <a:solidFill>
                  <a:srgbClr val="000000"/>
                </a:solidFill>
                <a:latin typeface="Arial"/>
                <a:ea typeface="Arial"/>
                <a:cs typeface="Arial"/>
                <a:sym typeface="Arial"/>
              </a:endParaRPr>
            </a:p>
          </p:txBody>
        </p:sp>
        <p:sp>
          <p:nvSpPr>
            <p:cNvPr id="825" name="Google Shape;825;p8"/>
            <p:cNvSpPr/>
            <p:nvPr/>
          </p:nvSpPr>
          <p:spPr>
            <a:xfrm>
              <a:off x="6889242" y="2159032"/>
              <a:ext cx="453199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without promising payout timing or method.</a:t>
              </a:r>
              <a:endParaRPr b="0" i="0" sz="1400" u="none" cap="none" strike="noStrike">
                <a:solidFill>
                  <a:srgbClr val="000000"/>
                </a:solidFill>
                <a:latin typeface="Arial"/>
                <a:ea typeface="Arial"/>
                <a:cs typeface="Arial"/>
                <a:sym typeface="Arial"/>
              </a:endParaRPr>
            </a:p>
          </p:txBody>
        </p:sp>
        <p:sp>
          <p:nvSpPr>
            <p:cNvPr id="826" name="Google Shape;826;p8"/>
            <p:cNvSpPr txBox="1"/>
            <p:nvPr/>
          </p:nvSpPr>
          <p:spPr>
            <a:xfrm>
              <a:off x="6014847" y="2768600"/>
              <a:ext cx="952495"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4A7C6F"/>
                  </a:solidFill>
                  <a:latin typeface="Quattrocento Sans"/>
                  <a:ea typeface="Quattrocento Sans"/>
                  <a:cs typeface="Quattrocento Sans"/>
                  <a:sym typeface="Quattrocento Sans"/>
                </a:rPr>
                <a:t>DEVELOPER</a:t>
              </a:r>
              <a:endParaRPr b="0" i="0" sz="1400" u="none" cap="none" strike="noStrike">
                <a:solidFill>
                  <a:srgbClr val="000000"/>
                </a:solidFill>
                <a:latin typeface="Arial"/>
                <a:ea typeface="Arial"/>
                <a:cs typeface="Arial"/>
                <a:sym typeface="Arial"/>
              </a:endParaRPr>
            </a:p>
          </p:txBody>
        </p:sp>
        <p:sp>
          <p:nvSpPr>
            <p:cNvPr id="827" name="Google Shape;827;p8"/>
            <p:cNvSpPr/>
            <p:nvPr/>
          </p:nvSpPr>
          <p:spPr>
            <a:xfrm>
              <a:off x="6019800" y="29813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828" name="Google Shape;828;p8"/>
            <p:cNvSpPr/>
            <p:nvPr/>
          </p:nvSpPr>
          <p:spPr>
            <a:xfrm>
              <a:off x="6012942" y="3111532"/>
              <a:ext cx="5715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W3b</a:t>
              </a:r>
              <a:endParaRPr b="0" i="0" sz="1400" u="none" cap="none" strike="noStrike">
                <a:solidFill>
                  <a:srgbClr val="000000"/>
                </a:solidFill>
                <a:latin typeface="Arial"/>
                <a:ea typeface="Arial"/>
                <a:cs typeface="Arial"/>
                <a:sym typeface="Arial"/>
              </a:endParaRPr>
            </a:p>
          </p:txBody>
        </p:sp>
        <p:sp>
          <p:nvSpPr>
            <p:cNvPr id="829" name="Google Shape;829;p8"/>
            <p:cNvSpPr/>
            <p:nvPr/>
          </p:nvSpPr>
          <p:spPr>
            <a:xfrm>
              <a:off x="6889242" y="31115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error 914 (refund mismatch) → re-preview →</a:t>
              </a:r>
              <a:endParaRPr b="0" i="0" sz="1400" u="none" cap="none" strike="noStrike">
                <a:solidFill>
                  <a:srgbClr val="000000"/>
                </a:solidFill>
                <a:latin typeface="Arial"/>
                <a:ea typeface="Arial"/>
                <a:cs typeface="Arial"/>
                <a:sym typeface="Arial"/>
              </a:endParaRPr>
            </a:p>
          </p:txBody>
        </p:sp>
        <p:sp>
          <p:nvSpPr>
            <p:cNvPr id="830" name="Google Shape;830;p8"/>
            <p:cNvSpPr/>
            <p:nvPr/>
          </p:nvSpPr>
          <p:spPr>
            <a:xfrm>
              <a:off x="6889242" y="3340132"/>
              <a:ext cx="375761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re-confirm with the new reference*.</a:t>
              </a:r>
              <a:endParaRPr b="0" i="0" sz="1400" u="none" cap="none" strike="noStrike">
                <a:solidFill>
                  <a:srgbClr val="000000"/>
                </a:solidFill>
                <a:latin typeface="Arial"/>
                <a:ea typeface="Arial"/>
                <a:cs typeface="Arial"/>
                <a:sym typeface="Arial"/>
              </a:endParaRPr>
            </a:p>
          </p:txBody>
        </p:sp>
        <p:sp>
          <p:nvSpPr>
            <p:cNvPr id="831" name="Google Shape;831;p8"/>
            <p:cNvSpPr txBox="1"/>
            <p:nvPr/>
          </p:nvSpPr>
          <p:spPr>
            <a:xfrm>
              <a:off x="6012942" y="3683000"/>
              <a:ext cx="317133"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W5</a:t>
              </a:r>
              <a:endParaRPr b="0" i="0" sz="1400" u="none" cap="none" strike="noStrike">
                <a:solidFill>
                  <a:srgbClr val="000000"/>
                </a:solidFill>
                <a:latin typeface="Arial"/>
                <a:ea typeface="Arial"/>
                <a:cs typeface="Arial"/>
                <a:sym typeface="Arial"/>
              </a:endParaRPr>
            </a:p>
          </p:txBody>
        </p:sp>
        <p:sp>
          <p:nvSpPr>
            <p:cNvPr id="832" name="Google Shape;832;p8"/>
            <p:cNvSpPr/>
            <p:nvPr/>
          </p:nvSpPr>
          <p:spPr>
            <a:xfrm>
              <a:off x="6889242" y="36830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Success is HTTP 200 with an empty body; the receipt</a:t>
              </a:r>
              <a:endParaRPr b="0" i="0" sz="1400" u="none" cap="none" strike="noStrike">
                <a:solidFill>
                  <a:srgbClr val="000000"/>
                </a:solidFill>
                <a:latin typeface="Arial"/>
                <a:ea typeface="Arial"/>
                <a:cs typeface="Arial"/>
                <a:sym typeface="Arial"/>
              </a:endParaRPr>
            </a:p>
          </p:txBody>
        </p:sp>
        <p:sp>
          <p:nvSpPr>
            <p:cNvPr id="833" name="Google Shape;833;p8"/>
            <p:cNvSpPr/>
            <p:nvPr/>
          </p:nvSpPr>
          <p:spPr>
            <a:xfrm>
              <a:off x="6889242" y="3911632"/>
              <a:ext cx="359759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records reference* and timestamp.</a:t>
              </a:r>
              <a:endParaRPr b="0" i="0" sz="1400" u="none" cap="none" strike="noStrike">
                <a:solidFill>
                  <a:srgbClr val="000000"/>
                </a:solidFill>
                <a:latin typeface="Arial"/>
                <a:ea typeface="Arial"/>
                <a:cs typeface="Arial"/>
                <a:sym typeface="Arial"/>
              </a:endParaRPr>
            </a:p>
          </p:txBody>
        </p:sp>
        <p:sp>
          <p:nvSpPr>
            <p:cNvPr id="834" name="Google Shape;834;p8"/>
            <p:cNvSpPr txBox="1"/>
            <p:nvPr/>
          </p:nvSpPr>
          <p:spPr>
            <a:xfrm>
              <a:off x="6014847" y="4521200"/>
              <a:ext cx="81229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BUSINESS</a:t>
              </a:r>
              <a:endParaRPr b="0" i="0" sz="1400" u="none" cap="none" strike="noStrike">
                <a:solidFill>
                  <a:srgbClr val="000000"/>
                </a:solidFill>
                <a:latin typeface="Arial"/>
                <a:ea typeface="Arial"/>
                <a:cs typeface="Arial"/>
                <a:sym typeface="Arial"/>
              </a:endParaRPr>
            </a:p>
          </p:txBody>
        </p:sp>
        <p:sp>
          <p:nvSpPr>
            <p:cNvPr id="835" name="Google Shape;835;p8"/>
            <p:cNvSpPr/>
            <p:nvPr/>
          </p:nvSpPr>
          <p:spPr>
            <a:xfrm>
              <a:off x="6019800" y="4733925"/>
              <a:ext cx="5562600" cy="9525"/>
            </a:xfrm>
            <a:custGeom>
              <a:rect b="b" l="l" r="r" t="t"/>
              <a:pathLst>
                <a:path extrusionOk="0" h="9525" w="5562600">
                  <a:moveTo>
                    <a:pt x="0" y="0"/>
                  </a:moveTo>
                  <a:lnTo>
                    <a:pt x="5562600" y="0"/>
                  </a:lnTo>
                </a:path>
              </a:pathLst>
            </a:custGeom>
            <a:solidFill>
              <a:srgbClr val="000000"/>
            </a:solidFill>
            <a:ln cap="flat" cmpd="sng" w="9525">
              <a:solidFill>
                <a:srgbClr val="D8CFBC"/>
              </a:solidFill>
              <a:prstDash val="solid"/>
              <a:round/>
              <a:headEnd len="sm" w="sm" type="none"/>
              <a:tailEnd len="sm" w="sm" type="none"/>
            </a:ln>
          </p:spPr>
        </p:sp>
        <p:sp>
          <p:nvSpPr>
            <p:cNvPr id="836" name="Google Shape;836;p8"/>
            <p:cNvSpPr/>
            <p:nvPr/>
          </p:nvSpPr>
          <p:spPr>
            <a:xfrm>
              <a:off x="6012942" y="4864132"/>
              <a:ext cx="4602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837" name="Google Shape;837;p8"/>
            <p:cNvSpPr/>
            <p:nvPr/>
          </p:nvSpPr>
          <p:spPr>
            <a:xfrm>
              <a:off x="6889242" y="4864132"/>
              <a:ext cx="52578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Hypothesis to measure: re-consent keeps consent valid</a:t>
              </a:r>
              <a:endParaRPr b="0" i="0" sz="1400" u="none" cap="none" strike="noStrike">
                <a:solidFill>
                  <a:srgbClr val="000000"/>
                </a:solidFill>
                <a:latin typeface="Arial"/>
                <a:ea typeface="Arial"/>
                <a:cs typeface="Arial"/>
                <a:sym typeface="Arial"/>
              </a:endParaRPr>
            </a:p>
          </p:txBody>
        </p:sp>
        <p:sp>
          <p:nvSpPr>
            <p:cNvPr id="838" name="Google Shape;838;p8"/>
            <p:cNvSpPr/>
            <p:nvPr/>
          </p:nvSpPr>
          <p:spPr>
            <a:xfrm>
              <a:off x="6889242" y="5092732"/>
              <a:ext cx="453199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when terms move, protecting dispute rates.</a:t>
              </a:r>
              <a:endParaRPr b="0" i="0" sz="1400" u="none" cap="none" strike="noStrike">
                <a:solidFill>
                  <a:srgbClr val="000000"/>
                </a:solidFill>
                <a:latin typeface="Arial"/>
                <a:ea typeface="Arial"/>
                <a:cs typeface="Arial"/>
                <a:sym typeface="Arial"/>
              </a:endParaRPr>
            </a:p>
          </p:txBody>
        </p:sp>
      </p:grpSp>
      <p:sp>
        <p:nvSpPr>
          <p:cNvPr id="839" name="Google Shape;839;p8"/>
          <p:cNvSpPr/>
          <p:nvPr/>
        </p:nvSpPr>
        <p:spPr>
          <a:xfrm>
            <a:off x="11436858" y="64452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10</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843" name="Shape 843"/>
        <p:cNvGrpSpPr/>
        <p:nvPr/>
      </p:nvGrpSpPr>
      <p:grpSpPr>
        <a:xfrm>
          <a:off x="0" y="0"/>
          <a:ext cx="0" cy="0"/>
          <a:chOff x="0" y="0"/>
          <a:chExt cx="0" cy="0"/>
        </a:xfrm>
      </p:grpSpPr>
      <p:grpSp>
        <p:nvGrpSpPr>
          <p:cNvPr id="844" name="Google Shape;844;p9"/>
          <p:cNvGrpSpPr/>
          <p:nvPr/>
        </p:nvGrpSpPr>
        <p:grpSpPr>
          <a:xfrm>
            <a:off x="598170" y="133350"/>
            <a:ext cx="10984230" cy="745141"/>
            <a:chOff x="598170" y="133350"/>
            <a:chExt cx="10984230" cy="745141"/>
          </a:xfrm>
        </p:grpSpPr>
        <p:sp>
          <p:nvSpPr>
            <p:cNvPr id="845" name="Google Shape;845;p9"/>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846" name="Google Shape;846;p9"/>
            <p:cNvSpPr txBox="1"/>
            <p:nvPr/>
          </p:nvSpPr>
          <p:spPr>
            <a:xfrm>
              <a:off x="604838" y="209550"/>
              <a:ext cx="3410415"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WIREFRAMES · PROGRESS + FAILURE</a:t>
              </a:r>
              <a:endParaRPr b="0" i="0" sz="1400" u="none" cap="none" strike="noStrike">
                <a:solidFill>
                  <a:srgbClr val="000000"/>
                </a:solidFill>
                <a:latin typeface="Arial"/>
                <a:ea typeface="Arial"/>
                <a:cs typeface="Arial"/>
                <a:sym typeface="Arial"/>
              </a:endParaRPr>
            </a:p>
          </p:txBody>
        </p:sp>
        <p:sp>
          <p:nvSpPr>
            <p:cNvPr id="847" name="Google Shape;847;p9"/>
            <p:cNvSpPr/>
            <p:nvPr/>
          </p:nvSpPr>
          <p:spPr>
            <a:xfrm>
              <a:off x="598170" y="323850"/>
              <a:ext cx="1095375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Wireframes 4-6: Waiting, failure, and 'still active'</a:t>
              </a:r>
              <a:endParaRPr b="0" i="0" sz="1400" u="none" cap="none" strike="noStrike">
                <a:solidFill>
                  <a:srgbClr val="000000"/>
                </a:solidFill>
                <a:latin typeface="Arial"/>
                <a:ea typeface="Arial"/>
                <a:cs typeface="Arial"/>
                <a:sym typeface="Arial"/>
              </a:endParaRPr>
            </a:p>
          </p:txBody>
        </p:sp>
        <p:sp>
          <p:nvSpPr>
            <p:cNvPr id="848" name="Google Shape;848;p9"/>
            <p:cNvSpPr/>
            <p:nvPr/>
          </p:nvSpPr>
          <p:spPr>
            <a:xfrm>
              <a:off x="604266" y="673132"/>
              <a:ext cx="4258056"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An uncertain cancellation is never presented as success.</a:t>
              </a:r>
              <a:endParaRPr b="0" i="0" sz="1400" u="none" cap="none" strike="noStrike">
                <a:solidFill>
                  <a:srgbClr val="000000"/>
                </a:solidFill>
                <a:latin typeface="Arial"/>
                <a:ea typeface="Arial"/>
                <a:cs typeface="Arial"/>
                <a:sym typeface="Arial"/>
              </a:endParaRPr>
            </a:p>
          </p:txBody>
        </p:sp>
      </p:grpSp>
      <p:grpSp>
        <p:nvGrpSpPr>
          <p:cNvPr id="849" name="Google Shape;849;p9"/>
          <p:cNvGrpSpPr/>
          <p:nvPr/>
        </p:nvGrpSpPr>
        <p:grpSpPr>
          <a:xfrm>
            <a:off x="609600" y="952500"/>
            <a:ext cx="6829044" cy="5448300"/>
            <a:chOff x="609600" y="952500"/>
            <a:chExt cx="6829044" cy="5448300"/>
          </a:xfrm>
        </p:grpSpPr>
        <p:sp>
          <p:nvSpPr>
            <p:cNvPr id="850" name="Google Shape;850;p9"/>
            <p:cNvSpPr/>
            <p:nvPr/>
          </p:nvSpPr>
          <p:spPr>
            <a:xfrm>
              <a:off x="609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1" name="Google Shape;851;p9"/>
            <p:cNvPicPr preferRelativeResize="0"/>
            <p:nvPr/>
          </p:nvPicPr>
          <p:blipFill rotWithShape="1">
            <a:blip r:embed="rId3">
              <a:alphaModFix/>
            </a:blip>
            <a:srcRect b="0" l="0" r="0" t="0"/>
            <a:stretch/>
          </p:blipFill>
          <p:spPr>
            <a:xfrm>
              <a:off x="705517" y="1581150"/>
              <a:ext cx="1941767" cy="3629025"/>
            </a:xfrm>
            <a:prstGeom prst="rect">
              <a:avLst/>
            </a:prstGeom>
            <a:noFill/>
            <a:ln>
              <a:noFill/>
            </a:ln>
          </p:spPr>
        </p:pic>
        <p:sp>
          <p:nvSpPr>
            <p:cNvPr id="852" name="Google Shape;852;p9"/>
            <p:cNvSpPr/>
            <p:nvPr/>
          </p:nvSpPr>
          <p:spPr>
            <a:xfrm>
              <a:off x="704850" y="1581150"/>
              <a:ext cx="1943100" cy="36290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3" name="Google Shape;853;p9"/>
            <p:cNvSpPr/>
            <p:nvPr/>
          </p:nvSpPr>
          <p:spPr>
            <a:xfrm>
              <a:off x="609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854" name="Google Shape;854;p9"/>
            <p:cNvSpPr txBox="1"/>
            <p:nvPr/>
          </p:nvSpPr>
          <p:spPr>
            <a:xfrm>
              <a:off x="70008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W4</a:t>
              </a:r>
              <a:endParaRPr b="0" i="0" sz="1400" u="none" cap="none" strike="noStrike">
                <a:solidFill>
                  <a:srgbClr val="000000"/>
                </a:solidFill>
                <a:latin typeface="Arial"/>
                <a:ea typeface="Arial"/>
                <a:cs typeface="Arial"/>
                <a:sym typeface="Arial"/>
              </a:endParaRPr>
            </a:p>
          </p:txBody>
        </p:sp>
        <p:sp>
          <p:nvSpPr>
            <p:cNvPr id="855" name="Google Shape;855;p9"/>
            <p:cNvSpPr/>
            <p:nvPr/>
          </p:nvSpPr>
          <p:spPr>
            <a:xfrm>
              <a:off x="699516" y="6150007"/>
              <a:ext cx="2017776"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Checking latest status</a:t>
              </a:r>
              <a:endParaRPr b="0" i="0" sz="1400" u="none" cap="none" strike="noStrike">
                <a:solidFill>
                  <a:srgbClr val="000000"/>
                </a:solidFill>
                <a:latin typeface="Arial"/>
                <a:ea typeface="Arial"/>
                <a:cs typeface="Arial"/>
                <a:sym typeface="Arial"/>
              </a:endParaRPr>
            </a:p>
          </p:txBody>
        </p:sp>
        <p:sp>
          <p:nvSpPr>
            <p:cNvPr id="856" name="Google Shape;856;p9"/>
            <p:cNvSpPr/>
            <p:nvPr/>
          </p:nvSpPr>
          <p:spPr>
            <a:xfrm>
              <a:off x="2895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57" name="Google Shape;857;p9"/>
            <p:cNvPicPr preferRelativeResize="0"/>
            <p:nvPr/>
          </p:nvPicPr>
          <p:blipFill rotWithShape="1">
            <a:blip r:embed="rId4">
              <a:alphaModFix/>
            </a:blip>
            <a:srcRect b="0" l="0" r="0" t="0"/>
            <a:stretch/>
          </p:blipFill>
          <p:spPr>
            <a:xfrm>
              <a:off x="2990945" y="1238250"/>
              <a:ext cx="1942814" cy="4314825"/>
            </a:xfrm>
            <a:prstGeom prst="rect">
              <a:avLst/>
            </a:prstGeom>
            <a:noFill/>
            <a:ln>
              <a:noFill/>
            </a:ln>
          </p:spPr>
        </p:pic>
        <p:sp>
          <p:nvSpPr>
            <p:cNvPr id="858" name="Google Shape;858;p9"/>
            <p:cNvSpPr/>
            <p:nvPr/>
          </p:nvSpPr>
          <p:spPr>
            <a:xfrm>
              <a:off x="2990850" y="1238250"/>
              <a:ext cx="1943100" cy="43148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9" name="Google Shape;859;p9"/>
            <p:cNvSpPr/>
            <p:nvPr/>
          </p:nvSpPr>
          <p:spPr>
            <a:xfrm>
              <a:off x="2895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860" name="Google Shape;860;p9"/>
            <p:cNvSpPr txBox="1"/>
            <p:nvPr/>
          </p:nvSpPr>
          <p:spPr>
            <a:xfrm>
              <a:off x="2986088" y="5962650"/>
              <a:ext cx="3044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W6a</a:t>
              </a:r>
              <a:endParaRPr b="0" i="0" sz="1400" u="none" cap="none" strike="noStrike">
                <a:solidFill>
                  <a:srgbClr val="000000"/>
                </a:solidFill>
                <a:latin typeface="Arial"/>
                <a:ea typeface="Arial"/>
                <a:cs typeface="Arial"/>
                <a:sym typeface="Arial"/>
              </a:endParaRPr>
            </a:p>
          </p:txBody>
        </p:sp>
        <p:sp>
          <p:nvSpPr>
            <p:cNvPr id="861" name="Google Shape;861;p9"/>
            <p:cNvSpPr/>
            <p:nvPr/>
          </p:nvSpPr>
          <p:spPr>
            <a:xfrm>
              <a:off x="2985516" y="6150007"/>
              <a:ext cx="2017776"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Preview failed - unchanged</a:t>
              </a:r>
              <a:endParaRPr b="0" i="0" sz="1400" u="none" cap="none" strike="noStrike">
                <a:solidFill>
                  <a:srgbClr val="000000"/>
                </a:solidFill>
                <a:latin typeface="Arial"/>
                <a:ea typeface="Arial"/>
                <a:cs typeface="Arial"/>
                <a:sym typeface="Arial"/>
              </a:endParaRPr>
            </a:p>
          </p:txBody>
        </p:sp>
        <p:sp>
          <p:nvSpPr>
            <p:cNvPr id="862" name="Google Shape;862;p9"/>
            <p:cNvSpPr/>
            <p:nvPr/>
          </p:nvSpPr>
          <p:spPr>
            <a:xfrm>
              <a:off x="5181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63" name="Google Shape;863;p9"/>
            <p:cNvPicPr preferRelativeResize="0"/>
            <p:nvPr/>
          </p:nvPicPr>
          <p:blipFill rotWithShape="1">
            <a:blip r:embed="rId5">
              <a:alphaModFix/>
            </a:blip>
            <a:srcRect b="0" l="0" r="0" t="0"/>
            <a:stretch/>
          </p:blipFill>
          <p:spPr>
            <a:xfrm>
              <a:off x="5276945" y="1238250"/>
              <a:ext cx="1942814" cy="4314825"/>
            </a:xfrm>
            <a:prstGeom prst="rect">
              <a:avLst/>
            </a:prstGeom>
            <a:noFill/>
            <a:ln>
              <a:noFill/>
            </a:ln>
          </p:spPr>
        </p:pic>
        <p:sp>
          <p:nvSpPr>
            <p:cNvPr id="864" name="Google Shape;864;p9"/>
            <p:cNvSpPr/>
            <p:nvPr/>
          </p:nvSpPr>
          <p:spPr>
            <a:xfrm>
              <a:off x="5276850" y="1238250"/>
              <a:ext cx="1943100" cy="43148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p9"/>
            <p:cNvSpPr/>
            <p:nvPr/>
          </p:nvSpPr>
          <p:spPr>
            <a:xfrm>
              <a:off x="5181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866" name="Google Shape;866;p9"/>
            <p:cNvSpPr txBox="1"/>
            <p:nvPr/>
          </p:nvSpPr>
          <p:spPr>
            <a:xfrm>
              <a:off x="5272088" y="5962650"/>
              <a:ext cx="31465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W6b</a:t>
              </a:r>
              <a:endParaRPr b="0" i="0" sz="1400" u="none" cap="none" strike="noStrike">
                <a:solidFill>
                  <a:srgbClr val="000000"/>
                </a:solidFill>
                <a:latin typeface="Arial"/>
                <a:ea typeface="Arial"/>
                <a:cs typeface="Arial"/>
                <a:sym typeface="Arial"/>
              </a:endParaRPr>
            </a:p>
          </p:txBody>
        </p:sp>
        <p:sp>
          <p:nvSpPr>
            <p:cNvPr id="867" name="Google Shape;867;p9"/>
            <p:cNvSpPr/>
            <p:nvPr/>
          </p:nvSpPr>
          <p:spPr>
            <a:xfrm>
              <a:off x="5271516" y="6150007"/>
              <a:ext cx="2167128"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Still active - safe to retry</a:t>
              </a:r>
              <a:endParaRPr b="0" i="0" sz="1400" u="none" cap="none" strike="noStrike">
                <a:solidFill>
                  <a:srgbClr val="000000"/>
                </a:solidFill>
                <a:latin typeface="Arial"/>
                <a:ea typeface="Arial"/>
                <a:cs typeface="Arial"/>
                <a:sym typeface="Arial"/>
              </a:endParaRPr>
            </a:p>
          </p:txBody>
        </p:sp>
      </p:grpSp>
      <p:sp>
        <p:nvSpPr>
          <p:cNvPr id="868" name="Google Shape;868;p9"/>
          <p:cNvSpPr/>
          <p:nvPr/>
        </p:nvSpPr>
        <p:spPr>
          <a:xfrm>
            <a:off x="604838" y="6477000"/>
            <a:ext cx="476250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Scenario data (synthetic): status checks are simulated</a:t>
            </a:r>
            <a:endParaRPr b="0" i="0" sz="1400" u="none" cap="none" strike="noStrike">
              <a:solidFill>
                <a:srgbClr val="000000"/>
              </a:solidFill>
              <a:latin typeface="Arial"/>
              <a:ea typeface="Arial"/>
              <a:cs typeface="Arial"/>
              <a:sym typeface="Arial"/>
            </a:endParaRPr>
          </a:p>
        </p:txBody>
      </p:sp>
      <p:grpSp>
        <p:nvGrpSpPr>
          <p:cNvPr id="869" name="Google Shape;869;p9"/>
          <p:cNvGrpSpPr/>
          <p:nvPr/>
        </p:nvGrpSpPr>
        <p:grpSpPr>
          <a:xfrm>
            <a:off x="7613142" y="1016000"/>
            <a:ext cx="4430078" cy="5369465"/>
            <a:chOff x="7613142" y="1016000"/>
            <a:chExt cx="4430078" cy="5369465"/>
          </a:xfrm>
        </p:grpSpPr>
        <p:sp>
          <p:nvSpPr>
            <p:cNvPr id="870" name="Google Shape;870;p9"/>
            <p:cNvSpPr txBox="1"/>
            <p:nvPr/>
          </p:nvSpPr>
          <p:spPr>
            <a:xfrm>
              <a:off x="7615047" y="1016000"/>
              <a:ext cx="83292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DESIGNER</a:t>
              </a:r>
              <a:endParaRPr b="0" i="0" sz="1400" u="none" cap="none" strike="noStrike">
                <a:solidFill>
                  <a:srgbClr val="000000"/>
                </a:solidFill>
                <a:latin typeface="Arial"/>
                <a:ea typeface="Arial"/>
                <a:cs typeface="Arial"/>
                <a:sym typeface="Arial"/>
              </a:endParaRPr>
            </a:p>
          </p:txBody>
        </p:sp>
        <p:sp>
          <p:nvSpPr>
            <p:cNvPr id="871" name="Google Shape;871;p9"/>
            <p:cNvSpPr/>
            <p:nvPr/>
          </p:nvSpPr>
          <p:spPr>
            <a:xfrm>
              <a:off x="7620000" y="12287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872" name="Google Shape;872;p9"/>
            <p:cNvSpPr/>
            <p:nvPr/>
          </p:nvSpPr>
          <p:spPr>
            <a:xfrm>
              <a:off x="7613142" y="13589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All</a:t>
              </a:r>
              <a:endParaRPr b="0" i="0" sz="1400" u="none" cap="none" strike="noStrike">
                <a:solidFill>
                  <a:srgbClr val="000000"/>
                </a:solidFill>
                <a:latin typeface="Arial"/>
                <a:ea typeface="Arial"/>
                <a:cs typeface="Arial"/>
                <a:sym typeface="Arial"/>
              </a:endParaRPr>
            </a:p>
          </p:txBody>
        </p:sp>
        <p:sp>
          <p:nvSpPr>
            <p:cNvPr id="873" name="Google Shape;873;p9"/>
            <p:cNvSpPr/>
            <p:nvPr/>
          </p:nvSpPr>
          <p:spPr>
            <a:xfrm>
              <a:off x="8489442" y="1358932"/>
              <a:ext cx="318230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Visibility of system status -</a:t>
              </a:r>
              <a:endParaRPr b="0" i="0" sz="1400" u="none" cap="none" strike="noStrike">
                <a:solidFill>
                  <a:srgbClr val="000000"/>
                </a:solidFill>
                <a:latin typeface="Arial"/>
                <a:ea typeface="Arial"/>
                <a:cs typeface="Arial"/>
                <a:sym typeface="Arial"/>
              </a:endParaRPr>
            </a:p>
          </p:txBody>
        </p:sp>
        <p:sp>
          <p:nvSpPr>
            <p:cNvPr id="874" name="Google Shape;874;p9"/>
            <p:cNvSpPr/>
            <p:nvPr/>
          </p:nvSpPr>
          <p:spPr>
            <a:xfrm>
              <a:off x="8489442" y="1587532"/>
              <a:ext cx="349377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each state is visually distinct.</a:t>
              </a:r>
              <a:endParaRPr b="0" i="0" sz="1400" u="none" cap="none" strike="noStrike">
                <a:solidFill>
                  <a:srgbClr val="000000"/>
                </a:solidFill>
                <a:latin typeface="Arial"/>
                <a:ea typeface="Arial"/>
                <a:cs typeface="Arial"/>
                <a:sym typeface="Arial"/>
              </a:endParaRPr>
            </a:p>
          </p:txBody>
        </p:sp>
        <p:sp>
          <p:nvSpPr>
            <p:cNvPr id="875" name="Google Shape;875;p9"/>
            <p:cNvSpPr/>
            <p:nvPr/>
          </p:nvSpPr>
          <p:spPr>
            <a:xfrm>
              <a:off x="7613142" y="1930432"/>
              <a:ext cx="39433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W4</a:t>
              </a:r>
              <a:endParaRPr b="0" i="0" sz="1400" u="none" cap="none" strike="noStrike">
                <a:solidFill>
                  <a:srgbClr val="000000"/>
                </a:solidFill>
                <a:latin typeface="Arial"/>
                <a:ea typeface="Arial"/>
                <a:cs typeface="Arial"/>
                <a:sym typeface="Arial"/>
              </a:endParaRPr>
            </a:p>
          </p:txBody>
        </p:sp>
        <p:sp>
          <p:nvSpPr>
            <p:cNvPr id="876" name="Google Shape;876;p9"/>
            <p:cNvSpPr/>
            <p:nvPr/>
          </p:nvSpPr>
          <p:spPr>
            <a:xfrm>
              <a:off x="8489442" y="19304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Preserved context - waiting keeps</a:t>
              </a:r>
              <a:endParaRPr b="0" i="0" sz="1400" u="none" cap="none" strike="noStrike">
                <a:solidFill>
                  <a:srgbClr val="000000"/>
                </a:solidFill>
                <a:latin typeface="Arial"/>
                <a:ea typeface="Arial"/>
                <a:cs typeface="Arial"/>
                <a:sym typeface="Arial"/>
              </a:endParaRPr>
            </a:p>
          </p:txBody>
        </p:sp>
        <p:sp>
          <p:nvSpPr>
            <p:cNvPr id="877" name="Google Shape;877;p9"/>
            <p:cNvSpPr/>
            <p:nvPr/>
          </p:nvSpPr>
          <p:spPr>
            <a:xfrm>
              <a:off x="8489442" y="2159032"/>
              <a:ext cx="318230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the thread: leave and return.</a:t>
              </a:r>
              <a:endParaRPr b="0" i="0" sz="1400" u="none" cap="none" strike="noStrike">
                <a:solidFill>
                  <a:srgbClr val="000000"/>
                </a:solidFill>
                <a:latin typeface="Arial"/>
                <a:ea typeface="Arial"/>
                <a:cs typeface="Arial"/>
                <a:sym typeface="Arial"/>
              </a:endParaRPr>
            </a:p>
          </p:txBody>
        </p:sp>
        <p:sp>
          <p:nvSpPr>
            <p:cNvPr id="878" name="Google Shape;878;p9"/>
            <p:cNvSpPr txBox="1"/>
            <p:nvPr/>
          </p:nvSpPr>
          <p:spPr>
            <a:xfrm>
              <a:off x="7615047" y="2768600"/>
              <a:ext cx="952495"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4A7C6F"/>
                  </a:solidFill>
                  <a:latin typeface="Quattrocento Sans"/>
                  <a:ea typeface="Quattrocento Sans"/>
                  <a:cs typeface="Quattrocento Sans"/>
                  <a:sym typeface="Quattrocento Sans"/>
                </a:rPr>
                <a:t>DEVELOPER</a:t>
              </a:r>
              <a:endParaRPr b="0" i="0" sz="1400" u="none" cap="none" strike="noStrike">
                <a:solidFill>
                  <a:srgbClr val="000000"/>
                </a:solidFill>
                <a:latin typeface="Arial"/>
                <a:ea typeface="Arial"/>
                <a:cs typeface="Arial"/>
                <a:sym typeface="Arial"/>
              </a:endParaRPr>
            </a:p>
          </p:txBody>
        </p:sp>
        <p:sp>
          <p:nvSpPr>
            <p:cNvPr id="879" name="Google Shape;879;p9"/>
            <p:cNvSpPr/>
            <p:nvPr/>
          </p:nvSpPr>
          <p:spPr>
            <a:xfrm>
              <a:off x="7620000" y="29813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880" name="Google Shape;880;p9"/>
            <p:cNvSpPr/>
            <p:nvPr/>
          </p:nvSpPr>
          <p:spPr>
            <a:xfrm>
              <a:off x="7613142" y="3111532"/>
              <a:ext cx="39433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W4</a:t>
              </a:r>
              <a:endParaRPr b="0" i="0" sz="1400" u="none" cap="none" strike="noStrike">
                <a:solidFill>
                  <a:srgbClr val="000000"/>
                </a:solidFill>
                <a:latin typeface="Arial"/>
                <a:ea typeface="Arial"/>
                <a:cs typeface="Arial"/>
                <a:sym typeface="Arial"/>
              </a:endParaRPr>
            </a:p>
          </p:txBody>
        </p:sp>
        <p:sp>
          <p:nvSpPr>
            <p:cNvPr id="881" name="Google Shape;881;p9"/>
            <p:cNvSpPr/>
            <p:nvPr/>
          </p:nvSpPr>
          <p:spPr>
            <a:xfrm>
              <a:off x="8489442" y="3111532"/>
              <a:ext cx="318230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Confirm timeout → recheck via</a:t>
              </a:r>
              <a:endParaRPr b="0" i="0" sz="1400" u="none" cap="none" strike="noStrike">
                <a:solidFill>
                  <a:srgbClr val="000000"/>
                </a:solidFill>
                <a:latin typeface="Arial"/>
                <a:ea typeface="Arial"/>
                <a:cs typeface="Arial"/>
                <a:sym typeface="Arial"/>
              </a:endParaRPr>
            </a:p>
          </p:txBody>
        </p:sp>
        <p:sp>
          <p:nvSpPr>
            <p:cNvPr id="882" name="Google Shape;882;p9"/>
            <p:cNvSpPr/>
            <p:nvPr/>
          </p:nvSpPr>
          <p:spPr>
            <a:xfrm>
              <a:off x="8489442" y="3340132"/>
              <a:ext cx="33899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Booking Details (&gt;=3 tries / 15</a:t>
              </a:r>
              <a:endParaRPr b="0" i="0" sz="1400" u="none" cap="none" strike="noStrike">
                <a:solidFill>
                  <a:srgbClr val="000000"/>
                </a:solidFill>
                <a:latin typeface="Arial"/>
                <a:ea typeface="Arial"/>
                <a:cs typeface="Arial"/>
                <a:sym typeface="Arial"/>
              </a:endParaRPr>
            </a:p>
          </p:txBody>
        </p:sp>
        <p:sp>
          <p:nvSpPr>
            <p:cNvPr id="883" name="Google Shape;883;p9"/>
            <p:cNvSpPr/>
            <p:nvPr/>
          </p:nvSpPr>
          <p:spPr>
            <a:xfrm>
              <a:off x="8489442" y="3568732"/>
              <a:ext cx="245554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min) before any claim.</a:t>
              </a:r>
              <a:endParaRPr b="0" i="0" sz="1400" u="none" cap="none" strike="noStrike">
                <a:solidFill>
                  <a:srgbClr val="000000"/>
                </a:solidFill>
                <a:latin typeface="Arial"/>
                <a:ea typeface="Arial"/>
                <a:cs typeface="Arial"/>
                <a:sym typeface="Arial"/>
              </a:endParaRPr>
            </a:p>
          </p:txBody>
        </p:sp>
        <p:sp>
          <p:nvSpPr>
            <p:cNvPr id="884" name="Google Shape;884;p9"/>
            <p:cNvSpPr/>
            <p:nvPr/>
          </p:nvSpPr>
          <p:spPr>
            <a:xfrm>
              <a:off x="7613142" y="39116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W6a</a:t>
              </a:r>
              <a:endParaRPr b="0" i="0" sz="1400" u="none" cap="none" strike="noStrike">
                <a:solidFill>
                  <a:srgbClr val="000000"/>
                </a:solidFill>
                <a:latin typeface="Arial"/>
                <a:ea typeface="Arial"/>
                <a:cs typeface="Arial"/>
                <a:sym typeface="Arial"/>
              </a:endParaRPr>
            </a:p>
          </p:txBody>
        </p:sp>
        <p:sp>
          <p:nvSpPr>
            <p:cNvPr id="885" name="Google Shape;885;p9"/>
            <p:cNvSpPr/>
            <p:nvPr/>
          </p:nvSpPr>
          <p:spPr>
            <a:xfrm>
              <a:off x="8489442" y="39116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A failed preview is separated from</a:t>
              </a:r>
              <a:endParaRPr b="0" i="0" sz="1400" u="none" cap="none" strike="noStrike">
                <a:solidFill>
                  <a:srgbClr val="000000"/>
                </a:solidFill>
                <a:latin typeface="Arial"/>
                <a:ea typeface="Arial"/>
                <a:cs typeface="Arial"/>
                <a:sym typeface="Arial"/>
              </a:endParaRPr>
            </a:p>
          </p:txBody>
        </p:sp>
        <p:sp>
          <p:nvSpPr>
            <p:cNvPr id="886" name="Google Shape;886;p9"/>
            <p:cNvSpPr/>
            <p:nvPr/>
          </p:nvSpPr>
          <p:spPr>
            <a:xfrm>
              <a:off x="8489442" y="4140232"/>
              <a:ext cx="245554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an ineligible booking.</a:t>
              </a:r>
              <a:endParaRPr b="0" i="0" sz="1400" u="none" cap="none" strike="noStrike">
                <a:solidFill>
                  <a:srgbClr val="000000"/>
                </a:solidFill>
                <a:latin typeface="Arial"/>
                <a:ea typeface="Arial"/>
                <a:cs typeface="Arial"/>
                <a:sym typeface="Arial"/>
              </a:endParaRPr>
            </a:p>
          </p:txBody>
        </p:sp>
        <p:sp>
          <p:nvSpPr>
            <p:cNvPr id="887" name="Google Shape;887;p9"/>
            <p:cNvSpPr/>
            <p:nvPr/>
          </p:nvSpPr>
          <p:spPr>
            <a:xfrm>
              <a:off x="7613142" y="44831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W6b</a:t>
              </a:r>
              <a:endParaRPr b="0" i="0" sz="1400" u="none" cap="none" strike="noStrike">
                <a:solidFill>
                  <a:srgbClr val="000000"/>
                </a:solidFill>
                <a:latin typeface="Arial"/>
                <a:ea typeface="Arial"/>
                <a:cs typeface="Arial"/>
                <a:sym typeface="Arial"/>
              </a:endParaRPr>
            </a:p>
          </p:txBody>
        </p:sp>
        <p:sp>
          <p:nvSpPr>
            <p:cNvPr id="888" name="Google Shape;888;p9"/>
            <p:cNvSpPr/>
            <p:nvPr/>
          </p:nvSpPr>
          <p:spPr>
            <a:xfrm>
              <a:off x="8489442" y="4483132"/>
              <a:ext cx="355377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The latest status check shows the</a:t>
              </a:r>
              <a:endParaRPr b="0" i="0" sz="1400" u="none" cap="none" strike="noStrike">
                <a:solidFill>
                  <a:srgbClr val="000000"/>
                </a:solidFill>
                <a:latin typeface="Arial"/>
                <a:ea typeface="Arial"/>
                <a:cs typeface="Arial"/>
                <a:sym typeface="Arial"/>
              </a:endParaRPr>
            </a:p>
          </p:txBody>
        </p:sp>
        <p:sp>
          <p:nvSpPr>
            <p:cNvPr id="889" name="Google Shape;889;p9"/>
            <p:cNvSpPr/>
            <p:nvPr/>
          </p:nvSpPr>
          <p:spPr>
            <a:xfrm>
              <a:off x="8489442" y="4711732"/>
              <a:ext cx="266319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booking is still active.</a:t>
              </a:r>
              <a:endParaRPr b="0" i="0" sz="1400" u="none" cap="none" strike="noStrike">
                <a:solidFill>
                  <a:srgbClr val="000000"/>
                </a:solidFill>
                <a:latin typeface="Arial"/>
                <a:ea typeface="Arial"/>
                <a:cs typeface="Arial"/>
                <a:sym typeface="Arial"/>
              </a:endParaRPr>
            </a:p>
          </p:txBody>
        </p:sp>
        <p:sp>
          <p:nvSpPr>
            <p:cNvPr id="890" name="Google Shape;890;p9"/>
            <p:cNvSpPr txBox="1"/>
            <p:nvPr/>
          </p:nvSpPr>
          <p:spPr>
            <a:xfrm>
              <a:off x="7615047" y="5321300"/>
              <a:ext cx="81229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BUSINESS</a:t>
              </a:r>
              <a:endParaRPr b="0" i="0" sz="1400" u="none" cap="none" strike="noStrike">
                <a:solidFill>
                  <a:srgbClr val="000000"/>
                </a:solidFill>
                <a:latin typeface="Arial"/>
                <a:ea typeface="Arial"/>
                <a:cs typeface="Arial"/>
                <a:sym typeface="Arial"/>
              </a:endParaRPr>
            </a:p>
          </p:txBody>
        </p:sp>
        <p:sp>
          <p:nvSpPr>
            <p:cNvPr id="891" name="Google Shape;891;p9"/>
            <p:cNvSpPr/>
            <p:nvPr/>
          </p:nvSpPr>
          <p:spPr>
            <a:xfrm>
              <a:off x="7620000" y="55340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892" name="Google Shape;892;p9"/>
            <p:cNvSpPr/>
            <p:nvPr/>
          </p:nvSpPr>
          <p:spPr>
            <a:xfrm>
              <a:off x="7613142" y="56642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All</a:t>
              </a:r>
              <a:endParaRPr b="0" i="0" sz="1400" u="none" cap="none" strike="noStrike">
                <a:solidFill>
                  <a:srgbClr val="000000"/>
                </a:solidFill>
                <a:latin typeface="Arial"/>
                <a:ea typeface="Arial"/>
                <a:cs typeface="Arial"/>
                <a:sym typeface="Arial"/>
              </a:endParaRPr>
            </a:p>
          </p:txBody>
        </p:sp>
        <p:sp>
          <p:nvSpPr>
            <p:cNvPr id="893" name="Google Shape;893;p9"/>
            <p:cNvSpPr/>
            <p:nvPr/>
          </p:nvSpPr>
          <p:spPr>
            <a:xfrm>
              <a:off x="8489442" y="5664232"/>
              <a:ext cx="318230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Hypothesis to measure: honest</a:t>
              </a:r>
              <a:endParaRPr b="0" i="0" sz="1400" u="none" cap="none" strike="noStrike">
                <a:solidFill>
                  <a:srgbClr val="000000"/>
                </a:solidFill>
                <a:latin typeface="Arial"/>
                <a:ea typeface="Arial"/>
                <a:cs typeface="Arial"/>
                <a:sym typeface="Arial"/>
              </a:endParaRPr>
            </a:p>
          </p:txBody>
        </p:sp>
        <p:sp>
          <p:nvSpPr>
            <p:cNvPr id="894" name="Google Shape;894;p9"/>
            <p:cNvSpPr/>
            <p:nvPr/>
          </p:nvSpPr>
          <p:spPr>
            <a:xfrm>
              <a:off x="8489442" y="5892832"/>
              <a:ext cx="276701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states preserve rebooking</a:t>
              </a:r>
              <a:endParaRPr b="0" i="0" sz="1400" u="none" cap="none" strike="noStrike">
                <a:solidFill>
                  <a:srgbClr val="000000"/>
                </a:solidFill>
                <a:latin typeface="Arial"/>
                <a:ea typeface="Arial"/>
                <a:cs typeface="Arial"/>
                <a:sym typeface="Arial"/>
              </a:endParaRPr>
            </a:p>
          </p:txBody>
        </p:sp>
        <p:sp>
          <p:nvSpPr>
            <p:cNvPr id="895" name="Google Shape;895;p9"/>
            <p:cNvSpPr/>
            <p:nvPr/>
          </p:nvSpPr>
          <p:spPr>
            <a:xfrm>
              <a:off x="8489442" y="6121432"/>
              <a:ext cx="131349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confidence.</a:t>
              </a:r>
              <a:endParaRPr b="0" i="0" sz="1400" u="none" cap="none" strike="noStrike">
                <a:solidFill>
                  <a:srgbClr val="000000"/>
                </a:solidFill>
                <a:latin typeface="Arial"/>
                <a:ea typeface="Arial"/>
                <a:cs typeface="Arial"/>
                <a:sym typeface="Arial"/>
              </a:endParaRPr>
            </a:p>
          </p:txBody>
        </p:sp>
      </p:grpSp>
      <p:sp>
        <p:nvSpPr>
          <p:cNvPr id="896" name="Google Shape;896;p9"/>
          <p:cNvSpPr/>
          <p:nvPr/>
        </p:nvSpPr>
        <p:spPr>
          <a:xfrm>
            <a:off x="11436858" y="6445282"/>
            <a:ext cx="150876"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11</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900" name="Shape 900"/>
        <p:cNvGrpSpPr/>
        <p:nvPr/>
      </p:nvGrpSpPr>
      <p:grpSpPr>
        <a:xfrm>
          <a:off x="0" y="0"/>
          <a:ext cx="0" cy="0"/>
          <a:chOff x="0" y="0"/>
          <a:chExt cx="0" cy="0"/>
        </a:xfrm>
      </p:grpSpPr>
      <p:grpSp>
        <p:nvGrpSpPr>
          <p:cNvPr id="901" name="Google Shape;901;p10"/>
          <p:cNvGrpSpPr/>
          <p:nvPr/>
        </p:nvGrpSpPr>
        <p:grpSpPr>
          <a:xfrm>
            <a:off x="598170" y="133350"/>
            <a:ext cx="10984230" cy="745141"/>
            <a:chOff x="598170" y="133350"/>
            <a:chExt cx="10984230" cy="745141"/>
          </a:xfrm>
        </p:grpSpPr>
        <p:sp>
          <p:nvSpPr>
            <p:cNvPr id="902" name="Google Shape;902;p10"/>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903" name="Google Shape;903;p10"/>
            <p:cNvSpPr txBox="1"/>
            <p:nvPr/>
          </p:nvSpPr>
          <p:spPr>
            <a:xfrm>
              <a:off x="604838" y="209550"/>
              <a:ext cx="3046291"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WIREFRAMES · ASSISTED PATHS</a:t>
              </a:r>
              <a:endParaRPr b="0" i="0" sz="1400" u="none" cap="none" strike="noStrike">
                <a:solidFill>
                  <a:srgbClr val="000000"/>
                </a:solidFill>
                <a:latin typeface="Arial"/>
                <a:ea typeface="Arial"/>
                <a:cs typeface="Arial"/>
                <a:sym typeface="Arial"/>
              </a:endParaRPr>
            </a:p>
          </p:txBody>
        </p:sp>
        <p:sp>
          <p:nvSpPr>
            <p:cNvPr id="904" name="Google Shape;904;p10"/>
            <p:cNvSpPr/>
            <p:nvPr/>
          </p:nvSpPr>
          <p:spPr>
            <a:xfrm>
              <a:off x="598170" y="323850"/>
              <a:ext cx="1095375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Wireframes 6c-7: Support with context, and clear no's</a:t>
              </a:r>
              <a:endParaRPr b="0" i="0" sz="1400" u="none" cap="none" strike="noStrike">
                <a:solidFill>
                  <a:srgbClr val="000000"/>
                </a:solidFill>
                <a:latin typeface="Arial"/>
                <a:ea typeface="Arial"/>
                <a:cs typeface="Arial"/>
                <a:sym typeface="Arial"/>
              </a:endParaRPr>
            </a:p>
          </p:txBody>
        </p:sp>
        <p:sp>
          <p:nvSpPr>
            <p:cNvPr id="905" name="Google Shape;905;p10"/>
            <p:cNvSpPr/>
            <p:nvPr/>
          </p:nvSpPr>
          <p:spPr>
            <a:xfrm>
              <a:off x="604266" y="673132"/>
              <a:ext cx="5676900"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When the app cannot resolve it, support starts where the customer left off.</a:t>
              </a:r>
              <a:endParaRPr b="0" i="0" sz="1400" u="none" cap="none" strike="noStrike">
                <a:solidFill>
                  <a:srgbClr val="000000"/>
                </a:solidFill>
                <a:latin typeface="Arial"/>
                <a:ea typeface="Arial"/>
                <a:cs typeface="Arial"/>
                <a:sym typeface="Arial"/>
              </a:endParaRPr>
            </a:p>
          </p:txBody>
        </p:sp>
      </p:grpSp>
      <p:grpSp>
        <p:nvGrpSpPr>
          <p:cNvPr id="906" name="Google Shape;906;p10"/>
          <p:cNvGrpSpPr/>
          <p:nvPr/>
        </p:nvGrpSpPr>
        <p:grpSpPr>
          <a:xfrm>
            <a:off x="609600" y="952500"/>
            <a:ext cx="6705600" cy="5448300"/>
            <a:chOff x="609600" y="952500"/>
            <a:chExt cx="6705600" cy="5448300"/>
          </a:xfrm>
        </p:grpSpPr>
        <p:sp>
          <p:nvSpPr>
            <p:cNvPr id="907" name="Google Shape;907;p10"/>
            <p:cNvSpPr/>
            <p:nvPr/>
          </p:nvSpPr>
          <p:spPr>
            <a:xfrm>
              <a:off x="609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8" name="Google Shape;908;p10"/>
            <p:cNvPicPr preferRelativeResize="0"/>
            <p:nvPr/>
          </p:nvPicPr>
          <p:blipFill rotWithShape="1">
            <a:blip r:embed="rId3">
              <a:alphaModFix/>
            </a:blip>
            <a:srcRect b="0" l="0" r="0" t="0"/>
            <a:stretch/>
          </p:blipFill>
          <p:spPr>
            <a:xfrm>
              <a:off x="704945" y="1238250"/>
              <a:ext cx="1942814" cy="4314825"/>
            </a:xfrm>
            <a:prstGeom prst="rect">
              <a:avLst/>
            </a:prstGeom>
            <a:noFill/>
            <a:ln>
              <a:noFill/>
            </a:ln>
          </p:spPr>
        </p:pic>
        <p:sp>
          <p:nvSpPr>
            <p:cNvPr id="909" name="Google Shape;909;p10"/>
            <p:cNvSpPr/>
            <p:nvPr/>
          </p:nvSpPr>
          <p:spPr>
            <a:xfrm>
              <a:off x="704850" y="1238250"/>
              <a:ext cx="1943100" cy="43148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p10"/>
            <p:cNvSpPr/>
            <p:nvPr/>
          </p:nvSpPr>
          <p:spPr>
            <a:xfrm>
              <a:off x="609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911" name="Google Shape;911;p10"/>
            <p:cNvSpPr txBox="1"/>
            <p:nvPr/>
          </p:nvSpPr>
          <p:spPr>
            <a:xfrm>
              <a:off x="700088" y="5962650"/>
              <a:ext cx="297195"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W6c</a:t>
              </a:r>
              <a:endParaRPr b="0" i="0" sz="1400" u="none" cap="none" strike="noStrike">
                <a:solidFill>
                  <a:srgbClr val="000000"/>
                </a:solidFill>
                <a:latin typeface="Arial"/>
                <a:ea typeface="Arial"/>
                <a:cs typeface="Arial"/>
                <a:sym typeface="Arial"/>
              </a:endParaRPr>
            </a:p>
          </p:txBody>
        </p:sp>
        <p:sp>
          <p:nvSpPr>
            <p:cNvPr id="912" name="Google Shape;912;p10"/>
            <p:cNvSpPr/>
            <p:nvPr/>
          </p:nvSpPr>
          <p:spPr>
            <a:xfrm>
              <a:off x="699516" y="6150007"/>
              <a:ext cx="1793748"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Status unclear - verify</a:t>
              </a:r>
              <a:endParaRPr b="0" i="0" sz="1400" u="none" cap="none" strike="noStrike">
                <a:solidFill>
                  <a:srgbClr val="000000"/>
                </a:solidFill>
                <a:latin typeface="Arial"/>
                <a:ea typeface="Arial"/>
                <a:cs typeface="Arial"/>
                <a:sym typeface="Arial"/>
              </a:endParaRPr>
            </a:p>
          </p:txBody>
        </p:sp>
        <p:sp>
          <p:nvSpPr>
            <p:cNvPr id="913" name="Google Shape;913;p10"/>
            <p:cNvSpPr/>
            <p:nvPr/>
          </p:nvSpPr>
          <p:spPr>
            <a:xfrm>
              <a:off x="2895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14" name="Google Shape;914;p10"/>
            <p:cNvPicPr preferRelativeResize="0"/>
            <p:nvPr/>
          </p:nvPicPr>
          <p:blipFill rotWithShape="1">
            <a:blip r:embed="rId4">
              <a:alphaModFix/>
            </a:blip>
            <a:srcRect b="0" l="0" r="0" t="0"/>
            <a:stretch/>
          </p:blipFill>
          <p:spPr>
            <a:xfrm>
              <a:off x="2990945" y="1238250"/>
              <a:ext cx="1942814" cy="4314825"/>
            </a:xfrm>
            <a:prstGeom prst="rect">
              <a:avLst/>
            </a:prstGeom>
            <a:noFill/>
            <a:ln>
              <a:noFill/>
            </a:ln>
          </p:spPr>
        </p:pic>
        <p:sp>
          <p:nvSpPr>
            <p:cNvPr id="915" name="Google Shape;915;p10"/>
            <p:cNvSpPr/>
            <p:nvPr/>
          </p:nvSpPr>
          <p:spPr>
            <a:xfrm>
              <a:off x="2990850" y="1238250"/>
              <a:ext cx="1943100" cy="43148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6" name="Google Shape;916;p10"/>
            <p:cNvSpPr/>
            <p:nvPr/>
          </p:nvSpPr>
          <p:spPr>
            <a:xfrm>
              <a:off x="2895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917" name="Google Shape;917;p10"/>
            <p:cNvSpPr txBox="1"/>
            <p:nvPr/>
          </p:nvSpPr>
          <p:spPr>
            <a:xfrm>
              <a:off x="2986088" y="5962650"/>
              <a:ext cx="227734"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W7</a:t>
              </a:r>
              <a:endParaRPr b="0" i="0" sz="1400" u="none" cap="none" strike="noStrike">
                <a:solidFill>
                  <a:srgbClr val="000000"/>
                </a:solidFill>
                <a:latin typeface="Arial"/>
                <a:ea typeface="Arial"/>
                <a:cs typeface="Arial"/>
                <a:sym typeface="Arial"/>
              </a:endParaRPr>
            </a:p>
          </p:txBody>
        </p:sp>
        <p:sp>
          <p:nvSpPr>
            <p:cNvPr id="918" name="Google Shape;918;p10"/>
            <p:cNvSpPr/>
            <p:nvPr/>
          </p:nvSpPr>
          <p:spPr>
            <a:xfrm>
              <a:off x="2985516" y="6150007"/>
              <a:ext cx="2092452"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Support request - prefilled</a:t>
              </a:r>
              <a:endParaRPr b="0" i="0" sz="1400" u="none" cap="none" strike="noStrike">
                <a:solidFill>
                  <a:srgbClr val="000000"/>
                </a:solidFill>
                <a:latin typeface="Arial"/>
                <a:ea typeface="Arial"/>
                <a:cs typeface="Arial"/>
                <a:sym typeface="Arial"/>
              </a:endParaRPr>
            </a:p>
          </p:txBody>
        </p:sp>
        <p:sp>
          <p:nvSpPr>
            <p:cNvPr id="919" name="Google Shape;919;p10"/>
            <p:cNvSpPr/>
            <p:nvPr/>
          </p:nvSpPr>
          <p:spPr>
            <a:xfrm>
              <a:off x="5181600" y="952500"/>
              <a:ext cx="2133600" cy="5448300"/>
            </a:xfrm>
            <a:prstGeom prst="roundRect">
              <a:avLst>
                <a:gd fmla="val 4464" name="adj"/>
              </a:avLst>
            </a:prstGeom>
            <a:solidFill>
              <a:srgbClr val="FFFFFF"/>
            </a:solid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0" name="Google Shape;920;p10"/>
            <p:cNvPicPr preferRelativeResize="0"/>
            <p:nvPr/>
          </p:nvPicPr>
          <p:blipFill rotWithShape="1">
            <a:blip r:embed="rId5">
              <a:alphaModFix/>
            </a:blip>
            <a:srcRect b="0" l="0" r="0" t="0"/>
            <a:stretch/>
          </p:blipFill>
          <p:spPr>
            <a:xfrm>
              <a:off x="5276945" y="1238250"/>
              <a:ext cx="1942814" cy="4314825"/>
            </a:xfrm>
            <a:prstGeom prst="rect">
              <a:avLst/>
            </a:prstGeom>
            <a:noFill/>
            <a:ln>
              <a:noFill/>
            </a:ln>
          </p:spPr>
        </p:pic>
        <p:sp>
          <p:nvSpPr>
            <p:cNvPr id="921" name="Google Shape;921;p10"/>
            <p:cNvSpPr/>
            <p:nvPr/>
          </p:nvSpPr>
          <p:spPr>
            <a:xfrm>
              <a:off x="5276850" y="1238250"/>
              <a:ext cx="1943100" cy="4314825"/>
            </a:xfrm>
            <a:prstGeom prst="rect">
              <a:avLst/>
            </a:prstGeom>
            <a:noFill/>
            <a:ln cap="flat" cmpd="sng" w="9525">
              <a:solidFill>
                <a:srgbClr val="D8CFB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p10"/>
            <p:cNvSpPr/>
            <p:nvPr/>
          </p:nvSpPr>
          <p:spPr>
            <a:xfrm>
              <a:off x="5181600" y="5848350"/>
              <a:ext cx="2133600" cy="9525"/>
            </a:xfrm>
            <a:custGeom>
              <a:rect b="b" l="l" r="r" t="t"/>
              <a:pathLst>
                <a:path extrusionOk="0" h="9525" w="2133600">
                  <a:moveTo>
                    <a:pt x="0" y="0"/>
                  </a:moveTo>
                  <a:lnTo>
                    <a:pt x="2133600" y="0"/>
                  </a:lnTo>
                </a:path>
              </a:pathLst>
            </a:custGeom>
            <a:solidFill>
              <a:srgbClr val="000000"/>
            </a:solidFill>
            <a:ln cap="flat" cmpd="sng" w="9525">
              <a:solidFill>
                <a:srgbClr val="D8CFBC"/>
              </a:solidFill>
              <a:prstDash val="solid"/>
              <a:round/>
              <a:headEnd len="sm" w="sm" type="none"/>
              <a:tailEnd len="sm" w="sm" type="none"/>
            </a:ln>
          </p:spPr>
        </p:sp>
        <p:sp>
          <p:nvSpPr>
            <p:cNvPr id="923" name="Google Shape;923;p10"/>
            <p:cNvSpPr txBox="1"/>
            <p:nvPr/>
          </p:nvSpPr>
          <p:spPr>
            <a:xfrm>
              <a:off x="5272088" y="5962650"/>
              <a:ext cx="31465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4A7C6F"/>
                  </a:solidFill>
                  <a:latin typeface="Quattrocento Sans"/>
                  <a:ea typeface="Quattrocento Sans"/>
                  <a:cs typeface="Quattrocento Sans"/>
                  <a:sym typeface="Quattrocento Sans"/>
                </a:rPr>
                <a:t>W2b</a:t>
              </a:r>
              <a:endParaRPr b="0" i="0" sz="1400" u="none" cap="none" strike="noStrike">
                <a:solidFill>
                  <a:srgbClr val="000000"/>
                </a:solidFill>
                <a:latin typeface="Arial"/>
                <a:ea typeface="Arial"/>
                <a:cs typeface="Arial"/>
                <a:sym typeface="Arial"/>
              </a:endParaRPr>
            </a:p>
          </p:txBody>
        </p:sp>
        <p:sp>
          <p:nvSpPr>
            <p:cNvPr id="924" name="Google Shape;924;p10"/>
            <p:cNvSpPr/>
            <p:nvPr/>
          </p:nvSpPr>
          <p:spPr>
            <a:xfrm>
              <a:off x="5271516" y="6150007"/>
              <a:ext cx="186842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0" lang="en" sz="1050" u="none" cap="none" strike="noStrike">
                  <a:solidFill>
                    <a:srgbClr val="1F2A26"/>
                  </a:solidFill>
                  <a:latin typeface="Quattrocento Sans"/>
                  <a:ea typeface="Quattrocento Sans"/>
                  <a:cs typeface="Quattrocento Sans"/>
                  <a:sym typeface="Quattrocento Sans"/>
                </a:rPr>
                <a:t>Cancellation unavailable</a:t>
              </a:r>
              <a:endParaRPr b="0" i="0" sz="1400" u="none" cap="none" strike="noStrike">
                <a:solidFill>
                  <a:srgbClr val="000000"/>
                </a:solidFill>
                <a:latin typeface="Arial"/>
                <a:ea typeface="Arial"/>
                <a:cs typeface="Arial"/>
                <a:sym typeface="Arial"/>
              </a:endParaRPr>
            </a:p>
          </p:txBody>
        </p:sp>
      </p:grpSp>
      <p:sp>
        <p:nvSpPr>
          <p:cNvPr id="925" name="Google Shape;925;p10"/>
          <p:cNvSpPr/>
          <p:nvPr/>
        </p:nvSpPr>
        <p:spPr>
          <a:xfrm>
            <a:off x="604838" y="6477000"/>
            <a:ext cx="4762500"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Scenario data (synthetic): support flow is simulated</a:t>
            </a:r>
            <a:endParaRPr b="0" i="0" sz="1400" u="none" cap="none" strike="noStrike">
              <a:solidFill>
                <a:srgbClr val="000000"/>
              </a:solidFill>
              <a:latin typeface="Arial"/>
              <a:ea typeface="Arial"/>
              <a:cs typeface="Arial"/>
              <a:sym typeface="Arial"/>
            </a:endParaRPr>
          </a:p>
        </p:txBody>
      </p:sp>
      <p:grpSp>
        <p:nvGrpSpPr>
          <p:cNvPr id="926" name="Google Shape;926;p10"/>
          <p:cNvGrpSpPr/>
          <p:nvPr/>
        </p:nvGrpSpPr>
        <p:grpSpPr>
          <a:xfrm>
            <a:off x="7613142" y="1016000"/>
            <a:ext cx="4381500" cy="5026565"/>
            <a:chOff x="7613142" y="1016000"/>
            <a:chExt cx="4381500" cy="5026565"/>
          </a:xfrm>
        </p:grpSpPr>
        <p:sp>
          <p:nvSpPr>
            <p:cNvPr id="927" name="Google Shape;927;p10"/>
            <p:cNvSpPr txBox="1"/>
            <p:nvPr/>
          </p:nvSpPr>
          <p:spPr>
            <a:xfrm>
              <a:off x="7615047" y="1016000"/>
              <a:ext cx="83292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DESIGNER</a:t>
              </a:r>
              <a:endParaRPr b="0" i="0" sz="1400" u="none" cap="none" strike="noStrike">
                <a:solidFill>
                  <a:srgbClr val="000000"/>
                </a:solidFill>
                <a:latin typeface="Arial"/>
                <a:ea typeface="Arial"/>
                <a:cs typeface="Arial"/>
                <a:sym typeface="Arial"/>
              </a:endParaRPr>
            </a:p>
          </p:txBody>
        </p:sp>
        <p:sp>
          <p:nvSpPr>
            <p:cNvPr id="928" name="Google Shape;928;p10"/>
            <p:cNvSpPr/>
            <p:nvPr/>
          </p:nvSpPr>
          <p:spPr>
            <a:xfrm>
              <a:off x="7620000" y="12287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929" name="Google Shape;929;p10"/>
            <p:cNvSpPr/>
            <p:nvPr/>
          </p:nvSpPr>
          <p:spPr>
            <a:xfrm>
              <a:off x="7613142" y="1358932"/>
              <a:ext cx="39433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W7</a:t>
              </a:r>
              <a:endParaRPr b="0" i="0" sz="1400" u="none" cap="none" strike="noStrike">
                <a:solidFill>
                  <a:srgbClr val="000000"/>
                </a:solidFill>
                <a:latin typeface="Arial"/>
                <a:ea typeface="Arial"/>
                <a:cs typeface="Arial"/>
                <a:sym typeface="Arial"/>
              </a:endParaRPr>
            </a:p>
          </p:txBody>
        </p:sp>
        <p:sp>
          <p:nvSpPr>
            <p:cNvPr id="930" name="Google Shape;930;p10"/>
            <p:cNvSpPr/>
            <p:nvPr/>
          </p:nvSpPr>
          <p:spPr>
            <a:xfrm>
              <a:off x="8489442" y="1358932"/>
              <a:ext cx="307848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Reduced repetition - booking</a:t>
              </a:r>
              <a:endParaRPr b="0" i="0" sz="1400" u="none" cap="none" strike="noStrike">
                <a:solidFill>
                  <a:srgbClr val="000000"/>
                </a:solidFill>
                <a:latin typeface="Arial"/>
                <a:ea typeface="Arial"/>
                <a:cs typeface="Arial"/>
                <a:sym typeface="Arial"/>
              </a:endParaRPr>
            </a:p>
          </p:txBody>
        </p:sp>
        <p:sp>
          <p:nvSpPr>
            <p:cNvPr id="931" name="Google Shape;931;p10"/>
            <p:cNvSpPr/>
            <p:nvPr/>
          </p:nvSpPr>
          <p:spPr>
            <a:xfrm>
              <a:off x="8489442" y="15875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context is prefilled for support.</a:t>
              </a:r>
              <a:endParaRPr b="0" i="0" sz="1400" u="none" cap="none" strike="noStrike">
                <a:solidFill>
                  <a:srgbClr val="000000"/>
                </a:solidFill>
                <a:latin typeface="Arial"/>
                <a:ea typeface="Arial"/>
                <a:cs typeface="Arial"/>
                <a:sym typeface="Arial"/>
              </a:endParaRPr>
            </a:p>
          </p:txBody>
        </p:sp>
        <p:sp>
          <p:nvSpPr>
            <p:cNvPr id="932" name="Google Shape;932;p10"/>
            <p:cNvSpPr/>
            <p:nvPr/>
          </p:nvSpPr>
          <p:spPr>
            <a:xfrm>
              <a:off x="7613142" y="19304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W2b</a:t>
              </a:r>
              <a:endParaRPr b="0" i="0" sz="1400" u="none" cap="none" strike="noStrike">
                <a:solidFill>
                  <a:srgbClr val="000000"/>
                </a:solidFill>
                <a:latin typeface="Arial"/>
                <a:ea typeface="Arial"/>
                <a:cs typeface="Arial"/>
                <a:sym typeface="Arial"/>
              </a:endParaRPr>
            </a:p>
          </p:txBody>
        </p:sp>
        <p:sp>
          <p:nvSpPr>
            <p:cNvPr id="933" name="Google Shape;933;p10"/>
            <p:cNvSpPr/>
            <p:nvPr/>
          </p:nvSpPr>
          <p:spPr>
            <a:xfrm>
              <a:off x="8489442" y="1930432"/>
              <a:ext cx="328612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Clear terminal state - a clear</a:t>
              </a:r>
              <a:endParaRPr b="0" i="0" sz="1400" u="none" cap="none" strike="noStrike">
                <a:solidFill>
                  <a:srgbClr val="000000"/>
                </a:solidFill>
                <a:latin typeface="Arial"/>
                <a:ea typeface="Arial"/>
                <a:cs typeface="Arial"/>
                <a:sym typeface="Arial"/>
              </a:endParaRPr>
            </a:p>
          </p:txBody>
        </p:sp>
        <p:sp>
          <p:nvSpPr>
            <p:cNvPr id="934" name="Google Shape;934;p10"/>
            <p:cNvSpPr/>
            <p:nvPr/>
          </p:nvSpPr>
          <p:spPr>
            <a:xfrm>
              <a:off x="8489442" y="21590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no, not a dead end or retry loop.</a:t>
              </a:r>
              <a:endParaRPr b="0" i="0" sz="1400" u="none" cap="none" strike="noStrike">
                <a:solidFill>
                  <a:srgbClr val="000000"/>
                </a:solidFill>
                <a:latin typeface="Arial"/>
                <a:ea typeface="Arial"/>
                <a:cs typeface="Arial"/>
                <a:sym typeface="Arial"/>
              </a:endParaRPr>
            </a:p>
          </p:txBody>
        </p:sp>
        <p:sp>
          <p:nvSpPr>
            <p:cNvPr id="935" name="Google Shape;935;p10"/>
            <p:cNvSpPr txBox="1"/>
            <p:nvPr/>
          </p:nvSpPr>
          <p:spPr>
            <a:xfrm>
              <a:off x="7615047" y="2768600"/>
              <a:ext cx="952495"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4A7C6F"/>
                  </a:solidFill>
                  <a:latin typeface="Quattrocento Sans"/>
                  <a:ea typeface="Quattrocento Sans"/>
                  <a:cs typeface="Quattrocento Sans"/>
                  <a:sym typeface="Quattrocento Sans"/>
                </a:rPr>
                <a:t>DEVELOPER</a:t>
              </a:r>
              <a:endParaRPr b="0" i="0" sz="1400" u="none" cap="none" strike="noStrike">
                <a:solidFill>
                  <a:srgbClr val="000000"/>
                </a:solidFill>
                <a:latin typeface="Arial"/>
                <a:ea typeface="Arial"/>
                <a:cs typeface="Arial"/>
                <a:sym typeface="Arial"/>
              </a:endParaRPr>
            </a:p>
          </p:txBody>
        </p:sp>
        <p:sp>
          <p:nvSpPr>
            <p:cNvPr id="936" name="Google Shape;936;p10"/>
            <p:cNvSpPr/>
            <p:nvPr/>
          </p:nvSpPr>
          <p:spPr>
            <a:xfrm>
              <a:off x="7620000" y="29813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937" name="Google Shape;937;p10"/>
            <p:cNvSpPr/>
            <p:nvPr/>
          </p:nvSpPr>
          <p:spPr>
            <a:xfrm>
              <a:off x="7613142" y="3111532"/>
              <a:ext cx="39433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W7</a:t>
              </a:r>
              <a:endParaRPr b="0" i="0" sz="1400" u="none" cap="none" strike="noStrike">
                <a:solidFill>
                  <a:srgbClr val="000000"/>
                </a:solidFill>
                <a:latin typeface="Arial"/>
                <a:ea typeface="Arial"/>
                <a:cs typeface="Arial"/>
                <a:sym typeface="Arial"/>
              </a:endParaRPr>
            </a:p>
          </p:txBody>
        </p:sp>
        <p:sp>
          <p:nvSpPr>
            <p:cNvPr id="938" name="Google Shape;938;p10"/>
            <p:cNvSpPr/>
            <p:nvPr/>
          </p:nvSpPr>
          <p:spPr>
            <a:xfrm>
              <a:off x="8489442" y="31115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Support request carries the booking</a:t>
              </a:r>
              <a:endParaRPr b="0" i="0" sz="1400" u="none" cap="none" strike="noStrike">
                <a:solidFill>
                  <a:srgbClr val="000000"/>
                </a:solidFill>
                <a:latin typeface="Arial"/>
                <a:ea typeface="Arial"/>
                <a:cs typeface="Arial"/>
                <a:sym typeface="Arial"/>
              </a:endParaRPr>
            </a:p>
          </p:txBody>
        </p:sp>
        <p:sp>
          <p:nvSpPr>
            <p:cNvPr id="939" name="Google Shape;939;p10"/>
            <p:cNvSpPr/>
            <p:nvPr/>
          </p:nvSpPr>
          <p:spPr>
            <a:xfrm>
              <a:off x="8489442" y="3340132"/>
              <a:ext cx="350520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reference and a status snapshot;</a:t>
              </a:r>
              <a:endParaRPr b="0" i="0" sz="1400" u="none" cap="none" strike="noStrike">
                <a:solidFill>
                  <a:srgbClr val="000000"/>
                </a:solidFill>
                <a:latin typeface="Arial"/>
                <a:ea typeface="Arial"/>
                <a:cs typeface="Arial"/>
                <a:sym typeface="Arial"/>
              </a:endParaRPr>
            </a:p>
          </p:txBody>
        </p:sp>
        <p:sp>
          <p:nvSpPr>
            <p:cNvPr id="940" name="Google Shape;940;p10"/>
            <p:cNvSpPr/>
            <p:nvPr/>
          </p:nvSpPr>
          <p:spPr>
            <a:xfrm>
              <a:off x="8489442" y="3568732"/>
              <a:ext cx="33899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is internal, not an Agoda call.</a:t>
              </a:r>
              <a:endParaRPr b="0" i="0" sz="1400" u="none" cap="none" strike="noStrike">
                <a:solidFill>
                  <a:srgbClr val="000000"/>
                </a:solidFill>
                <a:latin typeface="Arial"/>
                <a:ea typeface="Arial"/>
                <a:cs typeface="Arial"/>
                <a:sym typeface="Arial"/>
              </a:endParaRPr>
            </a:p>
          </p:txBody>
        </p:sp>
        <p:sp>
          <p:nvSpPr>
            <p:cNvPr id="941" name="Google Shape;941;p10"/>
            <p:cNvSpPr/>
            <p:nvPr/>
          </p:nvSpPr>
          <p:spPr>
            <a:xfrm>
              <a:off x="7613142" y="3911632"/>
              <a:ext cx="49625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W2b</a:t>
              </a:r>
              <a:endParaRPr b="0" i="0" sz="1400" u="none" cap="none" strike="noStrike">
                <a:solidFill>
                  <a:srgbClr val="000000"/>
                </a:solidFill>
                <a:latin typeface="Arial"/>
                <a:ea typeface="Arial"/>
                <a:cs typeface="Arial"/>
                <a:sym typeface="Arial"/>
              </a:endParaRPr>
            </a:p>
          </p:txBody>
        </p:sp>
        <p:sp>
          <p:nvSpPr>
            <p:cNvPr id="942" name="Google Shape;942;p10"/>
            <p:cNvSpPr/>
            <p:nvPr/>
          </p:nvSpPr>
          <p:spPr>
            <a:xfrm>
              <a:off x="8489442" y="3911632"/>
              <a:ext cx="3182302"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Unavailable is separated from</a:t>
              </a:r>
              <a:endParaRPr b="0" i="0" sz="1400" u="none" cap="none" strike="noStrike">
                <a:solidFill>
                  <a:srgbClr val="000000"/>
                </a:solidFill>
                <a:latin typeface="Arial"/>
                <a:ea typeface="Arial"/>
                <a:cs typeface="Arial"/>
                <a:sym typeface="Arial"/>
              </a:endParaRPr>
            </a:p>
          </p:txBody>
        </p:sp>
        <p:sp>
          <p:nvSpPr>
            <p:cNvPr id="943" name="Google Shape;943;p10"/>
            <p:cNvSpPr/>
            <p:nvPr/>
          </p:nvSpPr>
          <p:spPr>
            <a:xfrm>
              <a:off x="8489442" y="4140232"/>
              <a:ext cx="33899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failure: no retry loop offered.</a:t>
              </a:r>
              <a:endParaRPr b="0" i="0" sz="1400" u="none" cap="none" strike="noStrike">
                <a:solidFill>
                  <a:srgbClr val="000000"/>
                </a:solidFill>
                <a:latin typeface="Arial"/>
                <a:ea typeface="Arial"/>
                <a:cs typeface="Arial"/>
                <a:sym typeface="Arial"/>
              </a:endParaRPr>
            </a:p>
          </p:txBody>
        </p:sp>
        <p:sp>
          <p:nvSpPr>
            <p:cNvPr id="944" name="Google Shape;944;p10"/>
            <p:cNvSpPr txBox="1"/>
            <p:nvPr/>
          </p:nvSpPr>
          <p:spPr>
            <a:xfrm>
              <a:off x="7615047" y="4749800"/>
              <a:ext cx="812297"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B45309"/>
                  </a:solidFill>
                  <a:latin typeface="Quattrocento Sans"/>
                  <a:ea typeface="Quattrocento Sans"/>
                  <a:cs typeface="Quattrocento Sans"/>
                  <a:sym typeface="Quattrocento Sans"/>
                </a:rPr>
                <a:t>BUSINESS</a:t>
              </a:r>
              <a:endParaRPr b="0" i="0" sz="1400" u="none" cap="none" strike="noStrike">
                <a:solidFill>
                  <a:srgbClr val="000000"/>
                </a:solidFill>
                <a:latin typeface="Arial"/>
                <a:ea typeface="Arial"/>
                <a:cs typeface="Arial"/>
                <a:sym typeface="Arial"/>
              </a:endParaRPr>
            </a:p>
          </p:txBody>
        </p:sp>
        <p:sp>
          <p:nvSpPr>
            <p:cNvPr id="945" name="Google Shape;945;p10"/>
            <p:cNvSpPr/>
            <p:nvPr/>
          </p:nvSpPr>
          <p:spPr>
            <a:xfrm>
              <a:off x="7620000" y="4962525"/>
              <a:ext cx="3962400" cy="9525"/>
            </a:xfrm>
            <a:custGeom>
              <a:rect b="b" l="l" r="r" t="t"/>
              <a:pathLst>
                <a:path extrusionOk="0" h="9525" w="3962400">
                  <a:moveTo>
                    <a:pt x="0" y="0"/>
                  </a:moveTo>
                  <a:lnTo>
                    <a:pt x="3962400" y="0"/>
                  </a:lnTo>
                </a:path>
              </a:pathLst>
            </a:custGeom>
            <a:solidFill>
              <a:srgbClr val="000000"/>
            </a:solidFill>
            <a:ln cap="flat" cmpd="sng" w="9525">
              <a:solidFill>
                <a:srgbClr val="D8CFBC"/>
              </a:solidFill>
              <a:prstDash val="solid"/>
              <a:round/>
              <a:headEnd len="sm" w="sm" type="none"/>
              <a:tailEnd len="sm" w="sm" type="none"/>
            </a:ln>
          </p:spPr>
        </p:sp>
        <p:sp>
          <p:nvSpPr>
            <p:cNvPr id="946" name="Google Shape;946;p10"/>
            <p:cNvSpPr/>
            <p:nvPr/>
          </p:nvSpPr>
          <p:spPr>
            <a:xfrm>
              <a:off x="7613142" y="5092732"/>
              <a:ext cx="59817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1" i="0" lang="en" sz="1350" u="none" cap="none" strike="noStrike">
                  <a:solidFill>
                    <a:srgbClr val="0B3D36"/>
                  </a:solidFill>
                  <a:latin typeface="Quattrocento Sans"/>
                  <a:ea typeface="Quattrocento Sans"/>
                  <a:cs typeface="Quattrocento Sans"/>
                  <a:sym typeface="Quattrocento Sans"/>
                </a:rPr>
                <a:t>Both</a:t>
              </a:r>
              <a:endParaRPr b="0" i="0" sz="1400" u="none" cap="none" strike="noStrike">
                <a:solidFill>
                  <a:srgbClr val="000000"/>
                </a:solidFill>
                <a:latin typeface="Arial"/>
                <a:ea typeface="Arial"/>
                <a:cs typeface="Arial"/>
                <a:sym typeface="Arial"/>
              </a:endParaRPr>
            </a:p>
          </p:txBody>
        </p:sp>
        <p:sp>
          <p:nvSpPr>
            <p:cNvPr id="947" name="Google Shape;947;p10"/>
            <p:cNvSpPr/>
            <p:nvPr/>
          </p:nvSpPr>
          <p:spPr>
            <a:xfrm>
              <a:off x="8489442" y="5092732"/>
              <a:ext cx="2455545"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Hypothesis to measure:</a:t>
              </a:r>
              <a:endParaRPr b="0" i="0" sz="1400" u="none" cap="none" strike="noStrike">
                <a:solidFill>
                  <a:srgbClr val="000000"/>
                </a:solidFill>
                <a:latin typeface="Arial"/>
                <a:ea typeface="Arial"/>
                <a:cs typeface="Arial"/>
                <a:sym typeface="Arial"/>
              </a:endParaRPr>
            </a:p>
          </p:txBody>
        </p:sp>
        <p:sp>
          <p:nvSpPr>
            <p:cNvPr id="948" name="Google Shape;948;p10"/>
            <p:cNvSpPr/>
            <p:nvPr/>
          </p:nvSpPr>
          <p:spPr>
            <a:xfrm>
              <a:off x="8489442" y="5321332"/>
              <a:ext cx="33899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context-carrying support should</a:t>
              </a:r>
              <a:endParaRPr b="0" i="0" sz="1400" u="none" cap="none" strike="noStrike">
                <a:solidFill>
                  <a:srgbClr val="000000"/>
                </a:solidFill>
                <a:latin typeface="Arial"/>
                <a:ea typeface="Arial"/>
                <a:cs typeface="Arial"/>
                <a:sym typeface="Arial"/>
              </a:endParaRPr>
            </a:p>
          </p:txBody>
        </p:sp>
        <p:sp>
          <p:nvSpPr>
            <p:cNvPr id="949" name="Google Shape;949;p10"/>
            <p:cNvSpPr/>
            <p:nvPr/>
          </p:nvSpPr>
          <p:spPr>
            <a:xfrm>
              <a:off x="8489442" y="5549932"/>
              <a:ext cx="3389948"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resolve faster with less repeat</a:t>
              </a:r>
              <a:endParaRPr b="0" i="0" sz="1400" u="none" cap="none" strike="noStrike">
                <a:solidFill>
                  <a:srgbClr val="000000"/>
                </a:solidFill>
                <a:latin typeface="Arial"/>
                <a:ea typeface="Arial"/>
                <a:cs typeface="Arial"/>
                <a:sym typeface="Arial"/>
              </a:endParaRPr>
            </a:p>
          </p:txBody>
        </p:sp>
        <p:sp>
          <p:nvSpPr>
            <p:cNvPr id="950" name="Google Shape;950;p10"/>
            <p:cNvSpPr/>
            <p:nvPr/>
          </p:nvSpPr>
          <p:spPr>
            <a:xfrm>
              <a:off x="8489442" y="5778532"/>
              <a:ext cx="1417320" cy="26403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50"/>
                <a:buFont typeface="Arial"/>
                <a:buNone/>
              </a:pPr>
              <a:r>
                <a:rPr b="0" i="0" lang="en" sz="1350" u="none" cap="none" strike="noStrike">
                  <a:solidFill>
                    <a:srgbClr val="1F2A26"/>
                  </a:solidFill>
                  <a:latin typeface="Quattrocento Sans"/>
                  <a:ea typeface="Quattrocento Sans"/>
                  <a:cs typeface="Quattrocento Sans"/>
                  <a:sym typeface="Quattrocento Sans"/>
                </a:rPr>
                <a:t>explanation.</a:t>
              </a:r>
              <a:endParaRPr b="0" i="0" sz="1400" u="none" cap="none" strike="noStrike">
                <a:solidFill>
                  <a:srgbClr val="000000"/>
                </a:solidFill>
                <a:latin typeface="Arial"/>
                <a:ea typeface="Arial"/>
                <a:cs typeface="Arial"/>
                <a:sym typeface="Arial"/>
              </a:endParaRPr>
            </a:p>
          </p:txBody>
        </p:sp>
      </p:grpSp>
      <p:sp>
        <p:nvSpPr>
          <p:cNvPr id="951" name="Google Shape;951;p10"/>
          <p:cNvSpPr/>
          <p:nvPr/>
        </p:nvSpPr>
        <p:spPr>
          <a:xfrm>
            <a:off x="11424666" y="6445282"/>
            <a:ext cx="180975" cy="205359"/>
          </a:xfrm>
          <a:prstGeom prst="rect">
            <a:avLst/>
          </a:prstGeom>
          <a:noFill/>
          <a:ln>
            <a:noFill/>
          </a:ln>
        </p:spPr>
        <p:txBody>
          <a:bodyPr anchorCtr="0" anchor="t" bIns="0" lIns="0" spcFirstLastPara="1" rIns="1790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12</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ECDF"/>
        </a:solidFill>
      </p:bgPr>
    </p:bg>
    <p:spTree>
      <p:nvGrpSpPr>
        <p:cNvPr id="955" name="Shape 955"/>
        <p:cNvGrpSpPr/>
        <p:nvPr/>
      </p:nvGrpSpPr>
      <p:grpSpPr>
        <a:xfrm>
          <a:off x="0" y="0"/>
          <a:ext cx="0" cy="0"/>
          <a:chOff x="0" y="0"/>
          <a:chExt cx="0" cy="0"/>
        </a:xfrm>
      </p:grpSpPr>
      <p:grpSp>
        <p:nvGrpSpPr>
          <p:cNvPr id="956" name="Google Shape;956;p15"/>
          <p:cNvGrpSpPr/>
          <p:nvPr/>
        </p:nvGrpSpPr>
        <p:grpSpPr>
          <a:xfrm>
            <a:off x="598170" y="133350"/>
            <a:ext cx="10984230" cy="745141"/>
            <a:chOff x="598170" y="133350"/>
            <a:chExt cx="10984230" cy="745141"/>
          </a:xfrm>
        </p:grpSpPr>
        <p:sp>
          <p:nvSpPr>
            <p:cNvPr id="957" name="Google Shape;957;p15"/>
            <p:cNvSpPr/>
            <p:nvPr/>
          </p:nvSpPr>
          <p:spPr>
            <a:xfrm>
              <a:off x="609600" y="133350"/>
              <a:ext cx="10972800" cy="9525"/>
            </a:xfrm>
            <a:custGeom>
              <a:rect b="b" l="l" r="r" t="t"/>
              <a:pathLst>
                <a:path extrusionOk="0" h="9525" w="10972800">
                  <a:moveTo>
                    <a:pt x="0" y="0"/>
                  </a:moveTo>
                  <a:lnTo>
                    <a:pt x="10972800" y="0"/>
                  </a:lnTo>
                </a:path>
              </a:pathLst>
            </a:custGeom>
            <a:solidFill>
              <a:srgbClr val="000000"/>
            </a:solidFill>
            <a:ln cap="flat" cmpd="sng" w="19050">
              <a:solidFill>
                <a:srgbClr val="0B3D36"/>
              </a:solidFill>
              <a:prstDash val="solid"/>
              <a:round/>
              <a:headEnd len="sm" w="sm" type="none"/>
              <a:tailEnd len="sm" w="sm" type="none"/>
            </a:ln>
          </p:spPr>
        </p:sp>
        <p:sp>
          <p:nvSpPr>
            <p:cNvPr id="958" name="Google Shape;958;p15"/>
            <p:cNvSpPr txBox="1"/>
            <p:nvPr/>
          </p:nvSpPr>
          <p:spPr>
            <a:xfrm>
              <a:off x="604838" y="209550"/>
              <a:ext cx="1525128"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PM101 · PROTOTYPE</a:t>
              </a:r>
              <a:endParaRPr b="0" i="0" sz="1400" u="none" cap="none" strike="noStrike">
                <a:solidFill>
                  <a:srgbClr val="000000"/>
                </a:solidFill>
                <a:latin typeface="Arial"/>
                <a:ea typeface="Arial"/>
                <a:cs typeface="Arial"/>
                <a:sym typeface="Arial"/>
              </a:endParaRPr>
            </a:p>
          </p:txBody>
        </p:sp>
        <p:sp>
          <p:nvSpPr>
            <p:cNvPr id="959" name="Google Shape;959;p15"/>
            <p:cNvSpPr/>
            <p:nvPr/>
          </p:nvSpPr>
          <p:spPr>
            <a:xfrm>
              <a:off x="598170" y="323850"/>
              <a:ext cx="1836420" cy="44005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50"/>
                <a:buFont typeface="Arial"/>
                <a:buNone/>
              </a:pPr>
              <a:r>
                <a:rPr b="0" i="0" lang="en" sz="2250" u="none" cap="none" strike="noStrike">
                  <a:solidFill>
                    <a:srgbClr val="0B3D36"/>
                  </a:solidFill>
                  <a:latin typeface="Garamond"/>
                  <a:ea typeface="Garamond"/>
                  <a:cs typeface="Garamond"/>
                  <a:sym typeface="Garamond"/>
                </a:rPr>
                <a:t>Run it live</a:t>
              </a:r>
              <a:endParaRPr b="0" i="0" sz="1400" u="none" cap="none" strike="noStrike">
                <a:solidFill>
                  <a:srgbClr val="000000"/>
                </a:solidFill>
                <a:latin typeface="Arial"/>
                <a:ea typeface="Arial"/>
                <a:cs typeface="Arial"/>
                <a:sym typeface="Arial"/>
              </a:endParaRPr>
            </a:p>
          </p:txBody>
        </p:sp>
        <p:sp>
          <p:nvSpPr>
            <p:cNvPr id="960" name="Google Shape;960;p15"/>
            <p:cNvSpPr/>
            <p:nvPr/>
          </p:nvSpPr>
          <p:spPr>
            <a:xfrm>
              <a:off x="604266" y="673132"/>
              <a:ext cx="4855464" cy="205359"/>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0" i="1" lang="en" sz="1050" u="none" cap="none" strike="noStrike">
                  <a:solidFill>
                    <a:srgbClr val="4A7C6F"/>
                  </a:solidFill>
                  <a:latin typeface="Quattrocento Sans"/>
                  <a:ea typeface="Quattrocento Sans"/>
                  <a:cs typeface="Quattrocento Sans"/>
                  <a:sym typeface="Quattrocento Sans"/>
                </a:rPr>
                <a:t>Every screen in this deck is running code you can click through.</a:t>
              </a:r>
              <a:endParaRPr b="0" i="0" sz="1400" u="none" cap="none" strike="noStrike">
                <a:solidFill>
                  <a:srgbClr val="000000"/>
                </a:solidFill>
                <a:latin typeface="Arial"/>
                <a:ea typeface="Arial"/>
                <a:cs typeface="Arial"/>
                <a:sym typeface="Arial"/>
              </a:endParaRPr>
            </a:p>
          </p:txBody>
        </p:sp>
      </p:grpSp>
      <p:grpSp>
        <p:nvGrpSpPr>
          <p:cNvPr id="961" name="Google Shape;961;p15"/>
          <p:cNvGrpSpPr/>
          <p:nvPr/>
        </p:nvGrpSpPr>
        <p:grpSpPr>
          <a:xfrm>
            <a:off x="609600" y="1219200"/>
            <a:ext cx="10972800" cy="1619250"/>
            <a:chOff x="609600" y="1219200"/>
            <a:chExt cx="10972800" cy="1619250"/>
          </a:xfrm>
        </p:grpSpPr>
        <p:sp>
          <p:nvSpPr>
            <p:cNvPr id="962" name="Google Shape;962;p15">
              <a:hlinkClick r:id="rId3"/>
            </p:cNvPr>
            <p:cNvSpPr/>
            <p:nvPr/>
          </p:nvSpPr>
          <p:spPr>
            <a:xfrm>
              <a:off x="609600" y="1219200"/>
              <a:ext cx="10972800" cy="1619250"/>
            </a:xfrm>
            <a:prstGeom prst="roundRect">
              <a:avLst>
                <a:gd fmla="val 7059" name="adj"/>
              </a:avLst>
            </a:prstGeom>
            <a:solidFill>
              <a:srgbClr val="0B3D3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3" name="Google Shape;963;p15">
              <a:hlinkClick r:id="rId4"/>
            </p:cNvPr>
            <p:cNvSpPr txBox="1"/>
            <p:nvPr/>
          </p:nvSpPr>
          <p:spPr>
            <a:xfrm>
              <a:off x="1023747" y="1606550"/>
              <a:ext cx="3813271"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D8CFBC"/>
                  </a:solidFill>
                  <a:latin typeface="Quattrocento Sans"/>
                  <a:ea typeface="Quattrocento Sans"/>
                  <a:cs typeface="Quattrocento Sans"/>
                  <a:sym typeface="Quattrocento Sans"/>
                </a:rPr>
                <a:t>INTERACTIVE PROTOTYPE - SYNTHETIC DATA</a:t>
              </a:r>
              <a:endParaRPr b="0" i="0" sz="1400" u="none" cap="none" strike="noStrike">
                <a:solidFill>
                  <a:srgbClr val="000000"/>
                </a:solidFill>
                <a:latin typeface="Arial"/>
                <a:ea typeface="Arial"/>
                <a:cs typeface="Arial"/>
                <a:sym typeface="Arial"/>
              </a:endParaRPr>
            </a:p>
          </p:txBody>
        </p:sp>
        <p:sp>
          <p:nvSpPr>
            <p:cNvPr id="964" name="Google Shape;964;p15">
              <a:hlinkClick r:id="rId5"/>
            </p:cNvPr>
            <p:cNvSpPr/>
            <p:nvPr/>
          </p:nvSpPr>
          <p:spPr>
            <a:xfrm>
              <a:off x="1014984" y="1987582"/>
              <a:ext cx="6096000" cy="52806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700"/>
                <a:buFont typeface="Arial"/>
                <a:buNone/>
              </a:pPr>
              <a:r>
                <a:rPr b="0" i="0" lang="en" sz="2700" u="sng" cap="none" strike="noStrike">
                  <a:solidFill>
                    <a:srgbClr val="FAF6EF"/>
                  </a:solidFill>
                  <a:latin typeface="Garamond"/>
                  <a:ea typeface="Garamond"/>
                  <a:cs typeface="Garamond"/>
                  <a:sym typeface="Garamond"/>
                </a:rPr>
                <a:t>staymint-prototype.vercel.app</a:t>
              </a:r>
              <a:endParaRPr b="0" i="0" sz="1400" u="none" cap="none" strike="noStrike">
                <a:solidFill>
                  <a:srgbClr val="000000"/>
                </a:solidFill>
                <a:latin typeface="Arial"/>
                <a:ea typeface="Arial"/>
                <a:cs typeface="Arial"/>
                <a:sym typeface="Arial"/>
              </a:endParaRPr>
            </a:p>
          </p:txBody>
        </p:sp>
        <p:sp>
          <p:nvSpPr>
            <p:cNvPr id="965" name="Google Shape;965;p15">
              <a:hlinkClick r:id="rId6"/>
            </p:cNvPr>
            <p:cNvSpPr/>
            <p:nvPr/>
          </p:nvSpPr>
          <p:spPr>
            <a:xfrm>
              <a:off x="1022985" y="2508218"/>
              <a:ext cx="4217289" cy="220028"/>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20"/>
                <a:buFont typeface="Arial"/>
                <a:buNone/>
              </a:pPr>
              <a:r>
                <a:rPr b="0" i="0" lang="en" sz="1120" u="none" cap="none" strike="noStrike">
                  <a:solidFill>
                    <a:srgbClr val="D8CFBC"/>
                  </a:solidFill>
                  <a:latin typeface="Quattrocento Sans"/>
                  <a:ea typeface="Quattrocento Sans"/>
                  <a:cs typeface="Quattrocento Sans"/>
                  <a:sym typeface="Quattrocento Sans"/>
                </a:rPr>
                <a:t>Open in any modern browser - no sign-in, no backend.</a:t>
              </a:r>
              <a:endParaRPr b="0" i="0" sz="1400" u="none" cap="none" strike="noStrike">
                <a:solidFill>
                  <a:srgbClr val="000000"/>
                </a:solidFill>
                <a:latin typeface="Arial"/>
                <a:ea typeface="Arial"/>
                <a:cs typeface="Arial"/>
                <a:sym typeface="Arial"/>
              </a:endParaRPr>
            </a:p>
          </p:txBody>
        </p:sp>
      </p:grpSp>
      <p:grpSp>
        <p:nvGrpSpPr>
          <p:cNvPr id="966" name="Google Shape;966;p15"/>
          <p:cNvGrpSpPr/>
          <p:nvPr/>
        </p:nvGrpSpPr>
        <p:grpSpPr>
          <a:xfrm>
            <a:off x="603694" y="3492500"/>
            <a:ext cx="10978706" cy="1648238"/>
            <a:chOff x="603694" y="3492500"/>
            <a:chExt cx="10978706" cy="1648238"/>
          </a:xfrm>
        </p:grpSpPr>
        <p:sp>
          <p:nvSpPr>
            <p:cNvPr id="967" name="Google Shape;967;p15"/>
            <p:cNvSpPr txBox="1"/>
            <p:nvPr/>
          </p:nvSpPr>
          <p:spPr>
            <a:xfrm>
              <a:off x="604647" y="3492500"/>
              <a:ext cx="1399402"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HOW TO REVIEW</a:t>
              </a:r>
              <a:endParaRPr b="0" i="0" sz="1400" u="none" cap="none" strike="noStrike">
                <a:solidFill>
                  <a:srgbClr val="000000"/>
                </a:solidFill>
                <a:latin typeface="Arial"/>
                <a:ea typeface="Arial"/>
                <a:cs typeface="Arial"/>
                <a:sym typeface="Arial"/>
              </a:endParaRPr>
            </a:p>
          </p:txBody>
        </p:sp>
        <p:sp>
          <p:nvSpPr>
            <p:cNvPr id="968" name="Google Shape;968;p15"/>
            <p:cNvSpPr/>
            <p:nvPr/>
          </p:nvSpPr>
          <p:spPr>
            <a:xfrm>
              <a:off x="609600" y="3714750"/>
              <a:ext cx="3810000" cy="9525"/>
            </a:xfrm>
            <a:custGeom>
              <a:rect b="b" l="l" r="r" t="t"/>
              <a:pathLst>
                <a:path extrusionOk="0" h="9525" w="3810000">
                  <a:moveTo>
                    <a:pt x="0" y="0"/>
                  </a:moveTo>
                  <a:lnTo>
                    <a:pt x="3810000" y="0"/>
                  </a:lnTo>
                </a:path>
              </a:pathLst>
            </a:custGeom>
            <a:solidFill>
              <a:srgbClr val="000000"/>
            </a:solidFill>
            <a:ln cap="flat" cmpd="sng" w="9525">
              <a:solidFill>
                <a:srgbClr val="D8CFBC"/>
              </a:solidFill>
              <a:prstDash val="solid"/>
              <a:round/>
              <a:headEnd len="sm" w="sm" type="none"/>
              <a:tailEnd len="sm" w="sm" type="none"/>
            </a:ln>
          </p:spPr>
        </p:sp>
        <p:sp>
          <p:nvSpPr>
            <p:cNvPr id="969" name="Google Shape;969;p15"/>
            <p:cNvSpPr/>
            <p:nvPr/>
          </p:nvSpPr>
          <p:spPr>
            <a:xfrm>
              <a:off x="603694" y="3879818"/>
              <a:ext cx="2056638" cy="227362"/>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1 · Open the link above.</a:t>
              </a:r>
              <a:endParaRPr b="0" i="0" sz="1400" u="none" cap="none" strike="noStrike">
                <a:solidFill>
                  <a:srgbClr val="000000"/>
                </a:solidFill>
                <a:latin typeface="Arial"/>
                <a:ea typeface="Arial"/>
                <a:cs typeface="Arial"/>
                <a:sym typeface="Arial"/>
              </a:endParaRPr>
            </a:p>
          </p:txBody>
        </p:sp>
        <p:sp>
          <p:nvSpPr>
            <p:cNvPr id="970" name="Google Shape;970;p15"/>
            <p:cNvSpPr/>
            <p:nvPr/>
          </p:nvSpPr>
          <p:spPr>
            <a:xfrm>
              <a:off x="603694" y="4127468"/>
              <a:ext cx="2714625" cy="227362"/>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2 · Pick a reviewer scenario.</a:t>
              </a:r>
              <a:endParaRPr b="0" i="0" sz="1400" u="none" cap="none" strike="noStrike">
                <a:solidFill>
                  <a:srgbClr val="000000"/>
                </a:solidFill>
                <a:latin typeface="Arial"/>
                <a:ea typeface="Arial"/>
                <a:cs typeface="Arial"/>
                <a:sym typeface="Arial"/>
              </a:endParaRPr>
            </a:p>
          </p:txBody>
        </p:sp>
        <p:sp>
          <p:nvSpPr>
            <p:cNvPr id="971" name="Google Shape;971;p15"/>
            <p:cNvSpPr/>
            <p:nvPr/>
          </p:nvSpPr>
          <p:spPr>
            <a:xfrm>
              <a:off x="603694" y="4375118"/>
              <a:ext cx="2952750" cy="227362"/>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3 · Click through: every state in</a:t>
              </a:r>
              <a:endParaRPr b="0" i="0" sz="1400" u="none" cap="none" strike="noStrike">
                <a:solidFill>
                  <a:srgbClr val="000000"/>
                </a:solidFill>
                <a:latin typeface="Arial"/>
                <a:ea typeface="Arial"/>
                <a:cs typeface="Arial"/>
                <a:sym typeface="Arial"/>
              </a:endParaRPr>
            </a:p>
          </p:txBody>
        </p:sp>
        <p:sp>
          <p:nvSpPr>
            <p:cNvPr id="972" name="Google Shape;972;p15"/>
            <p:cNvSpPr/>
            <p:nvPr/>
          </p:nvSpPr>
          <p:spPr>
            <a:xfrm>
              <a:off x="832294" y="4622768"/>
              <a:ext cx="2381250" cy="227362"/>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160"/>
                <a:buFont typeface="Arial"/>
                <a:buNone/>
              </a:pPr>
              <a:r>
                <a:rPr b="0" i="0" lang="en" sz="1160" u="none" cap="none" strike="noStrike">
                  <a:solidFill>
                    <a:srgbClr val="1F2A26"/>
                  </a:solidFill>
                  <a:latin typeface="Quattrocento Sans"/>
                  <a:ea typeface="Quattrocento Sans"/>
                  <a:cs typeface="Quattrocento Sans"/>
                  <a:sym typeface="Quattrocento Sans"/>
                </a:rPr>
                <a:t>Slides 8-12 is reachable.</a:t>
              </a:r>
              <a:endParaRPr b="0" i="0" sz="1400" u="none" cap="none" strike="noStrike">
                <a:solidFill>
                  <a:srgbClr val="000000"/>
                </a:solidFill>
                <a:latin typeface="Arial"/>
                <a:ea typeface="Arial"/>
                <a:cs typeface="Arial"/>
                <a:sym typeface="Arial"/>
              </a:endParaRPr>
            </a:p>
          </p:txBody>
        </p:sp>
        <p:sp>
          <p:nvSpPr>
            <p:cNvPr id="973" name="Google Shape;973;p15"/>
            <p:cNvSpPr txBox="1"/>
            <p:nvPr/>
          </p:nvSpPr>
          <p:spPr>
            <a:xfrm>
              <a:off x="5329047" y="3492500"/>
              <a:ext cx="2407059" cy="1916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80"/>
                <a:buFont typeface="Arial"/>
                <a:buNone/>
              </a:pPr>
              <a:r>
                <a:rPr b="1" i="0" lang="en" sz="980" u="none" cap="none" strike="noStrike">
                  <a:solidFill>
                    <a:srgbClr val="0B3D36"/>
                  </a:solidFill>
                  <a:latin typeface="Quattrocento Sans"/>
                  <a:ea typeface="Quattrocento Sans"/>
                  <a:cs typeface="Quattrocento Sans"/>
                  <a:sym typeface="Quattrocento Sans"/>
                </a:rPr>
                <a:t>THE 9 REVIEWER SCENARIOS</a:t>
              </a:r>
              <a:endParaRPr b="0" i="0" sz="1400" u="none" cap="none" strike="noStrike">
                <a:solidFill>
                  <a:srgbClr val="000000"/>
                </a:solidFill>
                <a:latin typeface="Arial"/>
                <a:ea typeface="Arial"/>
                <a:cs typeface="Arial"/>
                <a:sym typeface="Arial"/>
              </a:endParaRPr>
            </a:p>
          </p:txBody>
        </p:sp>
        <p:sp>
          <p:nvSpPr>
            <p:cNvPr id="974" name="Google Shape;974;p15"/>
            <p:cNvSpPr/>
            <p:nvPr/>
          </p:nvSpPr>
          <p:spPr>
            <a:xfrm>
              <a:off x="5334000" y="3714750"/>
              <a:ext cx="6248400" cy="9525"/>
            </a:xfrm>
            <a:custGeom>
              <a:rect b="b" l="l" r="r" t="t"/>
              <a:pathLst>
                <a:path extrusionOk="0" h="9525" w="6248400">
                  <a:moveTo>
                    <a:pt x="0" y="0"/>
                  </a:moveTo>
                  <a:lnTo>
                    <a:pt x="6248400" y="0"/>
                  </a:lnTo>
                </a:path>
              </a:pathLst>
            </a:custGeom>
            <a:solidFill>
              <a:srgbClr val="000000"/>
            </a:solidFill>
            <a:ln cap="flat" cmpd="sng" w="9525">
              <a:solidFill>
                <a:srgbClr val="D8CFBC"/>
              </a:solidFill>
              <a:prstDash val="solid"/>
              <a:round/>
              <a:headEnd len="sm" w="sm" type="none"/>
              <a:tailEnd len="sm" w="sm" type="none"/>
            </a:ln>
          </p:spPr>
        </p:sp>
        <p:sp>
          <p:nvSpPr>
            <p:cNvPr id="975" name="Google Shape;975;p15"/>
            <p:cNvSpPr/>
            <p:nvPr/>
          </p:nvSpPr>
          <p:spPr>
            <a:xfrm>
              <a:off x="5328476" y="3860768"/>
              <a:ext cx="1781270"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1 Standard (Rs 21,240)</a:t>
              </a:r>
              <a:endParaRPr b="0" i="0" sz="1400" u="none" cap="none" strike="noStrike">
                <a:solidFill>
                  <a:srgbClr val="000000"/>
                </a:solidFill>
                <a:latin typeface="Arial"/>
                <a:ea typeface="Arial"/>
                <a:cs typeface="Arial"/>
                <a:sym typeface="Arial"/>
              </a:endParaRPr>
            </a:p>
          </p:txBody>
        </p:sp>
        <p:sp>
          <p:nvSpPr>
            <p:cNvPr id="976" name="Google Shape;976;p15"/>
            <p:cNvSpPr/>
            <p:nvPr/>
          </p:nvSpPr>
          <p:spPr>
            <a:xfrm>
              <a:off x="5328476" y="4127468"/>
              <a:ext cx="1626298"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2 Zero refund (Rs 0)</a:t>
              </a:r>
              <a:endParaRPr b="0" i="0" sz="1400" u="none" cap="none" strike="noStrike">
                <a:solidFill>
                  <a:srgbClr val="000000"/>
                </a:solidFill>
                <a:latin typeface="Arial"/>
                <a:ea typeface="Arial"/>
                <a:cs typeface="Arial"/>
                <a:sym typeface="Arial"/>
              </a:endParaRPr>
            </a:p>
          </p:txBody>
        </p:sp>
        <p:sp>
          <p:nvSpPr>
            <p:cNvPr id="977" name="Google Shape;977;p15"/>
            <p:cNvSpPr/>
            <p:nvPr/>
          </p:nvSpPr>
          <p:spPr>
            <a:xfrm>
              <a:off x="5328476" y="4394168"/>
              <a:ext cx="2246281"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3 Updated refund (Rs 16,990)</a:t>
              </a:r>
              <a:endParaRPr b="0" i="0" sz="1400" u="none" cap="none" strike="noStrike">
                <a:solidFill>
                  <a:srgbClr val="000000"/>
                </a:solidFill>
                <a:latin typeface="Arial"/>
                <a:ea typeface="Arial"/>
                <a:cs typeface="Arial"/>
                <a:sym typeface="Arial"/>
              </a:endParaRPr>
            </a:p>
          </p:txBody>
        </p:sp>
        <p:sp>
          <p:nvSpPr>
            <p:cNvPr id="978" name="Google Shape;978;p15"/>
            <p:cNvSpPr/>
            <p:nvPr/>
          </p:nvSpPr>
          <p:spPr>
            <a:xfrm>
              <a:off x="5328476" y="4660868"/>
              <a:ext cx="2323814"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4 Timeout resolved (W4C → W5)</a:t>
              </a:r>
              <a:endParaRPr b="0" i="0" sz="1400" u="none" cap="none" strike="noStrike">
                <a:solidFill>
                  <a:srgbClr val="000000"/>
                </a:solidFill>
                <a:latin typeface="Arial"/>
                <a:ea typeface="Arial"/>
                <a:cs typeface="Arial"/>
                <a:sym typeface="Arial"/>
              </a:endParaRPr>
            </a:p>
          </p:txBody>
        </p:sp>
        <p:sp>
          <p:nvSpPr>
            <p:cNvPr id="979" name="Google Shape;979;p15"/>
            <p:cNvSpPr/>
            <p:nvPr/>
          </p:nvSpPr>
          <p:spPr>
            <a:xfrm>
              <a:off x="5328476" y="4927568"/>
              <a:ext cx="2246281"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5 Timeout active (W4C → W6b)</a:t>
              </a:r>
              <a:endParaRPr b="0" i="0" sz="1400" u="none" cap="none" strike="noStrike">
                <a:solidFill>
                  <a:srgbClr val="000000"/>
                </a:solidFill>
                <a:latin typeface="Arial"/>
                <a:ea typeface="Arial"/>
                <a:cs typeface="Arial"/>
                <a:sym typeface="Arial"/>
              </a:endParaRPr>
            </a:p>
          </p:txBody>
        </p:sp>
        <p:sp>
          <p:nvSpPr>
            <p:cNvPr id="980" name="Google Shape;980;p15"/>
            <p:cNvSpPr/>
            <p:nvPr/>
          </p:nvSpPr>
          <p:spPr>
            <a:xfrm>
              <a:off x="8566976" y="3860768"/>
              <a:ext cx="2556320"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6 Timeout unresolved (W4C → W6c)</a:t>
              </a:r>
              <a:endParaRPr b="0" i="0" sz="1400" u="none" cap="none" strike="noStrike">
                <a:solidFill>
                  <a:srgbClr val="000000"/>
                </a:solidFill>
                <a:latin typeface="Arial"/>
                <a:ea typeface="Arial"/>
                <a:cs typeface="Arial"/>
                <a:sym typeface="Arial"/>
              </a:endParaRPr>
            </a:p>
          </p:txBody>
        </p:sp>
        <p:sp>
          <p:nvSpPr>
            <p:cNvPr id="981" name="Google Shape;981;p15"/>
            <p:cNvSpPr/>
            <p:nvPr/>
          </p:nvSpPr>
          <p:spPr>
            <a:xfrm>
              <a:off x="8566976" y="4127468"/>
              <a:ext cx="2323814"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7 Preview failure (W4A → W6a)</a:t>
              </a:r>
              <a:endParaRPr b="0" i="0" sz="1400" u="none" cap="none" strike="noStrike">
                <a:solidFill>
                  <a:srgbClr val="000000"/>
                </a:solidFill>
                <a:latin typeface="Arial"/>
                <a:ea typeface="Arial"/>
                <a:cs typeface="Arial"/>
                <a:sym typeface="Arial"/>
              </a:endParaRPr>
            </a:p>
          </p:txBody>
        </p:sp>
        <p:sp>
          <p:nvSpPr>
            <p:cNvPr id="982" name="Google Shape;982;p15"/>
            <p:cNvSpPr/>
            <p:nvPr/>
          </p:nvSpPr>
          <p:spPr>
            <a:xfrm>
              <a:off x="8566976" y="4394168"/>
              <a:ext cx="1548765"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8 Already cancelled</a:t>
              </a:r>
              <a:endParaRPr b="0" i="0" sz="1400" u="none" cap="none" strike="noStrike">
                <a:solidFill>
                  <a:srgbClr val="000000"/>
                </a:solidFill>
                <a:latin typeface="Arial"/>
                <a:ea typeface="Arial"/>
                <a:cs typeface="Arial"/>
                <a:sym typeface="Arial"/>
              </a:endParaRPr>
            </a:p>
          </p:txBody>
        </p:sp>
        <p:sp>
          <p:nvSpPr>
            <p:cNvPr id="983" name="Google Shape;983;p15"/>
            <p:cNvSpPr/>
            <p:nvPr/>
          </p:nvSpPr>
          <p:spPr>
            <a:xfrm>
              <a:off x="8566976" y="4660868"/>
              <a:ext cx="2091309" cy="2131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090"/>
                <a:buFont typeface="Arial"/>
                <a:buNone/>
              </a:pPr>
              <a:r>
                <a:rPr b="0" i="0" lang="en" sz="1090" u="none" cap="none" strike="noStrike">
                  <a:solidFill>
                    <a:srgbClr val="1F2A26"/>
                  </a:solidFill>
                  <a:latin typeface="Quattrocento Sans"/>
                  <a:ea typeface="Quattrocento Sans"/>
                  <a:cs typeface="Quattrocento Sans"/>
                  <a:sym typeface="Quattrocento Sans"/>
                </a:rPr>
                <a:t>9 Cancellation unavailable</a:t>
              </a:r>
              <a:endParaRPr b="0" i="0" sz="1400" u="none" cap="none" strike="noStrike">
                <a:solidFill>
                  <a:srgbClr val="000000"/>
                </a:solidFill>
                <a:latin typeface="Arial"/>
                <a:ea typeface="Arial"/>
                <a:cs typeface="Arial"/>
                <a:sym typeface="Arial"/>
              </a:endParaRPr>
            </a:p>
          </p:txBody>
        </p:sp>
      </p:grpSp>
      <p:grpSp>
        <p:nvGrpSpPr>
          <p:cNvPr id="984" name="Google Shape;984;p15"/>
          <p:cNvGrpSpPr/>
          <p:nvPr/>
        </p:nvGrpSpPr>
        <p:grpSpPr>
          <a:xfrm>
            <a:off x="601980" y="6019800"/>
            <a:ext cx="10980420" cy="538162"/>
            <a:chOff x="601980" y="6019800"/>
            <a:chExt cx="10980420" cy="538162"/>
          </a:xfrm>
        </p:grpSpPr>
        <p:sp>
          <p:nvSpPr>
            <p:cNvPr id="985" name="Google Shape;985;p15"/>
            <p:cNvSpPr/>
            <p:nvPr/>
          </p:nvSpPr>
          <p:spPr>
            <a:xfrm>
              <a:off x="609600" y="6019800"/>
              <a:ext cx="10972800" cy="9525"/>
            </a:xfrm>
            <a:custGeom>
              <a:rect b="b" l="l" r="r" t="t"/>
              <a:pathLst>
                <a:path extrusionOk="0" h="9525" w="10972800">
                  <a:moveTo>
                    <a:pt x="0" y="0"/>
                  </a:moveTo>
                  <a:lnTo>
                    <a:pt x="10972800" y="0"/>
                  </a:lnTo>
                </a:path>
              </a:pathLst>
            </a:custGeom>
            <a:solidFill>
              <a:srgbClr val="000000"/>
            </a:solidFill>
            <a:ln cap="flat" cmpd="sng" w="9525">
              <a:solidFill>
                <a:srgbClr val="D8CFBC"/>
              </a:solidFill>
              <a:prstDash val="solid"/>
              <a:round/>
              <a:headEnd len="sm" w="sm" type="none"/>
              <a:tailEnd len="sm" w="sm" type="none"/>
            </a:ln>
          </p:spPr>
        </p:sp>
        <p:sp>
          <p:nvSpPr>
            <p:cNvPr id="986" name="Google Shape;986;p15"/>
            <p:cNvSpPr/>
            <p:nvPr/>
          </p:nvSpPr>
          <p:spPr>
            <a:xfrm>
              <a:off x="601980" y="6127718"/>
              <a:ext cx="4381500" cy="293370"/>
            </a:xfrm>
            <a:prstGeom prst="rect">
              <a:avLst/>
            </a:prstGeom>
            <a:noFill/>
            <a:ln>
              <a:noFill/>
            </a:ln>
          </p:spPr>
          <p:txBody>
            <a:bodyPr anchorCtr="0" anchor="t" bIns="0" lIns="0" spcFirstLastPara="1" rIns="0" wrap="square" tIns="25">
              <a:noAutofit/>
            </a:bodyPr>
            <a:lstStyle/>
            <a:p>
              <a:pPr indent="0" lvl="0" marL="0" marR="0" rtl="0" algn="l">
                <a:lnSpc>
                  <a:spcPct val="100000"/>
                </a:lnSpc>
                <a:spcBef>
                  <a:spcPts val="0"/>
                </a:spcBef>
                <a:spcAft>
                  <a:spcPts val="0"/>
                </a:spcAft>
                <a:buClr>
                  <a:srgbClr val="000000"/>
                </a:buClr>
                <a:buSzPts val="1500"/>
                <a:buFont typeface="Arial"/>
                <a:buNone/>
              </a:pPr>
              <a:r>
                <a:rPr b="0" i="1" lang="en" sz="1500" u="none" cap="none" strike="noStrike">
                  <a:solidFill>
                    <a:srgbClr val="B45309"/>
                  </a:solidFill>
                  <a:latin typeface="Garamond"/>
                  <a:ea typeface="Garamond"/>
                  <a:cs typeface="Garamond"/>
                  <a:sym typeface="Garamond"/>
                </a:rPr>
                <a:t>The flow is not just drawn - it runs.</a:t>
              </a:r>
              <a:endParaRPr b="0" i="0" sz="1400" u="none" cap="none" strike="noStrike">
                <a:solidFill>
                  <a:srgbClr val="000000"/>
                </a:solidFill>
                <a:latin typeface="Arial"/>
                <a:ea typeface="Arial"/>
                <a:cs typeface="Arial"/>
                <a:sym typeface="Arial"/>
              </a:endParaRPr>
            </a:p>
          </p:txBody>
        </p:sp>
        <p:sp>
          <p:nvSpPr>
            <p:cNvPr id="987" name="Google Shape;987;p15"/>
            <p:cNvSpPr/>
            <p:nvPr/>
          </p:nvSpPr>
          <p:spPr>
            <a:xfrm>
              <a:off x="604838" y="6381750"/>
              <a:ext cx="7245096" cy="17621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6B6F66"/>
                  </a:solidFill>
                  <a:latin typeface="Quattrocento Sans"/>
                  <a:ea typeface="Quattrocento Sans"/>
                  <a:cs typeface="Quattrocento Sans"/>
                  <a:sym typeface="Quattrocento Sans"/>
                </a:rPr>
                <a:t>Deterministic synthetic data: Azure Palms Resort &amp; Spa · booking 80000610 · not connected to live Agoda systems.</a:t>
              </a:r>
              <a:endParaRPr b="0" i="0" sz="1400" u="none" cap="none" strike="noStrike">
                <a:solidFill>
                  <a:srgbClr val="000000"/>
                </a:solidFill>
                <a:latin typeface="Arial"/>
                <a:ea typeface="Arial"/>
                <a:cs typeface="Arial"/>
                <a:sym typeface="Arial"/>
              </a:endParaRPr>
            </a:p>
          </p:txBody>
        </p:sp>
      </p:grpSp>
      <p:sp>
        <p:nvSpPr>
          <p:cNvPr id="988" name="Google Shape;988;p15"/>
          <p:cNvSpPr/>
          <p:nvPr/>
        </p:nvSpPr>
        <p:spPr>
          <a:xfrm>
            <a:off x="11362182" y="6597682"/>
            <a:ext cx="225552" cy="205359"/>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Clr>
                <a:srgbClr val="000000"/>
              </a:buClr>
              <a:buSzPts val="1050"/>
              <a:buFont typeface="Arial"/>
              <a:buNone/>
            </a:pPr>
            <a:r>
              <a:rPr b="0" i="0" lang="en" sz="1050" u="none" cap="none" strike="noStrike">
                <a:solidFill>
                  <a:srgbClr val="6B6F66"/>
                </a:solidFill>
                <a:latin typeface="Quattrocento Sans"/>
                <a:ea typeface="Quattrocento Sans"/>
                <a:cs typeface="Quattrocento Sans"/>
                <a:sym typeface="Quattrocento Sans"/>
              </a:rPr>
              <a:t>13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p14:dur="40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name="staymint-submission">
  <a:themeElements>
    <a:clrScheme name="staymint-submiss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aymint-submission">
  <a:themeElements>
    <a:clrScheme name="staymint-submission">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2026-10-25T07:05:08Z</dcterms:created>
</cp:coreProperties>
</file>